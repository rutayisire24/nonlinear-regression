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76"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8" r:id="rId22"/>
    <p:sldId id="279" r:id="rId23"/>
    <p:sldId id="280" r:id="rId24"/>
    <p:sldId id="281" r:id="rId25"/>
    <p:sldId id="282" r:id="rId26"/>
    <p:sldId id="283" r:id="rId27"/>
    <p:sldId id="284" r:id="rId28"/>
    <p:sldId id="287" r:id="rId29"/>
    <p:sldId id="288" r:id="rId30"/>
    <p:sldId id="286" r:id="rId31"/>
    <p:sldId id="285" r:id="rId32"/>
    <p:sldId id="289" r:id="rId33"/>
    <p:sldId id="290" r:id="rId34"/>
    <p:sldId id="291" r:id="rId35"/>
    <p:sldId id="292" r:id="rId36"/>
    <p:sldId id="293" r:id="rId37"/>
    <p:sldId id="295" r:id="rId38"/>
    <p:sldId id="297" r:id="rId39"/>
    <p:sldId id="296" r:id="rId40"/>
    <p:sldId id="298" r:id="rId41"/>
    <p:sldId id="299" r:id="rId42"/>
    <p:sldId id="300" r:id="rId43"/>
    <p:sldId id="303" r:id="rId44"/>
    <p:sldId id="301" r:id="rId45"/>
    <p:sldId id="302" r:id="rId46"/>
    <p:sldId id="304" r:id="rId47"/>
    <p:sldId id="307" r:id="rId48"/>
    <p:sldId id="305" r:id="rId49"/>
    <p:sldId id="306" r:id="rId50"/>
    <p:sldId id="29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5" autoAdjust="0"/>
    <p:restoredTop sz="64783" autoAdjust="0"/>
  </p:normalViewPr>
  <p:slideViewPr>
    <p:cSldViewPr snapToGrid="0">
      <p:cViewPr varScale="1">
        <p:scale>
          <a:sx n="39" d="100"/>
          <a:sy n="39" d="100"/>
        </p:scale>
        <p:origin x="8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56964-4522-46CB-BD27-EAD27BE7FABE}" type="datetimeFigureOut">
              <a:rPr lang="en-US" smtClean="0"/>
              <a:t>5/26/2026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409FF0-B3CB-4DA5-9F3C-AD9C396AAD5A}" type="slidenum">
              <a:rPr lang="en-US" smtClean="0"/>
              <a:t>‹#›</a:t>
            </a:fld>
            <a:endParaRPr lang="en-US"/>
          </a:p>
        </p:txBody>
      </p:sp>
    </p:spTree>
    <p:extLst>
      <p:ext uri="{BB962C8B-B14F-4D97-AF65-F5344CB8AC3E}">
        <p14:creationId xmlns:p14="http://schemas.microsoft.com/office/powerpoint/2010/main" val="3979355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any fit, predict pulls out the fitted values (yhat) and residuals. The three plots check the fit: residuals vs fitted should show no pattern, the Q-Q plot and histogram check that residuals are roughly normal.</a:t>
            </a:r>
          </a:p>
        </p:txBody>
      </p:sp>
      <p:sp>
        <p:nvSpPr>
          <p:cNvPr id="4" name="Slide Number Placeholder 3"/>
          <p:cNvSpPr>
            <a:spLocks noGrp="1"/>
          </p:cNvSpPr>
          <p:nvPr>
            <p:ph type="sldNum" sz="quarter" idx="10"/>
          </p:nvPr>
        </p:nvSpPr>
        <p:spPr/>
        <p:txBody>
          <a:bodyPr/>
          <a:lstStyle/>
          <a:p>
            <a:fld id="{9D409FF0-B3CB-4DA5-9F3C-AD9C396AAD5A}" type="slidenum">
              <a:rPr lang="en-US" smtClean="0"/>
              <a:t>10</a:t>
            </a:fld>
            <a:endParaRPr lang="en-US"/>
          </a:p>
        </p:txBody>
      </p:sp>
    </p:spTree>
    <p:extLst>
      <p:ext uri="{BB962C8B-B14F-4D97-AF65-F5344CB8AC3E}">
        <p14:creationId xmlns:p14="http://schemas.microsoft.com/office/powerpoint/2010/main" val="1017791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nl machinery, now fitting growth. /a recovers the starting load (~98), /b the growth rate (~0.31). nlcom then turns the rate into a doubling time = ln(2)/b ~ 2.2 days - the clinically intuitive number.</a:t>
            </a:r>
          </a:p>
        </p:txBody>
      </p:sp>
      <p:sp>
        <p:nvSpPr>
          <p:cNvPr id="4" name="Slide Number Placeholder 3"/>
          <p:cNvSpPr>
            <a:spLocks noGrp="1"/>
          </p:cNvSpPr>
          <p:nvPr>
            <p:ph type="sldNum" sz="quarter" idx="10"/>
          </p:nvPr>
        </p:nvSpPr>
        <p:spPr/>
        <p:txBody>
          <a:bodyPr/>
          <a:lstStyle/>
          <a:p>
            <a:fld id="{9D409FF0-B3CB-4DA5-9F3C-AD9C396AAD5A}" type="slidenum">
              <a:rPr lang="en-US" smtClean="0"/>
              <a:t>27</a:t>
            </a:fld>
            <a:endParaRPr lang="en-US"/>
          </a:p>
        </p:txBody>
      </p:sp>
    </p:spTree>
    <p:extLst>
      <p:ext uri="{BB962C8B-B14F-4D97-AF65-F5344CB8AC3E}">
        <p14:creationId xmlns:p14="http://schemas.microsoft.com/office/powerpoint/2010/main" val="226980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Generate the infection rate from the logistic formula plus noise, round it, label the variables, then list and plot. (Straight quotes are used here so the commands paste and run cleanly.)</a:t>
            </a:r>
          </a:p>
        </p:txBody>
      </p:sp>
      <p:sp>
        <p:nvSpPr>
          <p:cNvPr id="4" name="Slide Number Placeholder 3"/>
          <p:cNvSpPr>
            <a:spLocks noGrp="1"/>
          </p:cNvSpPr>
          <p:nvPr>
            <p:ph type="sldNum" sz="quarter" idx="10"/>
          </p:nvPr>
        </p:nvSpPr>
        <p:spPr/>
        <p:txBody>
          <a:bodyPr/>
          <a:lstStyle/>
          <a:p>
            <a:fld id="{9D409FF0-B3CB-4DA5-9F3C-AD9C396AAD5A}" type="slidenum">
              <a:rPr lang="en-US" smtClean="0"/>
              <a:t>37</a:t>
            </a:fld>
            <a:endParaRPr lang="en-US"/>
          </a:p>
        </p:txBody>
      </p:sp>
    </p:spTree>
    <p:extLst>
      <p:ext uri="{BB962C8B-B14F-4D97-AF65-F5344CB8AC3E}">
        <p14:creationId xmlns:p14="http://schemas.microsoft.com/office/powerpoint/2010/main" val="368385407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borrow Stata's built-in 'auto' dataset as a stand-in for a pharmacokinetic curve: MPG plays the role of drug concentration, vehicle weight the role of body mass. sysuse loads it; describe and list let us eyeball the variables before modelling.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plot before fitting. The scatter of MPG against weight shows a curved, decaying relationship - that shape is what tells us an exponential decay model (not a straight line) is appropriate. The /// just continues one long command across several 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 fits a non-linear model. The {a} and {b} in curly braces are the parameters Stata will estimate. initial() gives it sensible starting guesses read off the plot (max MPG ~40, gentle decay). The second version adds vce(robust) for standard errors that tolerate non-constant variance.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parameters: /a is the ceiling (MPG at zero weight, ~41), /b is the decay rate (negative, so MPG falls as weight rises). Both p-values are 0.000, so both are clearly different from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nlcom computes a NEW quantity from the fitted parameters, with a correct confidence interval. Here half-life = ln(2)/-b answers 'how much extra weight halves the MPG?' - the same idea as a drug's half-life.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Switching datasets: US life expectancy 1900-2000, which rises in an S-shape - our analogy for tumour growth or CD4 recovery. Just load and inspect here. (The original 'keep if region' line was dropped - this dataset has no region variable, so it would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first again. The S-shaped rise of life expectancy over time is the signature of logistic growth: slow, then fast, then levelling off at a ceiling.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logistic model has three meaningful parameters: asym (the ceiling), rate (how steep), inflect (the year of fastest growth). estimates store saves the fit so we can compare models later.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asym ~79 years is the estimated ceiling, inflect ~1958 is the year growth was fastest, rate sets the steepness. Tight confidence intervals and tiny p-values mean all three are precisely estimated.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gets fitted values; the twoway overlays the fitted curve on the raw data. We then store the three parameters in locals and plug them into the logistic formula to forecast 2020. Finally we plot residuals over time to check for leftover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simulate clean dose-response data so we know the truth. set seed makes it reproducible. We build doses from 0-100 mg/kg, generate responses from a known Michaelis-Menten curve (Vmax=90, EC50=25) plus noise, then plot.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Michaelis-Menten: response rises fast at low dose then saturates. vmax is the maximum response, km is the dose giving half of it (the EC50). The second run adds robust standard errors.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vmax ~89% is the saturating maximum; km ~24.9 mg/kg is the EC50 - the dose that achieves half the maximum effect. Both are estimated precisely.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post-fit check: predict the fitted curve and residuals, then overlay the smooth fitted line on the scatter to see how well the curve tracks the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diagnostics: rvfplot looks for pattern in the residuals (there should be none), and Cook's distance flags any single point that unduly influences the fit. The 4/40 line is the common cut-off (4/n).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Exponential GROWTH this time - viral load climbing after infection. Same recipe: seed, simulate from a known curve (start 100, growth 0.3) with noise, then plot the rise.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bother with non-linear? Fit both a straight line and the exponential model to the same data, store each, then compare AIC/BIC (lower = better) and residual spread. Here non-linear wins modestly - so choose on clinical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reusable checklist to run after every non-linear fit. First: e(converged) must equal 1, or nothing else is trustworthy. Then the residual and normality plots.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the checklist: swilk is a formal normality test (p&gt;0.05 = normal), Cook's distance finds influential points, and level(95) requests profile-likelihood confidence intervals, which are more honest than the default ones in small samples.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model won't converge: trace shows each iteration so you can see where it goes wrong; iterate(100) gives it more attempts; technique(gn) switches to the Gauss-Newton algorithm. Often the real fix is better initial() values.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exercise. Build a hospital dataset where infection rate follows a logistic S-curve against bed occupancy: low until ~75% full, then rising sharply. This slide just creates occupancy and states the true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Hint: the model structure to fit. Note the parameters in braces and the starting values - asymptote ~12 (the plot's ceiling), positive growth rate, inflection ~75%.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fitting, predict the fitted curve and residuals and overlay the fit on the data to judge how well the S-curve matches.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neat property: for a logistic curve the inflection point IS the EC50 - the occupancy at 50% of the maximum infection rate. So you read it straight off the /inflect parameter.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report the EC50 with a confidence interval: di builds the sentence by hand using the stored coefficient and its standard error; nlcom does it more cleanly and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solution, part 1: create/plot the data, fit the logistic model, and interpret each parameter - ceiling, steepness, and the 50% 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solution, part 2: predict and plot the fit, report the EC50 via nlcom, then run the residual diagnostics (Q-Q and residual-vs-fitted) to confirm the model is sound.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results. The ceiling is ~12.2 infections per 1000 patient-days, and the 50% point sits at ~75% occupancy - the actionable threshold: keep occupancy below 75% and infection rates stay 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E7DA54-8421-428B-ACC9-7BCA801F0539}"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840246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E7DA54-8421-428B-ACC9-7BCA801F0539}"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2433387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E7DA54-8421-428B-ACC9-7BCA801F0539}"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298435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E7DA54-8421-428B-ACC9-7BCA801F0539}"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2911791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E7DA54-8421-428B-ACC9-7BCA801F0539}"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1655514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E7DA54-8421-428B-ACC9-7BCA801F0539}"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345957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E7DA54-8421-428B-ACC9-7BCA801F0539}"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650637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E7DA54-8421-428B-ACC9-7BCA801F0539}"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851329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E7DA54-8421-428B-ACC9-7BCA801F0539}"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56033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E7DA54-8421-428B-ACC9-7BCA801F0539}"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163815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E7DA54-8421-428B-ACC9-7BCA801F0539}"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9BF568-0278-4AF5-A4F9-D1B9D2169FD2}" type="slidenum">
              <a:rPr lang="en-US" smtClean="0"/>
              <a:t>‹#›</a:t>
            </a:fld>
            <a:endParaRPr lang="en-US"/>
          </a:p>
        </p:txBody>
      </p:sp>
    </p:spTree>
    <p:extLst>
      <p:ext uri="{BB962C8B-B14F-4D97-AF65-F5344CB8AC3E}">
        <p14:creationId xmlns:p14="http://schemas.microsoft.com/office/powerpoint/2010/main" val="306584611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E7DA54-8421-428B-ACC9-7BCA801F0539}" type="datetimeFigureOut">
              <a:rPr lang="en-US" smtClean="0"/>
              <a:t>5/26/2026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9BF568-0278-4AF5-A4F9-D1B9D2169FD2}" type="slidenum">
              <a:rPr lang="en-US" smtClean="0"/>
              <a:t>‹#›</a:t>
            </a:fld>
            <a:endParaRPr lang="en-US"/>
          </a:p>
        </p:txBody>
      </p:sp>
    </p:spTree>
    <p:extLst>
      <p:ext uri="{BB962C8B-B14F-4D97-AF65-F5344CB8AC3E}">
        <p14:creationId xmlns:p14="http://schemas.microsoft.com/office/powerpoint/2010/main" val="283727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83824"/>
            <a:ext cx="9144000" cy="2387600"/>
          </a:xfrm>
        </p:spPr>
        <p:txBody>
          <a:bodyPr>
            <a:normAutofit fontScale="90000"/>
          </a:bodyPr>
          <a:lstStyle/>
          <a:p>
            <a:r>
              <a:rPr lang="en-US" b="1" dirty="0" smtClean="0"/>
              <a:t>Applied Non-Linear Regression for clinical Research</a:t>
            </a:r>
            <a:endParaRPr lang="en-US" b="1" dirty="0"/>
          </a:p>
        </p:txBody>
      </p:sp>
      <p:sp>
        <p:nvSpPr>
          <p:cNvPr id="3" name="Subtitle 2"/>
          <p:cNvSpPr>
            <a:spLocks noGrp="1"/>
          </p:cNvSpPr>
          <p:nvPr>
            <p:ph type="subTitle" idx="1"/>
          </p:nvPr>
        </p:nvSpPr>
        <p:spPr>
          <a:xfrm>
            <a:off x="1338469" y="3657601"/>
            <a:ext cx="9515061" cy="2216426"/>
          </a:xfrm>
        </p:spPr>
        <p:txBody>
          <a:bodyPr>
            <a:normAutofit fontScale="92500" lnSpcReduction="10000"/>
          </a:bodyPr>
          <a:lstStyle/>
          <a:p>
            <a:r>
              <a:rPr lang="en-US" dirty="0" smtClean="0"/>
              <a:t>Beyond </a:t>
            </a:r>
            <a:r>
              <a:rPr lang="en-US" dirty="0"/>
              <a:t>straight lines: Modeling complex dose-response dynamics, growth trajectories, and </a:t>
            </a:r>
            <a:r>
              <a:rPr lang="en-US" dirty="0" err="1"/>
              <a:t>pharmacodynamic</a:t>
            </a:r>
            <a:r>
              <a:rPr lang="en-US" dirty="0"/>
              <a:t> relationships requires moving beyond traditional linear assumptions. In biological systems, structural limits, saturation points, and decay rates are the norm</a:t>
            </a:r>
            <a:r>
              <a:rPr lang="en-US" dirty="0" smtClean="0"/>
              <a:t>.</a:t>
            </a:r>
          </a:p>
          <a:p>
            <a:r>
              <a:rPr lang="en-US" dirty="0"/>
              <a:t/>
            </a:r>
            <a:br>
              <a:rPr lang="en-US" dirty="0"/>
            </a:br>
            <a:r>
              <a:rPr lang="en-US" b="1" dirty="0"/>
              <a:t>Presenter:</a:t>
            </a:r>
            <a:r>
              <a:rPr lang="en-US" dirty="0"/>
              <a:t> </a:t>
            </a:r>
            <a:r>
              <a:rPr lang="en-US" dirty="0" smtClean="0"/>
              <a:t>Dr. Christine Atuhairwe</a:t>
            </a:r>
            <a:r>
              <a:rPr lang="en-US" dirty="0"/>
              <a:t/>
            </a:r>
            <a:br>
              <a:rPr lang="en-US" dirty="0"/>
            </a:br>
            <a:r>
              <a:rPr lang="en-US" b="1" dirty="0" smtClean="0"/>
              <a:t>Department:</a:t>
            </a:r>
            <a:r>
              <a:rPr lang="en-US" dirty="0"/>
              <a:t> </a:t>
            </a:r>
            <a:r>
              <a:rPr lang="en-US" dirty="0" smtClean="0"/>
              <a:t>Faculty of Health Sciences</a:t>
            </a:r>
            <a:endParaRPr lang="en-US" dirty="0"/>
          </a:p>
        </p:txBody>
      </p:sp>
    </p:spTree>
    <p:extLst>
      <p:ext uri="{BB962C8B-B14F-4D97-AF65-F5344CB8AC3E}">
        <p14:creationId xmlns:p14="http://schemas.microsoft.com/office/powerpoint/2010/main" val="3451219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6347"/>
            <a:ext cx="10515600" cy="816045"/>
          </a:xfrm>
        </p:spPr>
        <p:txBody>
          <a:bodyPr>
            <a:normAutofit/>
          </a:bodyPr>
          <a:lstStyle/>
          <a:p>
            <a:r>
              <a:rPr lang="en-US" sz="3600" b="1" dirty="0"/>
              <a:t>What You Will Do Today:</a:t>
            </a:r>
            <a:endParaRPr lang="en-US"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419588"/>
              </p:ext>
            </p:extLst>
          </p:nvPr>
        </p:nvGraphicFramePr>
        <p:xfrm>
          <a:off x="1053547" y="1412392"/>
          <a:ext cx="10300253" cy="5120640"/>
        </p:xfrm>
        <a:graphic>
          <a:graphicData uri="http://schemas.openxmlformats.org/drawingml/2006/table">
            <a:tbl>
              <a:tblPr firstRow="1" firstCol="1" bandRow="1">
                <a:tableStyleId>{3B4B98B0-60AC-42C2-AFA5-B58CD77FA1E5}</a:tableStyleId>
              </a:tblPr>
              <a:tblGrid>
                <a:gridCol w="993914">
                  <a:extLst>
                    <a:ext uri="{9D8B030D-6E8A-4147-A177-3AD203B41FA5}">
                      <a16:colId xmlns:a16="http://schemas.microsoft.com/office/drawing/2014/main" val="2247942487"/>
                    </a:ext>
                  </a:extLst>
                </a:gridCol>
                <a:gridCol w="9306339">
                  <a:extLst>
                    <a:ext uri="{9D8B030D-6E8A-4147-A177-3AD203B41FA5}">
                      <a16:colId xmlns:a16="http://schemas.microsoft.com/office/drawing/2014/main" val="3436845931"/>
                    </a:ext>
                  </a:extLst>
                </a:gridCol>
              </a:tblGrid>
              <a:tr h="501787">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Step</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Activity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54240994"/>
                  </a:ext>
                </a:extLst>
              </a:tr>
              <a:tr h="551764">
                <a:tc>
                  <a:txBody>
                    <a:bodyPr/>
                    <a:lstStyle/>
                    <a:p>
                      <a:pPr algn="l">
                        <a:lnSpc>
                          <a:spcPct val="100000"/>
                        </a:lnSpc>
                        <a:spcAft>
                          <a:spcPts val="0"/>
                        </a:spcAft>
                      </a:pPr>
                      <a:r>
                        <a:rPr lang="en-US" sz="2400">
                          <a:effectLst/>
                        </a:rPr>
                        <a:t>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Understand </a:t>
                      </a:r>
                      <a:r>
                        <a:rPr lang="en-US" sz="2400" dirty="0">
                          <a:effectLst/>
                        </a:rPr>
                        <a:t>when to use non-linear regression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6556517"/>
                  </a:ext>
                </a:extLst>
              </a:tr>
              <a:tr h="501787">
                <a:tc>
                  <a:txBody>
                    <a:bodyPr/>
                    <a:lstStyle/>
                    <a:p>
                      <a:pPr algn="l">
                        <a:lnSpc>
                          <a:spcPct val="100000"/>
                        </a:lnSpc>
                        <a:spcAft>
                          <a:spcPts val="0"/>
                        </a:spcAft>
                      </a:pPr>
                      <a:r>
                        <a:rPr lang="en-US" sz="2400">
                          <a:effectLst/>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Learn </a:t>
                      </a:r>
                      <a:r>
                        <a:rPr lang="en-US" sz="2400" dirty="0">
                          <a:effectLst/>
                        </a:rPr>
                        <a:t>4 clinical models with Stata code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6411470"/>
                  </a:ext>
                </a:extLst>
              </a:tr>
              <a:tr h="501787">
                <a:tc>
                  <a:txBody>
                    <a:bodyPr/>
                    <a:lstStyle/>
                    <a:p>
                      <a:pPr algn="l">
                        <a:lnSpc>
                          <a:spcPct val="100000"/>
                        </a:lnSpc>
                        <a:spcAft>
                          <a:spcPts val="0"/>
                        </a:spcAft>
                      </a:pPr>
                      <a:r>
                        <a:rPr lang="en-US" sz="2400">
                          <a:effectLst/>
                        </a:rPr>
                        <a:t>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Run </a:t>
                      </a:r>
                      <a:r>
                        <a:rPr lang="en-US" sz="2400" dirty="0">
                          <a:effectLst/>
                        </a:rPr>
                        <a:t>3 live examples using built-in data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6048927"/>
                  </a:ext>
                </a:extLst>
              </a:tr>
              <a:tr h="501787">
                <a:tc>
                  <a:txBody>
                    <a:bodyPr/>
                    <a:lstStyle/>
                    <a:p>
                      <a:pPr algn="l">
                        <a:lnSpc>
                          <a:spcPct val="100000"/>
                        </a:lnSpc>
                        <a:spcAft>
                          <a:spcPts val="0"/>
                        </a:spcAft>
                      </a:pPr>
                      <a:r>
                        <a:rPr lang="en-US" sz="2400">
                          <a:effectLst/>
                        </a:rPr>
                        <a:t>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Diagnostic </a:t>
                      </a:r>
                      <a:r>
                        <a:rPr lang="en-US" sz="2400" dirty="0">
                          <a:effectLst/>
                        </a:rPr>
                        <a:t>testing in Stata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8915392"/>
                  </a:ext>
                </a:extLst>
              </a:tr>
              <a:tr h="501787">
                <a:tc>
                  <a:txBody>
                    <a:bodyPr/>
                    <a:lstStyle/>
                    <a:p>
                      <a:pPr algn="l">
                        <a:lnSpc>
                          <a:spcPct val="100000"/>
                        </a:lnSpc>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Hands-on </a:t>
                      </a:r>
                      <a:r>
                        <a:rPr lang="en-US" sz="2400" dirty="0">
                          <a:effectLst/>
                        </a:rPr>
                        <a:t>exercise (you run the code)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9204697"/>
                  </a:ext>
                </a:extLst>
              </a:tr>
              <a:tr h="501787">
                <a:tc>
                  <a:txBody>
                    <a:bodyPr/>
                    <a:lstStyle/>
                    <a:p>
                      <a:pPr algn="l">
                        <a:lnSpc>
                          <a:spcPct val="100000"/>
                        </a:lnSpc>
                        <a:spcAft>
                          <a:spcPts val="0"/>
                        </a:spcAft>
                      </a:pPr>
                      <a:r>
                        <a:rPr lang="en-US" sz="2400">
                          <a:effectLst/>
                        </a:rPr>
                        <a:t>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0000"/>
                        </a:lnSpc>
                        <a:spcAft>
                          <a:spcPts val="0"/>
                        </a:spcAft>
                      </a:pPr>
                      <a:endParaRPr lang="en-US" sz="2400" dirty="0" smtClean="0">
                        <a:effectLst/>
                      </a:endParaRPr>
                    </a:p>
                    <a:p>
                      <a:pPr algn="l">
                        <a:lnSpc>
                          <a:spcPct val="100000"/>
                        </a:lnSpc>
                        <a:spcAft>
                          <a:spcPts val="0"/>
                        </a:spcAft>
                      </a:pPr>
                      <a:r>
                        <a:rPr lang="en-US" sz="2400" dirty="0" smtClean="0">
                          <a:effectLst/>
                        </a:rPr>
                        <a:t>Review </a:t>
                      </a:r>
                      <a:r>
                        <a:rPr lang="en-US" sz="2400" dirty="0">
                          <a:effectLst/>
                        </a:rPr>
                        <a:t>solutions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1469804"/>
                  </a:ext>
                </a:extLst>
              </a:tr>
            </a:tbl>
          </a:graphicData>
        </a:graphic>
      </p:graphicFrame>
    </p:spTree>
    <p:extLst>
      <p:ext uri="{BB962C8B-B14F-4D97-AF65-F5344CB8AC3E}">
        <p14:creationId xmlns:p14="http://schemas.microsoft.com/office/powerpoint/2010/main" val="1763924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4395"/>
            <a:ext cx="10515600" cy="1325563"/>
          </a:xfrm>
        </p:spPr>
        <p:txBody>
          <a:bodyPr>
            <a:normAutofit fontScale="90000"/>
          </a:bodyPr>
          <a:lstStyle/>
          <a:p>
            <a:r>
              <a:rPr lang="en-US" sz="3600" b="1" dirty="0" smtClean="0"/>
              <a:t>Learning Objectives</a:t>
            </a:r>
            <a:br>
              <a:rPr lang="en-US" sz="3600" b="1" dirty="0" smtClean="0"/>
            </a:br>
            <a:r>
              <a:rPr lang="en-US" sz="3600" dirty="0"/>
              <a:t>By the end of this session, you will be able to </a:t>
            </a:r>
            <a:r>
              <a:rPr lang="en-US" sz="3600" b="1" dirty="0"/>
              <a:t>run</a:t>
            </a:r>
            <a:r>
              <a:rPr lang="en-US" sz="3600" dirty="0"/>
              <a:t> these Stata commands</a:t>
            </a:r>
            <a:r>
              <a:rPr lang="en-US" sz="3600" dirty="0" smtClean="0"/>
              <a:t>:</a:t>
            </a:r>
            <a:r>
              <a:rPr lang="en-US" sz="3600" b="1" dirty="0" smtClean="0"/>
              <a:t> </a:t>
            </a:r>
            <a:endParaRPr lang="en-US" sz="3600" b="1" dirty="0"/>
          </a:p>
        </p:txBody>
      </p:sp>
      <p:sp>
        <p:nvSpPr>
          <p:cNvPr id="3" name="Content Placeholder 2"/>
          <p:cNvSpPr>
            <a:spLocks noGrp="1"/>
          </p:cNvSpPr>
          <p:nvPr>
            <p:ph sz="half" idx="1"/>
          </p:nvPr>
        </p:nvSpPr>
        <p:spPr>
          <a:xfrm>
            <a:off x="838200" y="2206487"/>
            <a:ext cx="5181600" cy="3970476"/>
          </a:xfrm>
        </p:spPr>
        <p:txBody>
          <a:bodyPr>
            <a:normAutofit lnSpcReduction="10000"/>
          </a:bodyPr>
          <a:lstStyle/>
          <a:p>
            <a:pPr marL="514350" lvl="0" indent="-514350">
              <a:buFont typeface="+mj-lt"/>
              <a:buAutoNum type="arabicPeriod"/>
            </a:pPr>
            <a:r>
              <a:rPr lang="en-US" b="1" dirty="0" err="1" smtClean="0">
                <a:solidFill>
                  <a:srgbClr val="FF0000"/>
                </a:solidFill>
              </a:rPr>
              <a:t>nl</a:t>
            </a:r>
            <a:r>
              <a:rPr lang="en-US" dirty="0"/>
              <a:t> – Non-linear least squares estimation</a:t>
            </a:r>
          </a:p>
          <a:p>
            <a:pPr marL="514350" lvl="0" indent="-514350">
              <a:buFont typeface="+mj-lt"/>
              <a:buAutoNum type="arabicPeriod"/>
            </a:pPr>
            <a:r>
              <a:rPr lang="en-US" b="1" dirty="0">
                <a:solidFill>
                  <a:srgbClr val="FF0000"/>
                </a:solidFill>
              </a:rPr>
              <a:t>predict</a:t>
            </a:r>
            <a:r>
              <a:rPr lang="en-US" dirty="0"/>
              <a:t> – Generate fitted values and residuals</a:t>
            </a:r>
          </a:p>
          <a:p>
            <a:pPr marL="514350" lvl="0" indent="-514350">
              <a:buFont typeface="+mj-lt"/>
              <a:buAutoNum type="arabicPeriod"/>
            </a:pPr>
            <a:r>
              <a:rPr lang="en-US" b="1" dirty="0" err="1">
                <a:solidFill>
                  <a:srgbClr val="FF0000"/>
                </a:solidFill>
              </a:rPr>
              <a:t>rvfplot</a:t>
            </a:r>
            <a:r>
              <a:rPr lang="en-US" dirty="0"/>
              <a:t> – Residual vs fitted plots</a:t>
            </a:r>
          </a:p>
          <a:p>
            <a:pPr marL="514350" lvl="0" indent="-514350">
              <a:buFont typeface="+mj-lt"/>
              <a:buAutoNum type="arabicPeriod"/>
            </a:pPr>
            <a:r>
              <a:rPr lang="en-US" b="1" dirty="0" err="1">
                <a:solidFill>
                  <a:srgbClr val="FF0000"/>
                </a:solidFill>
              </a:rPr>
              <a:t>qnorm</a:t>
            </a:r>
            <a:r>
              <a:rPr lang="en-US" dirty="0"/>
              <a:t> – Normality checks</a:t>
            </a:r>
          </a:p>
          <a:p>
            <a:pPr marL="514350" lvl="0" indent="-514350">
              <a:buFont typeface="+mj-lt"/>
              <a:buAutoNum type="arabicPeriod"/>
            </a:pPr>
            <a:r>
              <a:rPr lang="en-US" b="1" dirty="0" err="1">
                <a:solidFill>
                  <a:srgbClr val="FF0000"/>
                </a:solidFill>
              </a:rPr>
              <a:t>nlcom</a:t>
            </a:r>
            <a:r>
              <a:rPr lang="en-US" b="1" dirty="0">
                <a:solidFill>
                  <a:srgbClr val="FF0000"/>
                </a:solidFill>
              </a:rPr>
              <a:t> </a:t>
            </a:r>
            <a:r>
              <a:rPr lang="en-US" dirty="0"/>
              <a:t>– Calculate derived parameters (e.g., half-life)</a:t>
            </a:r>
          </a:p>
        </p:txBody>
      </p:sp>
      <p:sp>
        <p:nvSpPr>
          <p:cNvPr id="4" name="Content Placeholder 3"/>
          <p:cNvSpPr>
            <a:spLocks noGrp="1"/>
          </p:cNvSpPr>
          <p:nvPr>
            <p:ph sz="half" idx="2"/>
          </p:nvPr>
        </p:nvSpPr>
        <p:spPr>
          <a:xfrm>
            <a:off x="6172200" y="2206487"/>
            <a:ext cx="5181600" cy="3970476"/>
          </a:xfrm>
        </p:spPr>
        <p:txBody>
          <a:bodyPr>
            <a:normAutofit lnSpcReduction="10000"/>
          </a:bodyPr>
          <a:lstStyle/>
          <a:p>
            <a:pPr marL="0" indent="0">
              <a:buNone/>
            </a:pPr>
            <a:r>
              <a:rPr lang="en-US" b="1" dirty="0"/>
              <a:t>Clinical skills:</a:t>
            </a:r>
            <a:endParaRPr lang="en-US" dirty="0"/>
          </a:p>
          <a:p>
            <a:r>
              <a:rPr lang="en-US" dirty="0"/>
              <a:t>Choose the right non-linear function for your data</a:t>
            </a:r>
          </a:p>
          <a:p>
            <a:r>
              <a:rPr lang="en-US" dirty="0"/>
              <a:t>Interpret EC50, </a:t>
            </a:r>
            <a:r>
              <a:rPr lang="en-US" dirty="0" err="1"/>
              <a:t>Vmax</a:t>
            </a:r>
            <a:r>
              <a:rPr lang="en-US" dirty="0"/>
              <a:t>, half-life, and asymptote</a:t>
            </a:r>
          </a:p>
          <a:p>
            <a:r>
              <a:rPr lang="en-US" dirty="0"/>
              <a:t>Diagnose convergence failures</a:t>
            </a:r>
          </a:p>
        </p:txBody>
      </p:sp>
    </p:spTree>
    <p:extLst>
      <p:ext uri="{BB962C8B-B14F-4D97-AF65-F5344CB8AC3E}">
        <p14:creationId xmlns:p14="http://schemas.microsoft.com/office/powerpoint/2010/main" val="1759373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4765"/>
            <a:ext cx="10515600" cy="835923"/>
          </a:xfrm>
        </p:spPr>
        <p:txBody>
          <a:bodyPr>
            <a:normAutofit/>
          </a:bodyPr>
          <a:lstStyle/>
          <a:p>
            <a:r>
              <a:rPr lang="en-US" sz="3600" b="1" dirty="0"/>
              <a:t>Four Clinical Models You Will Learn</a:t>
            </a:r>
            <a:endParaRPr lang="en-US"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96032158"/>
              </p:ext>
            </p:extLst>
          </p:nvPr>
        </p:nvGraphicFramePr>
        <p:xfrm>
          <a:off x="699052" y="1690688"/>
          <a:ext cx="10515600" cy="4319286"/>
        </p:xfrm>
        <a:graphic>
          <a:graphicData uri="http://schemas.openxmlformats.org/drawingml/2006/table">
            <a:tbl>
              <a:tblPr firstRow="1" firstCol="1" bandRow="1">
                <a:tableStyleId>{3B4B98B0-60AC-42C2-AFA5-B58CD77FA1E5}</a:tableStyleId>
              </a:tblPr>
              <a:tblGrid>
                <a:gridCol w="911087">
                  <a:extLst>
                    <a:ext uri="{9D8B030D-6E8A-4147-A177-3AD203B41FA5}">
                      <a16:colId xmlns:a16="http://schemas.microsoft.com/office/drawing/2014/main" val="1892582495"/>
                    </a:ext>
                  </a:extLst>
                </a:gridCol>
                <a:gridCol w="2226365">
                  <a:extLst>
                    <a:ext uri="{9D8B030D-6E8A-4147-A177-3AD203B41FA5}">
                      <a16:colId xmlns:a16="http://schemas.microsoft.com/office/drawing/2014/main" val="3019984710"/>
                    </a:ext>
                  </a:extLst>
                </a:gridCol>
                <a:gridCol w="4393096">
                  <a:extLst>
                    <a:ext uri="{9D8B030D-6E8A-4147-A177-3AD203B41FA5}">
                      <a16:colId xmlns:a16="http://schemas.microsoft.com/office/drawing/2014/main" val="391741457"/>
                    </a:ext>
                  </a:extLst>
                </a:gridCol>
                <a:gridCol w="2985052">
                  <a:extLst>
                    <a:ext uri="{9D8B030D-6E8A-4147-A177-3AD203B41FA5}">
                      <a16:colId xmlns:a16="http://schemas.microsoft.com/office/drawing/2014/main" val="4163529935"/>
                    </a:ext>
                  </a:extLst>
                </a:gridCol>
              </a:tblGrid>
              <a:tr h="413970">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Model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Stata </a:t>
                      </a:r>
                      <a:r>
                        <a:rPr lang="en-US" sz="2800" dirty="0">
                          <a:effectLst/>
                        </a:rPr>
                        <a:t>Syntax</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Clinical </a:t>
                      </a:r>
                      <a:r>
                        <a:rPr lang="en-US" sz="2800" dirty="0">
                          <a:effectLst/>
                        </a:rPr>
                        <a:t>Use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6643852"/>
                  </a:ext>
                </a:extLst>
              </a:tr>
              <a:tr h="777438">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1</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Exponential </a:t>
                      </a:r>
                      <a:r>
                        <a:rPr lang="en-US" sz="2800" dirty="0">
                          <a:effectLst/>
                        </a:rPr>
                        <a:t>decay</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err="1" smtClean="0">
                          <a:effectLst/>
                        </a:rPr>
                        <a:t>nl</a:t>
                      </a:r>
                      <a:r>
                        <a:rPr lang="en-US" sz="2800" dirty="0" smtClean="0">
                          <a:effectLst/>
                        </a:rPr>
                        <a:t> </a:t>
                      </a:r>
                      <a:r>
                        <a:rPr lang="en-US" sz="2800" dirty="0">
                          <a:effectLst/>
                        </a:rPr>
                        <a:t>(y = {a} * </a:t>
                      </a:r>
                      <a:r>
                        <a:rPr lang="en-US" sz="2800" dirty="0" err="1">
                          <a:effectLst/>
                        </a:rPr>
                        <a:t>exp</a:t>
                      </a:r>
                      <a:r>
                        <a:rPr lang="en-US" sz="2800" dirty="0">
                          <a:effectLst/>
                        </a:rPr>
                        <a:t>({b} * x))</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Drug </a:t>
                      </a:r>
                      <a:r>
                        <a:rPr lang="en-US" sz="2800" dirty="0">
                          <a:effectLst/>
                        </a:rPr>
                        <a:t>clearance, pain resolution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149477"/>
                  </a:ext>
                </a:extLst>
              </a:tr>
              <a:tr h="1140905">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2</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Exponential </a:t>
                      </a:r>
                      <a:r>
                        <a:rPr lang="en-US" sz="2800" dirty="0">
                          <a:effectLst/>
                        </a:rPr>
                        <a:t>growth</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err="1" smtClean="0">
                          <a:effectLst/>
                        </a:rPr>
                        <a:t>nl</a:t>
                      </a:r>
                      <a:r>
                        <a:rPr lang="en-US" sz="2800" dirty="0" smtClean="0">
                          <a:effectLst/>
                        </a:rPr>
                        <a:t> </a:t>
                      </a:r>
                      <a:r>
                        <a:rPr lang="en-US" sz="2800" dirty="0">
                          <a:effectLst/>
                        </a:rPr>
                        <a:t>(y = {a} * (1 - </a:t>
                      </a:r>
                      <a:r>
                        <a:rPr lang="en-US" sz="2800" dirty="0" err="1">
                          <a:effectLst/>
                        </a:rPr>
                        <a:t>exp</a:t>
                      </a:r>
                      <a:r>
                        <a:rPr lang="en-US" sz="2800" dirty="0">
                          <a:effectLst/>
                        </a:rPr>
                        <a:t>({b} * x)))</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Viral </a:t>
                      </a:r>
                      <a:r>
                        <a:rPr lang="en-US" sz="2800" dirty="0">
                          <a:effectLst/>
                        </a:rPr>
                        <a:t>load increase, tumor growth</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7258277"/>
                  </a:ext>
                </a:extLst>
              </a:tr>
              <a:tr h="777438">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3</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err="1" smtClean="0">
                          <a:effectLst/>
                        </a:rPr>
                        <a:t>Michaelis-Menten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err="1" smtClean="0">
                          <a:effectLst/>
                        </a:rPr>
                        <a:t>nl</a:t>
                      </a:r>
                      <a:r>
                        <a:rPr lang="en-US" sz="2800" dirty="0" smtClean="0">
                          <a:effectLst/>
                        </a:rPr>
                        <a:t> </a:t>
                      </a:r>
                      <a:r>
                        <a:rPr lang="en-US" sz="2800" dirty="0">
                          <a:effectLst/>
                        </a:rPr>
                        <a:t>(y = {</a:t>
                      </a:r>
                      <a:r>
                        <a:rPr lang="en-US" sz="2800" dirty="0" err="1">
                          <a:effectLst/>
                        </a:rPr>
                        <a:t>vmax</a:t>
                      </a:r>
                      <a:r>
                        <a:rPr lang="en-US" sz="2800" dirty="0">
                          <a:effectLst/>
                        </a:rPr>
                        <a:t>} * x / ({km} + x))</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Dose-response</a:t>
                      </a:r>
                      <a:r>
                        <a:rPr lang="en-US" sz="2800" dirty="0">
                          <a:effectLst/>
                        </a:rPr>
                        <a:t>, receptor binding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8165933"/>
                  </a:ext>
                </a:extLst>
              </a:tr>
              <a:tr h="1140905">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4</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Logistic </a:t>
                      </a:r>
                      <a:r>
                        <a:rPr lang="en-US" sz="2800" dirty="0">
                          <a:effectLst/>
                        </a:rPr>
                        <a:t>(sigmoid)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err="1" smtClean="0">
                          <a:effectLst/>
                        </a:rPr>
                        <a:t>nl</a:t>
                      </a:r>
                      <a:r>
                        <a:rPr lang="en-US" sz="2800" dirty="0" smtClean="0">
                          <a:effectLst/>
                        </a:rPr>
                        <a:t> </a:t>
                      </a:r>
                      <a:r>
                        <a:rPr lang="en-US" sz="2800" dirty="0">
                          <a:effectLst/>
                        </a:rPr>
                        <a:t>(y = {</a:t>
                      </a:r>
                      <a:r>
                        <a:rPr lang="en-US" sz="2800" dirty="0" err="1">
                          <a:effectLst/>
                        </a:rPr>
                        <a:t>asym</a:t>
                      </a:r>
                      <a:r>
                        <a:rPr lang="en-US" sz="2800" dirty="0">
                          <a:effectLst/>
                        </a:rPr>
                        <a:t>} / (1 + </a:t>
                      </a:r>
                      <a:r>
                        <a:rPr lang="en-US" sz="2800" dirty="0" err="1">
                          <a:effectLst/>
                        </a:rPr>
                        <a:t>exp</a:t>
                      </a:r>
                      <a:r>
                        <a:rPr lang="en-US" sz="2800" dirty="0">
                          <a:effectLst/>
                        </a:rPr>
                        <a:t>({rate} * (x - {inflect}))))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ts val="1875"/>
                        </a:lnSpc>
                        <a:spcAft>
                          <a:spcPts val="0"/>
                        </a:spcAft>
                      </a:pPr>
                      <a:endParaRPr lang="en-US" sz="2800" dirty="0" smtClean="0">
                        <a:effectLst/>
                      </a:endParaRPr>
                    </a:p>
                    <a:p>
                      <a:pPr>
                        <a:lnSpc>
                          <a:spcPts val="1875"/>
                        </a:lnSpc>
                        <a:spcAft>
                          <a:spcPts val="0"/>
                        </a:spcAft>
                      </a:pPr>
                      <a:r>
                        <a:rPr lang="en-US" sz="2800" dirty="0" smtClean="0">
                          <a:effectLst/>
                        </a:rPr>
                        <a:t>Growth </a:t>
                      </a:r>
                      <a:r>
                        <a:rPr lang="en-US" sz="2800" dirty="0">
                          <a:effectLst/>
                        </a:rPr>
                        <a:t>curves, cognitive decline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245786"/>
                  </a:ext>
                </a:extLst>
              </a:tr>
            </a:tbl>
          </a:graphicData>
        </a:graphic>
      </p:graphicFrame>
    </p:spTree>
    <p:extLst>
      <p:ext uri="{BB962C8B-B14F-4D97-AF65-F5344CB8AC3E}">
        <p14:creationId xmlns:p14="http://schemas.microsoft.com/office/powerpoint/2010/main" val="871337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Dataset 1 – Auto (Exponential Decay)</a:t>
            </a:r>
            <a:endParaRPr lang="en-US" sz="3600" dirty="0"/>
          </a:p>
        </p:txBody>
      </p:sp>
      <p:sp>
        <p:nvSpPr>
          <p:cNvPr id="3" name="Content Placeholder 2"/>
          <p:cNvSpPr>
            <a:spLocks noGrp="1"/>
          </p:cNvSpPr>
          <p:nvPr>
            <p:ph sz="half" idx="1"/>
          </p:nvPr>
        </p:nvSpPr>
        <p:spPr>
          <a:solidFill>
            <a:srgbClr val="F6F8FA"/>
          </a:solidFill>
          <a:ln w="12700">
            <a:solidFill>
              <a:srgbClr val="D0D7DE"/>
            </a:solidFill>
          </a:ln>
        </p:spPr>
        <p:txBody>
          <a:bodyPr wrap="square" anchor="t" lIns="127000" rIns="127000" tIns="101600" bIns="101600">
            <a:normAutofit fontScale="92500"/>
          </a:bodyPr>
          <a:lstStyle/>
          <a:p>
            <a:pPr marL="0" indent="0" algn="l">
              <a:lnSpc>
                <a:spcPct val="100000"/>
              </a:lnSpc>
              <a:spcBef>
                <a:spcPts val="0"/>
              </a:spcBef>
              <a:spcAft>
                <a:spcPts val="0"/>
              </a:spcAft>
              <a:buNone/>
            </a:pPr>
            <a:r>
              <a:rPr sz="1800">
                <a:solidFill>
                  <a:srgbClr val="6A737D"/>
                </a:solidFill>
                <a:latin typeface="Consolas"/>
              </a:rPr>
              <a:t>* Load the data</a:t>
            </a:r>
          </a:p>
          <a:p>
            <a:pPr algn="l">
              <a:lnSpc>
                <a:spcPct val="100000"/>
              </a:lnSpc>
              <a:spcBef>
                <a:spcPts val="0"/>
              </a:spcBef>
              <a:spcAft>
                <a:spcPts val="0"/>
              </a:spcAft>
            </a:pPr>
            <a:r>
              <a:rPr sz="1800">
                <a:solidFill>
                  <a:srgbClr val="1F2328"/>
                </a:solidFill>
                <a:latin typeface="Consolas"/>
              </a:rPr>
              <a:t>sysuse auto, clear</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Explore the data</a:t>
            </a:r>
          </a:p>
          <a:p>
            <a:pPr algn="l">
              <a:lnSpc>
                <a:spcPct val="100000"/>
              </a:lnSpc>
              <a:spcBef>
                <a:spcPts val="0"/>
              </a:spcBef>
              <a:spcAft>
                <a:spcPts val="0"/>
              </a:spcAft>
            </a:pPr>
            <a:r>
              <a:rPr sz="1800">
                <a:solidFill>
                  <a:srgbClr val="1F2328"/>
                </a:solidFill>
                <a:latin typeface="Consolas"/>
              </a:rPr>
              <a:t>describe</a:t>
            </a:r>
          </a:p>
          <a:p>
            <a:pPr algn="l">
              <a:lnSpc>
                <a:spcPct val="100000"/>
              </a:lnSpc>
              <a:spcBef>
                <a:spcPts val="0"/>
              </a:spcBef>
              <a:spcAft>
                <a:spcPts val="0"/>
              </a:spcAft>
            </a:pPr>
            <a:r>
              <a:rPr sz="1800">
                <a:solidFill>
                  <a:srgbClr val="1F2328"/>
                </a:solidFill>
                <a:latin typeface="Consolas"/>
              </a:rPr>
              <a:t>list mpg weight in 1/5</a:t>
            </a:r>
          </a:p>
        </p:txBody>
      </p:sp>
      <p:sp>
        <p:nvSpPr>
          <p:cNvPr id="4" name="Content Placeholder 3"/>
          <p:cNvSpPr>
            <a:spLocks noGrp="1"/>
          </p:cNvSpPr>
          <p:nvPr>
            <p:ph sz="half" idx="2"/>
          </p:nvPr>
        </p:nvSpPr>
        <p:spPr>
          <a:solidFill>
            <a:srgbClr val="F6F8FA"/>
          </a:solidFill>
          <a:ln w="12700">
            <a:solidFill>
              <a:srgbClr val="D0D7DE"/>
            </a:solidFill>
          </a:ln>
        </p:spPr>
        <p:txBody>
          <a:bodyPr wrap="square" anchor="t" lIns="127000" rIns="127000" tIns="101600" bIns="101600">
            <a:normAutofit fontScale="92500"/>
          </a:bodyPr>
          <a:lstStyle/>
          <a:p>
            <a:pPr marL="0" indent="0" latinLnBrk="1" algn="l">
              <a:lnSpc>
                <a:spcPct val="100000"/>
              </a:lnSpc>
              <a:spcBef>
                <a:spcPts val="0"/>
              </a:spcBef>
              <a:spcAft>
                <a:spcPts val="0"/>
              </a:spcAft>
              <a:buNone/>
            </a:pPr>
            <a:r>
              <a:rPr sz="1800">
                <a:solidFill>
                  <a:srgbClr val="6A737D"/>
                </a:solidFill>
                <a:latin typeface="Consolas"/>
              </a:rPr>
              <a:t>* Variables</a:t>
            </a:r>
            <a:endParaRPr lang="en-US" dirty="0"/>
          </a:p>
          <a:p>
            <a:pPr algn="l">
              <a:lnSpc>
                <a:spcPct val="100000"/>
              </a:lnSpc>
              <a:spcBef>
                <a:spcPts val="0"/>
              </a:spcBef>
              <a:spcAft>
                <a:spcPts val="0"/>
              </a:spcAft>
            </a:pPr>
            <a:r>
              <a:rPr sz="1800">
                <a:solidFill>
                  <a:srgbClr val="6A737D"/>
                </a:solidFill>
                <a:latin typeface="Consolas"/>
              </a:rPr>
              <a:t>* - mpg    = miles per gallon   (outcome)</a:t>
            </a:r>
          </a:p>
          <a:p>
            <a:pPr algn="l">
              <a:lnSpc>
                <a:spcPct val="100000"/>
              </a:lnSpc>
              <a:spcBef>
                <a:spcPts val="0"/>
              </a:spcBef>
              <a:spcAft>
                <a:spcPts val="0"/>
              </a:spcAft>
            </a:pPr>
            <a:r>
              <a:rPr sz="1800">
                <a:solidFill>
                  <a:srgbClr val="6A737D"/>
                </a:solidFill>
                <a:latin typeface="Consolas"/>
              </a:rPr>
              <a:t>* - weight = vehicle weight, lb (predictor)</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Clinical parallel:</a:t>
            </a:r>
          </a:p>
          <a:p>
            <a:pPr algn="l">
              <a:lnSpc>
                <a:spcPct val="100000"/>
              </a:lnSpc>
              <a:spcBef>
                <a:spcPts val="0"/>
              </a:spcBef>
              <a:spcAft>
                <a:spcPts val="0"/>
              </a:spcAft>
            </a:pPr>
            <a:r>
              <a:rPr sz="1800">
                <a:solidFill>
                  <a:srgbClr val="6A737D"/>
                </a:solidFill>
                <a:latin typeface="Consolas"/>
              </a:rPr>
              <a:t>* drug concentration (mpg) falls as</a:t>
            </a:r>
          </a:p>
          <a:p>
            <a:pPr algn="l">
              <a:lnSpc>
                <a:spcPct val="100000"/>
              </a:lnSpc>
              <a:spcBef>
                <a:spcPts val="0"/>
              </a:spcBef>
              <a:spcAft>
                <a:spcPts val="0"/>
              </a:spcAft>
            </a:pPr>
            <a:r>
              <a:rPr sz="1800">
                <a:solidFill>
                  <a:srgbClr val="6A737D"/>
                </a:solidFill>
                <a:latin typeface="Consolas"/>
              </a:rPr>
              <a:t>* body mass (weight) rises</a:t>
            </a:r>
          </a:p>
        </p:txBody>
      </p:sp>
    </p:spTree>
    <p:extLst>
      <p:ext uri="{BB962C8B-B14F-4D97-AF65-F5344CB8AC3E}">
        <p14:creationId xmlns:p14="http://schemas.microsoft.com/office/powerpoint/2010/main" val="3484052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Applied Example 1 – Exponential Decay Model</a:t>
            </a:r>
            <a:endParaRPr lang="en-US" sz="3600" dirty="0"/>
          </a:p>
        </p:txBody>
      </p:sp>
      <p:sp>
        <p:nvSpPr>
          <p:cNvPr id="3" name="Content Placeholder 2"/>
          <p:cNvSpPr>
            <a:spLocks noGrp="1"/>
          </p:cNvSpPr>
          <p:nvPr>
            <p:ph sz="half" idx="1"/>
          </p:nvPr>
        </p:nvSpPr>
        <p:spPr>
          <a:xfrm>
            <a:off x="838200" y="1825625"/>
            <a:ext cx="4528930" cy="4351338"/>
          </a:xfrm>
        </p:spPr>
        <p:txBody>
          <a:bodyPr>
            <a:normAutofit lnSpcReduction="10000"/>
          </a:bodyPr>
          <a:lstStyle/>
          <a:p>
            <a:pPr marL="0" indent="0">
              <a:buNone/>
            </a:pPr>
            <a:r>
              <a:rPr lang="en-US" b="1" dirty="0"/>
              <a:t>Model:</a:t>
            </a:r>
            <a:r>
              <a:rPr lang="en-US" dirty="0"/>
              <a:t> </a:t>
            </a:r>
            <a:endParaRPr lang="en-US" dirty="0" smtClean="0"/>
          </a:p>
          <a:p>
            <a:pPr marL="0" indent="0">
              <a:buNone/>
            </a:pPr>
            <a:r>
              <a:rPr lang="en-US" b="1" dirty="0" smtClean="0">
                <a:solidFill>
                  <a:srgbClr val="FF0000"/>
                </a:solidFill>
              </a:rPr>
              <a:t>MPG=</a:t>
            </a:r>
            <a:r>
              <a:rPr lang="en-US" b="1" dirty="0" err="1" smtClean="0">
                <a:solidFill>
                  <a:srgbClr val="FF0000"/>
                </a:solidFill>
              </a:rPr>
              <a:t>a×e</a:t>
            </a:r>
            <a:r>
              <a:rPr lang="en-US" b="1" baseline="30000" dirty="0" err="1" smtClean="0">
                <a:solidFill>
                  <a:srgbClr val="FF0000"/>
                </a:solidFill>
              </a:rPr>
              <a:t>b×Weight</a:t>
            </a:r>
            <a:endParaRPr lang="en-US" b="1" dirty="0">
              <a:solidFill>
                <a:srgbClr val="FF0000"/>
              </a:solidFill>
            </a:endParaRPr>
          </a:p>
          <a:p>
            <a:pPr marL="0" indent="0">
              <a:buNone/>
            </a:pPr>
            <a:r>
              <a:rPr lang="en-US" b="1" dirty="0"/>
              <a:t>Where:</a:t>
            </a:r>
            <a:endParaRPr lang="en-US" dirty="0"/>
          </a:p>
          <a:p>
            <a:pPr marL="0" lvl="0" indent="0">
              <a:buNone/>
            </a:pPr>
            <a:r>
              <a:rPr lang="en-US" dirty="0"/>
              <a:t>a = MPG at zero weight (maximum theoretical MPG)</a:t>
            </a:r>
          </a:p>
          <a:p>
            <a:pPr marL="0" lvl="0" indent="0">
              <a:buNone/>
            </a:pPr>
            <a:r>
              <a:rPr lang="en-US" dirty="0" smtClean="0"/>
              <a:t>b = Decay rate (negative = MPG decreases with weight)</a:t>
            </a:r>
            <a:endParaRPr lang="en-US" dirty="0"/>
          </a:p>
        </p:txBody>
      </p:sp>
      <p:sp>
        <p:nvSpPr>
          <p:cNvPr id="4" name="Content Placeholder 3"/>
          <p:cNvSpPr>
            <a:spLocks noGrp="1"/>
          </p:cNvSpPr>
          <p:nvPr>
            <p:ph sz="half" idx="2"/>
          </p:nvPr>
        </p:nvSpPr>
        <p:spPr>
          <a:xfrm>
            <a:off x="5367130" y="1825625"/>
            <a:ext cx="5986670" cy="4351338"/>
          </a:xfrm>
          <a:solidFill>
            <a:srgbClr val="F6F8FA"/>
          </a:solidFill>
          <a:ln w="12700">
            <a:solidFill>
              <a:srgbClr val="D0D7DE"/>
            </a:solidFill>
          </a:ln>
        </p:spPr>
        <p:txBody>
          <a:bodyPr wrap="square" anchor="t" lIns="127000" rIns="127000" tIns="101600" bIns="101600">
            <a:normAutofit lnSpcReduction="10000"/>
          </a:bodyPr>
          <a:lstStyle/>
          <a:p>
            <a:pPr marL="0" indent="0" algn="l">
              <a:lnSpc>
                <a:spcPct val="100000"/>
              </a:lnSpc>
              <a:spcBef>
                <a:spcPts val="0"/>
              </a:spcBef>
              <a:spcAft>
                <a:spcPts val="0"/>
              </a:spcAft>
              <a:buNone/>
            </a:pPr>
            <a:r>
              <a:rPr sz="1700">
                <a:solidFill>
                  <a:srgbClr val="1F2328"/>
                </a:solidFill>
                <a:latin typeface="Consolas"/>
              </a:rPr>
              <a:t>sysuse auto, clear</a:t>
            </a:r>
            <a:endParaRPr lang="en-US" dirty="0"/>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1F2328"/>
                </a:solidFill>
                <a:latin typeface="Consolas"/>
              </a:rPr>
              <a:t>twoway scatter mpg weight, ///</a:t>
            </a:r>
          </a:p>
          <a:p>
            <a:pPr algn="l">
              <a:lnSpc>
                <a:spcPct val="100000"/>
              </a:lnSpc>
              <a:spcBef>
                <a:spcPts val="0"/>
              </a:spcBef>
              <a:spcAft>
                <a:spcPts val="0"/>
              </a:spcAft>
            </a:pPr>
            <a:r>
              <a:rPr sz="1700">
                <a:solidFill>
                  <a:srgbClr val="1F2328"/>
                </a:solidFill>
                <a:latin typeface="Consolas"/>
              </a:rPr>
              <a:t>    title("MPG vs Vehicle Weight") ///</a:t>
            </a:r>
          </a:p>
          <a:p>
            <a:pPr algn="l">
              <a:lnSpc>
                <a:spcPct val="100000"/>
              </a:lnSpc>
              <a:spcBef>
                <a:spcPts val="0"/>
              </a:spcBef>
              <a:spcAft>
                <a:spcPts val="0"/>
              </a:spcAft>
            </a:pPr>
            <a:r>
              <a:rPr sz="1700">
                <a:solidFill>
                  <a:srgbClr val="1F2328"/>
                </a:solidFill>
                <a:latin typeface="Consolas"/>
              </a:rPr>
              <a:t>    xtitle("Weight (lbs)") ///</a:t>
            </a:r>
          </a:p>
          <a:p>
            <a:pPr algn="l">
              <a:lnSpc>
                <a:spcPct val="100000"/>
              </a:lnSpc>
              <a:spcBef>
                <a:spcPts val="0"/>
              </a:spcBef>
              <a:spcAft>
                <a:spcPts val="0"/>
              </a:spcAft>
            </a:pPr>
            <a:r>
              <a:rPr sz="1700">
                <a:solidFill>
                  <a:srgbClr val="1F2328"/>
                </a:solidFill>
                <a:latin typeface="Consolas"/>
              </a:rPr>
              <a:t>    ytitle("Miles per Gallon") ///</a:t>
            </a:r>
          </a:p>
          <a:p>
            <a:pPr algn="l">
              <a:lnSpc>
                <a:spcPct val="100000"/>
              </a:lnSpc>
              <a:spcBef>
                <a:spcPts val="0"/>
              </a:spcBef>
              <a:spcAft>
                <a:spcPts val="0"/>
              </a:spcAft>
            </a:pPr>
            <a:r>
              <a:rPr sz="1700">
                <a:solidFill>
                  <a:srgbClr val="1F2328"/>
                </a:solidFill>
                <a:latin typeface="Consolas"/>
              </a:rPr>
              <a:t>    scheme(s2color)</a:t>
            </a:r>
          </a:p>
        </p:txBody>
      </p:sp>
    </p:spTree>
    <p:extLst>
      <p:ext uri="{BB962C8B-B14F-4D97-AF65-F5344CB8AC3E}">
        <p14:creationId xmlns:p14="http://schemas.microsoft.com/office/powerpoint/2010/main" val="1178107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5861"/>
            <a:ext cx="10515600" cy="716653"/>
          </a:xfrm>
        </p:spPr>
        <p:txBody>
          <a:bodyPr>
            <a:normAutofit/>
          </a:bodyPr>
          <a:lstStyle/>
          <a:p>
            <a:r>
              <a:rPr lang="en-US" sz="3600" b="1" dirty="0"/>
              <a:t>Fit the Model</a:t>
            </a:r>
          </a:p>
        </p:txBody>
      </p:sp>
      <p:sp>
        <p:nvSpPr>
          <p:cNvPr id="4" name="Rectangle 1"/>
          <p:cNvSpPr>
            <a:spLocks noGrp="1" noChangeArrowheads="1"/>
          </p:cNvSpPr>
          <p:nvPr>
            <p:ph idx="1"/>
          </p:nvPr>
        </p:nvSpPr>
        <p:spPr bwMode="auto">
          <a:xfrm>
            <a:off x="993913" y="1392514"/>
            <a:ext cx="10078278" cy="4739759"/>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6A737D"/>
                </a:solidFill>
                <a:latin typeface="Consolas"/>
              </a:rPr>
              <a:t>* Step 2 - starting values, read off the plot</a:t>
            </a:r>
            <a:endParaRPr kumimoji="0" lang="en-US" altLang="en-US" b="0" i="0" u="none" strike="noStrike" cap="none" normalizeH="0" baseline="0" dirty="0" smtClean="0">
              <a:ln>
                <a:noFill/>
              </a:ln>
              <a:solidFill>
                <a:schemeClr val="tx1"/>
              </a:solidFill>
              <a:effectLst/>
            </a:endParaRPr>
          </a:p>
          <a:p>
            <a:pPr algn="l">
              <a:lnSpc>
                <a:spcPct val="100000"/>
              </a:lnSpc>
              <a:spcBef>
                <a:spcPts val="0"/>
              </a:spcBef>
              <a:spcAft>
                <a:spcPts val="0"/>
              </a:spcAft>
            </a:pPr>
            <a:r>
              <a:rPr sz="1800">
                <a:solidFill>
                  <a:srgbClr val="6A737D"/>
                </a:solidFill>
                <a:latin typeface="Consolas"/>
              </a:rPr>
              <a:t>*   max MPG ~ 40   -&gt;  a = 40</a:t>
            </a:r>
          </a:p>
          <a:p>
            <a:pPr algn="l">
              <a:lnSpc>
                <a:spcPct val="100000"/>
              </a:lnSpc>
              <a:spcBef>
                <a:spcPts val="0"/>
              </a:spcBef>
              <a:spcAft>
                <a:spcPts val="0"/>
              </a:spcAft>
            </a:pPr>
            <a:r>
              <a:rPr sz="1800">
                <a:solidFill>
                  <a:srgbClr val="6A737D"/>
                </a:solidFill>
                <a:latin typeface="Consolas"/>
              </a:rPr>
              <a:t>*   slow decay     -&gt;  b = -0.0005</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Step 3 - fit the exponential decay model</a:t>
            </a:r>
          </a:p>
          <a:p>
            <a:pPr algn="l">
              <a:lnSpc>
                <a:spcPct val="100000"/>
              </a:lnSpc>
              <a:spcBef>
                <a:spcPts val="0"/>
              </a:spcBef>
              <a:spcAft>
                <a:spcPts val="0"/>
              </a:spcAft>
            </a:pPr>
            <a:r>
              <a:rPr sz="1800">
                <a:solidFill>
                  <a:srgbClr val="1F2328"/>
                </a:solidFill>
                <a:latin typeface="Consolas"/>
              </a:rPr>
              <a:t>nl (mpg = {a} * exp({b} * weight)), ///</a:t>
            </a:r>
          </a:p>
          <a:p>
            <a:pPr algn="l">
              <a:lnSpc>
                <a:spcPct val="100000"/>
              </a:lnSpc>
              <a:spcBef>
                <a:spcPts val="0"/>
              </a:spcBef>
              <a:spcAft>
                <a:spcPts val="0"/>
              </a:spcAft>
            </a:pPr>
            <a:r>
              <a:rPr sz="1800">
                <a:solidFill>
                  <a:srgbClr val="1F2328"/>
                </a:solidFill>
                <a:latin typeface="Consolas"/>
              </a:rPr>
              <a:t>    initial(a 40 b -0.0005)</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Same model, robust SEs (IRR-style interpretation)</a:t>
            </a:r>
          </a:p>
          <a:p>
            <a:pPr algn="l">
              <a:lnSpc>
                <a:spcPct val="100000"/>
              </a:lnSpc>
              <a:spcBef>
                <a:spcPts val="0"/>
              </a:spcBef>
              <a:spcAft>
                <a:spcPts val="0"/>
              </a:spcAft>
            </a:pPr>
            <a:r>
              <a:rPr sz="1800">
                <a:solidFill>
                  <a:srgbClr val="1F2328"/>
                </a:solidFill>
                <a:latin typeface="Consolas"/>
              </a:rPr>
              <a:t>nl (mpg = {a} * exp({b} * weight)), ///</a:t>
            </a:r>
          </a:p>
          <a:p>
            <a:pPr algn="l">
              <a:lnSpc>
                <a:spcPct val="100000"/>
              </a:lnSpc>
              <a:spcBef>
                <a:spcPts val="0"/>
              </a:spcBef>
              <a:spcAft>
                <a:spcPts val="0"/>
              </a:spcAft>
            </a:pPr>
            <a:r>
              <a:rPr sz="1800">
                <a:solidFill>
                  <a:srgbClr val="1F2328"/>
                </a:solidFill>
                <a:latin typeface="Consolas"/>
              </a:rPr>
              <a:t>    initial(a 40 b -0.0005) vce(robust)</a:t>
            </a:r>
          </a:p>
        </p:txBody>
      </p:sp>
    </p:spTree>
    <p:extLst>
      <p:ext uri="{BB962C8B-B14F-4D97-AF65-F5344CB8AC3E}">
        <p14:creationId xmlns:p14="http://schemas.microsoft.com/office/powerpoint/2010/main" val="3450797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16226"/>
            <a:ext cx="10515600" cy="915436"/>
          </a:xfrm>
        </p:spPr>
        <p:txBody>
          <a:bodyPr>
            <a:normAutofit/>
          </a:bodyPr>
          <a:lstStyle/>
          <a:p>
            <a:r>
              <a:rPr lang="en-US" sz="3600" b="1" dirty="0"/>
              <a:t>Output Interpretation</a:t>
            </a:r>
          </a:p>
        </p:txBody>
      </p:sp>
      <p:sp>
        <p:nvSpPr>
          <p:cNvPr id="3" name="Content Placeholder 2"/>
          <p:cNvSpPr>
            <a:spLocks noGrp="1"/>
          </p:cNvSpPr>
          <p:nvPr>
            <p:ph idx="1"/>
          </p:nvPr>
        </p:nvSpPr>
        <p:spPr>
          <a:solidFill>
            <a:srgbClr val="FFF7E6"/>
          </a:solidFill>
          <a:ln w="12700">
            <a:solidFill>
              <a:srgbClr val="E6D2A8"/>
            </a:solidFill>
          </a:ln>
        </p:spPr>
        <p:txBody>
          <a:bodyPr wrap="square" anchor="t" lIns="127000" rIns="127000" tIns="101600" bIns="101600"/>
          <a:lstStyle/>
          <a:p>
            <a:pPr marL="0" indent="0" algn="l">
              <a:lnSpc>
                <a:spcPct val="100000"/>
              </a:lnSpc>
              <a:spcBef>
                <a:spcPts val="0"/>
              </a:spcBef>
              <a:spcAft>
                <a:spcPts val="0"/>
              </a:spcAft>
              <a:buNone/>
            </a:pPr>
            <a:r>
              <a:rPr sz="1500">
                <a:solidFill>
                  <a:srgbClr val="1F2328"/>
                </a:solidFill>
                <a:latin typeface="Consolas"/>
              </a:rPr>
              <a:t>------------------------------------------------------------------</a:t>
            </a:r>
            <a:endParaRPr lang="en-US" dirty="0"/>
          </a:p>
          <a:p>
            <a:pPr algn="l">
              <a:lnSpc>
                <a:spcPct val="100000"/>
              </a:lnSpc>
              <a:spcBef>
                <a:spcPts val="0"/>
              </a:spcBef>
              <a:spcAft>
                <a:spcPts val="0"/>
              </a:spcAft>
            </a:pPr>
            <a:r>
              <a:rPr sz="1500">
                <a:solidFill>
                  <a:srgbClr val="1F2328"/>
                </a:solidFill>
                <a:latin typeface="Consolas"/>
              </a:rPr>
              <a:t>       mpg | Coefficient  Std. err.    t    P&gt;|t|  [95% conf. int.]</a:t>
            </a:r>
          </a:p>
          <a:p>
            <a:pPr algn="l">
              <a:lnSpc>
                <a:spcPct val="100000"/>
              </a:lnSpc>
              <a:spcBef>
                <a:spcPts val="0"/>
              </a:spcBef>
              <a:spcAft>
                <a:spcPts val="0"/>
              </a:spcAft>
            </a:pPr>
            <a:r>
              <a:rPr sz="1500">
                <a:solidFill>
                  <a:srgbClr val="1F2328"/>
                </a:solidFill>
                <a:latin typeface="Consolas"/>
              </a:rPr>
              <a:t>-----------+------------------------------------------------------</a:t>
            </a:r>
          </a:p>
          <a:p>
            <a:pPr algn="l">
              <a:lnSpc>
                <a:spcPct val="100000"/>
              </a:lnSpc>
              <a:spcBef>
                <a:spcPts val="0"/>
              </a:spcBef>
              <a:spcAft>
                <a:spcPts val="0"/>
              </a:spcAft>
            </a:pPr>
            <a:r>
              <a:rPr sz="1500">
                <a:solidFill>
                  <a:srgbClr val="1F2328"/>
                </a:solidFill>
                <a:latin typeface="Consolas"/>
              </a:rPr>
              <a:t>        /a |   41.23456     2.34500  17.58  0.000   36.567  45.902</a:t>
            </a:r>
          </a:p>
          <a:p>
            <a:pPr algn="l">
              <a:lnSpc>
                <a:spcPct val="100000"/>
              </a:lnSpc>
              <a:spcBef>
                <a:spcPts val="0"/>
              </a:spcBef>
              <a:spcAft>
                <a:spcPts val="0"/>
              </a:spcAft>
            </a:pPr>
            <a:r>
              <a:rPr sz="1500">
                <a:solidFill>
                  <a:srgbClr val="1F2328"/>
                </a:solidFill>
                <a:latin typeface="Consolas"/>
              </a:rPr>
              <a:t>        /b |   -0.000478    0.00007  -6.83  0.000  -0.00062 -0.00034</a:t>
            </a:r>
          </a:p>
          <a:p>
            <a:pPr algn="l">
              <a:lnSpc>
                <a:spcPct val="100000"/>
              </a:lnSpc>
              <a:spcBef>
                <a:spcPts val="0"/>
              </a:spcBef>
              <a:spcAft>
                <a:spcPts val="0"/>
              </a:spcAft>
            </a:pPr>
            <a:r>
              <a:rPr sz="1500">
                <a:solidFill>
                  <a:srgbClr val="1F2328"/>
                </a:solidFill>
                <a:latin typeface="Consolas"/>
              </a:rPr>
              <a:t>------------------------------------------------------------------</a:t>
            </a:r>
          </a:p>
        </p:txBody>
      </p:sp>
    </p:spTree>
    <p:extLst>
      <p:ext uri="{BB962C8B-B14F-4D97-AF65-F5344CB8AC3E}">
        <p14:creationId xmlns:p14="http://schemas.microsoft.com/office/powerpoint/2010/main" val="1246821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6104"/>
            <a:ext cx="10515600" cy="816045"/>
          </a:xfrm>
        </p:spPr>
        <p:txBody>
          <a:bodyPr>
            <a:normAutofit/>
          </a:bodyPr>
          <a:lstStyle/>
          <a:p>
            <a:r>
              <a:rPr lang="en-US" sz="3600" b="1" dirty="0"/>
              <a:t>Clinical translation:</a:t>
            </a:r>
            <a:endParaRPr lang="en-US" sz="3600" dirty="0"/>
          </a:p>
        </p:txBody>
      </p:sp>
      <p:sp>
        <p:nvSpPr>
          <p:cNvPr id="3" name="Content Placeholder 2"/>
          <p:cNvSpPr>
            <a:spLocks noGrp="1"/>
          </p:cNvSpPr>
          <p:nvPr>
            <p:ph idx="1"/>
          </p:nvPr>
        </p:nvSpPr>
        <p:spPr/>
        <p:txBody>
          <a:bodyPr/>
          <a:lstStyle/>
          <a:p>
            <a:pPr marL="0" indent="0">
              <a:buNone/>
            </a:pPr>
            <a:endParaRPr lang="en-US" b="1" dirty="0" smtClean="0"/>
          </a:p>
          <a:p>
            <a:pPr marL="0" indent="0">
              <a:buNone/>
            </a:pPr>
            <a:endParaRPr lang="en-US" b="1" dirty="0"/>
          </a:p>
          <a:p>
            <a:pPr marL="0" indent="0">
              <a:buNone/>
            </a:pPr>
            <a:endParaRPr lang="en-US" b="1" dirty="0" smtClean="0"/>
          </a:p>
          <a:p>
            <a:pPr marL="0" indent="0">
              <a:buNone/>
            </a:pPr>
            <a:endParaRPr lang="en-US" b="1" dirty="0"/>
          </a:p>
          <a:p>
            <a:pPr marL="0" indent="0">
              <a:buNone/>
            </a:pPr>
            <a:endParaRPr lang="en-US" b="1" dirty="0" smtClean="0"/>
          </a:p>
          <a:p>
            <a:pPr marL="0" indent="0">
              <a:buNone/>
            </a:pPr>
            <a:endParaRPr lang="en-US" b="1" dirty="0"/>
          </a:p>
          <a:p>
            <a:pPr marL="0" indent="0">
              <a:buNone/>
            </a:pPr>
            <a:r>
              <a:rPr lang="en-US" b="1" dirty="0" smtClean="0"/>
              <a:t>Clinical </a:t>
            </a:r>
            <a:r>
              <a:rPr lang="en-US" b="1" dirty="0"/>
              <a:t>statement:</a:t>
            </a:r>
            <a:r>
              <a:rPr lang="en-US" dirty="0"/>
              <a:t/>
            </a:r>
            <a:br>
              <a:rPr lang="en-US" dirty="0"/>
            </a:br>
            <a:r>
              <a:rPr lang="en-US" dirty="0"/>
              <a:t>*"A 1000 </a:t>
            </a:r>
            <a:r>
              <a:rPr lang="en-US" dirty="0" err="1"/>
              <a:t>lb</a:t>
            </a:r>
            <a:r>
              <a:rPr lang="en-US" dirty="0"/>
              <a:t> increase in weight is associated with a 38% reduction in MPG (IRR = 0.62)."*</a:t>
            </a:r>
          </a:p>
        </p:txBody>
      </p:sp>
      <p:graphicFrame>
        <p:nvGraphicFramePr>
          <p:cNvPr id="7" name="Table 6"/>
          <p:cNvGraphicFramePr>
            <a:graphicFrameLocks noGrp="1"/>
          </p:cNvGraphicFramePr>
          <p:nvPr>
            <p:extLst>
              <p:ext uri="{D42A27DB-BD31-4B8C-83A1-F6EECF244321}">
                <p14:modId xmlns:p14="http://schemas.microsoft.com/office/powerpoint/2010/main" val="3289747590"/>
              </p:ext>
            </p:extLst>
          </p:nvPr>
        </p:nvGraphicFramePr>
        <p:xfrm>
          <a:off x="699052" y="1675537"/>
          <a:ext cx="10515600" cy="2995854"/>
        </p:xfrm>
        <a:graphic>
          <a:graphicData uri="http://schemas.openxmlformats.org/drawingml/2006/table">
            <a:tbl>
              <a:tblPr/>
              <a:tblGrid>
                <a:gridCol w="1805609">
                  <a:extLst>
                    <a:ext uri="{9D8B030D-6E8A-4147-A177-3AD203B41FA5}">
                      <a16:colId xmlns:a16="http://schemas.microsoft.com/office/drawing/2014/main" val="1585224144"/>
                    </a:ext>
                  </a:extLst>
                </a:gridCol>
                <a:gridCol w="1967948">
                  <a:extLst>
                    <a:ext uri="{9D8B030D-6E8A-4147-A177-3AD203B41FA5}">
                      <a16:colId xmlns:a16="http://schemas.microsoft.com/office/drawing/2014/main" val="3930572537"/>
                    </a:ext>
                  </a:extLst>
                </a:gridCol>
                <a:gridCol w="3160643">
                  <a:extLst>
                    <a:ext uri="{9D8B030D-6E8A-4147-A177-3AD203B41FA5}">
                      <a16:colId xmlns:a16="http://schemas.microsoft.com/office/drawing/2014/main" val="711236984"/>
                    </a:ext>
                  </a:extLst>
                </a:gridCol>
                <a:gridCol w="3581400">
                  <a:extLst>
                    <a:ext uri="{9D8B030D-6E8A-4147-A177-3AD203B41FA5}">
                      <a16:colId xmlns:a16="http://schemas.microsoft.com/office/drawing/2014/main" val="2613600234"/>
                    </a:ext>
                  </a:extLst>
                </a:gridCol>
              </a:tblGrid>
              <a:tr h="679060">
                <a:tc>
                  <a:txBody>
                    <a:bodyPr/>
                    <a:lstStyle/>
                    <a:p>
                      <a:pPr algn="l"/>
                      <a:r>
                        <a:rPr lang="en-US" sz="2400" b="1">
                          <a:effectLst/>
                          <a:latin typeface="quote-cjk-patch"/>
                        </a:rPr>
                        <a:t>Parameter</a:t>
                      </a:r>
                    </a:p>
                  </a:txBody>
                  <a:tcPr marR="121920" marT="76200" marB="76200" anchor="ctr">
                    <a:lnL>
                      <a:noFill/>
                    </a:lnL>
                    <a:lnR>
                      <a:noFill/>
                    </a:lnR>
                    <a:lnT>
                      <a:noFill/>
                    </a:lnT>
                    <a:lnB>
                      <a:noFill/>
                    </a:lnB>
                    <a:solidFill>
                      <a:srgbClr val="FFFFFF"/>
                    </a:solidFill>
                  </a:tcPr>
                </a:tc>
                <a:tc>
                  <a:txBody>
                    <a:bodyPr/>
                    <a:lstStyle/>
                    <a:p>
                      <a:pPr algn="l"/>
                      <a:r>
                        <a:rPr lang="en-US" sz="2400" b="1">
                          <a:effectLst/>
                          <a:latin typeface="quote-cjk-patch"/>
                        </a:rPr>
                        <a:t>Estimate</a:t>
                      </a:r>
                    </a:p>
                  </a:txBody>
                  <a:tcPr marL="121920" marR="121920" marT="76200" marB="76200" anchor="ctr">
                    <a:lnL>
                      <a:noFill/>
                    </a:lnL>
                    <a:lnR>
                      <a:noFill/>
                    </a:lnR>
                    <a:lnT>
                      <a:noFill/>
                    </a:lnT>
                    <a:lnB>
                      <a:noFill/>
                    </a:lnB>
                    <a:solidFill>
                      <a:srgbClr val="FFFFFF"/>
                    </a:solidFill>
                  </a:tcPr>
                </a:tc>
                <a:tc>
                  <a:txBody>
                    <a:bodyPr/>
                    <a:lstStyle/>
                    <a:p>
                      <a:pPr algn="l"/>
                      <a:r>
                        <a:rPr lang="en-US" sz="2400" b="1">
                          <a:effectLst/>
                          <a:latin typeface="quote-cjk-patch"/>
                        </a:rPr>
                        <a:t>95% CI</a:t>
                      </a:r>
                    </a:p>
                  </a:txBody>
                  <a:tcPr marL="121920" marR="121920" marT="76200" marB="76200" anchor="ctr">
                    <a:lnL>
                      <a:noFill/>
                    </a:lnL>
                    <a:lnR>
                      <a:noFill/>
                    </a:lnR>
                    <a:lnT>
                      <a:noFill/>
                    </a:lnT>
                    <a:lnB>
                      <a:noFill/>
                    </a:lnB>
                    <a:solidFill>
                      <a:srgbClr val="FFFFFF"/>
                    </a:solidFill>
                  </a:tcPr>
                </a:tc>
                <a:tc>
                  <a:txBody>
                    <a:bodyPr/>
                    <a:lstStyle/>
                    <a:p>
                      <a:pPr algn="l"/>
                      <a:r>
                        <a:rPr lang="en-US" sz="2400" b="1" dirty="0">
                          <a:effectLst/>
                          <a:latin typeface="quote-cjk-patch"/>
                        </a:rPr>
                        <a:t>Meaning</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3297348053"/>
                  </a:ext>
                </a:extLst>
              </a:tr>
              <a:tr h="1158397">
                <a:tc>
                  <a:txBody>
                    <a:bodyPr/>
                    <a:lstStyle/>
                    <a:p>
                      <a:r>
                        <a:rPr lang="en-US" sz="2400" b="1" dirty="0">
                          <a:effectLst/>
                          <a:latin typeface="quote-cjk-patch"/>
                        </a:rPr>
                        <a:t>a</a:t>
                      </a:r>
                    </a:p>
                  </a:txBody>
                  <a:tcPr marR="121920" marT="76200" marB="76200" anchor="ctr">
                    <a:lnL>
                      <a:noFill/>
                    </a:lnL>
                    <a:lnR>
                      <a:noFill/>
                    </a:lnR>
                    <a:lnT>
                      <a:noFill/>
                    </a:lnT>
                    <a:lnB>
                      <a:noFill/>
                    </a:lnB>
                    <a:solidFill>
                      <a:srgbClr val="FFFFFF"/>
                    </a:solidFill>
                  </a:tcPr>
                </a:tc>
                <a:tc>
                  <a:txBody>
                    <a:bodyPr/>
                    <a:lstStyle/>
                    <a:p>
                      <a:r>
                        <a:rPr lang="en-US" sz="2400" b="0">
                          <a:effectLst/>
                          <a:latin typeface="quote-cjk-patch"/>
                        </a:rPr>
                        <a:t>41.2</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(36.6, 45.9)</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Maximum MPG at zero weight</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2962394341"/>
                  </a:ext>
                </a:extLst>
              </a:tr>
              <a:tr h="1158397">
                <a:tc>
                  <a:txBody>
                    <a:bodyPr/>
                    <a:lstStyle/>
                    <a:p>
                      <a:r>
                        <a:rPr lang="en-US" sz="2400" b="1" dirty="0">
                          <a:effectLst/>
                          <a:latin typeface="quote-cjk-patch"/>
                        </a:rPr>
                        <a:t>b</a:t>
                      </a:r>
                    </a:p>
                  </a:txBody>
                  <a:tcPr marR="121920" marT="76200" marB="76200" anchor="ctr">
                    <a:lnL>
                      <a:noFill/>
                    </a:lnL>
                    <a:lnR>
                      <a:noFill/>
                    </a:lnR>
                    <a:lnT>
                      <a:noFill/>
                    </a:lnT>
                    <a:lnB>
                      <a:noFill/>
                    </a:lnB>
                    <a:solidFill>
                      <a:srgbClr val="FFFFFF"/>
                    </a:solidFill>
                  </a:tcPr>
                </a:tc>
                <a:tc>
                  <a:txBody>
                    <a:bodyPr/>
                    <a:lstStyle/>
                    <a:p>
                      <a:r>
                        <a:rPr lang="en-US" sz="2400" b="0">
                          <a:effectLst/>
                          <a:latin typeface="quote-cjk-patch"/>
                        </a:rPr>
                        <a:t>-0.00048</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(-0.00062, -0.00034)</a:t>
                      </a:r>
                    </a:p>
                  </a:txBody>
                  <a:tcPr marL="121920" marR="121920" marT="76200" marB="76200" anchor="ctr">
                    <a:lnL>
                      <a:noFill/>
                    </a:lnL>
                    <a:lnR>
                      <a:noFill/>
                    </a:lnR>
                    <a:lnT>
                      <a:noFill/>
                    </a:lnT>
                    <a:lnB>
                      <a:noFill/>
                    </a:lnB>
                    <a:solidFill>
                      <a:srgbClr val="FFFFFF"/>
                    </a:solidFill>
                  </a:tcPr>
                </a:tc>
                <a:tc>
                  <a:txBody>
                    <a:bodyPr/>
                    <a:lstStyle/>
                    <a:p>
                      <a:r>
                        <a:rPr lang="en-US" sz="2400" b="0" dirty="0">
                          <a:effectLst/>
                          <a:latin typeface="quote-cjk-patch"/>
                        </a:rPr>
                        <a:t>Each </a:t>
                      </a:r>
                      <a:r>
                        <a:rPr lang="en-US" sz="2400" b="0" dirty="0" err="1">
                          <a:effectLst/>
                          <a:latin typeface="quote-cjk-patch"/>
                        </a:rPr>
                        <a:t>lb</a:t>
                      </a:r>
                      <a:r>
                        <a:rPr lang="en-US" sz="2400" b="0" dirty="0">
                          <a:effectLst/>
                          <a:latin typeface="quote-cjk-patch"/>
                        </a:rPr>
                        <a:t> reduces MPG by 0.048%</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1678758566"/>
                  </a:ext>
                </a:extLst>
              </a:tr>
            </a:tbl>
          </a:graphicData>
        </a:graphic>
      </p:graphicFrame>
    </p:spTree>
    <p:extLst>
      <p:ext uri="{BB962C8B-B14F-4D97-AF65-F5344CB8AC3E}">
        <p14:creationId xmlns:p14="http://schemas.microsoft.com/office/powerpoint/2010/main" val="1653663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Predict and Diagnose</a:t>
            </a:r>
          </a:p>
        </p:txBody>
      </p:sp>
      <p:sp>
        <p:nvSpPr>
          <p:cNvPr id="3" name="Content Placeholder 2"/>
          <p:cNvSpPr>
            <a:spLocks noGrp="1"/>
          </p:cNvSpPr>
          <p:nvPr>
            <p:ph sz="half" idx="1"/>
          </p:nvPr>
        </p:nvSpPr>
        <p:spPr>
          <a:xfrm>
            <a:off x="838200" y="1550504"/>
            <a:ext cx="5181600" cy="4626459"/>
          </a:xfrm>
          <a:solidFill>
            <a:srgbClr val="F6F8FA"/>
          </a:solidFill>
          <a:ln w="12700">
            <a:solidFill>
              <a:srgbClr val="D0D7DE"/>
            </a:solidFill>
          </a:ln>
        </p:spPr>
        <p:txBody>
          <a:bodyPr wrap="square" anchor="t" lIns="127000" rIns="127000" tIns="101600" bIns="101600">
            <a:normAutofit lnSpcReduction="10000"/>
          </a:bodyPr>
          <a:lstStyle/>
          <a:p>
            <a:pPr marL="0" indent="0" algn="l">
              <a:lnSpc>
                <a:spcPct val="100000"/>
              </a:lnSpc>
              <a:spcBef>
                <a:spcPts val="0"/>
              </a:spcBef>
              <a:spcAft>
                <a:spcPts val="0"/>
              </a:spcAft>
              <a:buNone/>
            </a:pPr>
            <a:r>
              <a:rPr sz="1700">
                <a:solidFill>
                  <a:srgbClr val="6A737D"/>
                </a:solidFill>
                <a:latin typeface="Consolas"/>
              </a:rPr>
              <a:t>* Predict fitted values and residuals</a:t>
            </a:r>
          </a:p>
          <a:p>
            <a:pPr algn="l">
              <a:lnSpc>
                <a:spcPct val="100000"/>
              </a:lnSpc>
              <a:spcBef>
                <a:spcPts val="0"/>
              </a:spcBef>
              <a:spcAft>
                <a:spcPts val="0"/>
              </a:spcAft>
            </a:pPr>
            <a:r>
              <a:rPr sz="1700">
                <a:solidFill>
                  <a:srgbClr val="1F2328"/>
                </a:solidFill>
                <a:latin typeface="Consolas"/>
              </a:rPr>
              <a:t>predict fitted_exp, yhat</a:t>
            </a:r>
          </a:p>
          <a:p>
            <a:pPr algn="l">
              <a:lnSpc>
                <a:spcPct val="100000"/>
              </a:lnSpc>
              <a:spcBef>
                <a:spcPts val="0"/>
              </a:spcBef>
              <a:spcAft>
                <a:spcPts val="0"/>
              </a:spcAft>
            </a:pPr>
            <a:r>
              <a:rPr sz="1700">
                <a:solidFill>
                  <a:srgbClr val="1F2328"/>
                </a:solidFill>
                <a:latin typeface="Consolas"/>
              </a:rPr>
              <a:t>predict resid_exp, resid</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Diagnostic 1: residuals vs fitted</a:t>
            </a:r>
          </a:p>
          <a:p>
            <a:pPr algn="l">
              <a:lnSpc>
                <a:spcPct val="100000"/>
              </a:lnSpc>
              <a:spcBef>
                <a:spcPts val="0"/>
              </a:spcBef>
              <a:spcAft>
                <a:spcPts val="0"/>
              </a:spcAft>
            </a:pPr>
            <a:r>
              <a:rPr sz="1700">
                <a:solidFill>
                  <a:srgbClr val="1F2328"/>
                </a:solidFill>
                <a:latin typeface="Consolas"/>
              </a:rPr>
              <a:t>rvfplot, yline(0) ///</a:t>
            </a:r>
          </a:p>
          <a:p>
            <a:pPr algn="l">
              <a:lnSpc>
                <a:spcPct val="100000"/>
              </a:lnSpc>
              <a:spcBef>
                <a:spcPts val="0"/>
              </a:spcBef>
              <a:spcAft>
                <a:spcPts val="0"/>
              </a:spcAft>
            </a:pPr>
            <a:r>
              <a:rPr sz="1700">
                <a:solidFill>
                  <a:srgbClr val="1F2328"/>
                </a:solidFill>
                <a:latin typeface="Consolas"/>
              </a:rPr>
              <a:t>    title("Residuals vs Fitted - Exponential Model")</a:t>
            </a:r>
          </a:p>
        </p:txBody>
      </p:sp>
      <p:sp>
        <p:nvSpPr>
          <p:cNvPr id="4" name="Content Placeholder 3"/>
          <p:cNvSpPr>
            <a:spLocks noGrp="1"/>
          </p:cNvSpPr>
          <p:nvPr>
            <p:ph sz="half" idx="2"/>
          </p:nvPr>
        </p:nvSpPr>
        <p:spPr>
          <a:solidFill>
            <a:srgbClr val="F6F8FA"/>
          </a:solidFill>
          <a:ln w="12700">
            <a:solidFill>
              <a:srgbClr val="D0D7DE"/>
            </a:solidFill>
          </a:ln>
        </p:spPr>
        <p:txBody>
          <a:bodyPr wrap="square" anchor="t" lIns="127000" rIns="127000" tIns="101600" bIns="101600">
            <a:normAutofit lnSpcReduction="10000"/>
          </a:bodyPr>
          <a:lstStyle/>
          <a:p>
            <a:pPr marL="0" indent="0" algn="l">
              <a:lnSpc>
                <a:spcPct val="100000"/>
              </a:lnSpc>
              <a:spcBef>
                <a:spcPts val="0"/>
              </a:spcBef>
              <a:spcAft>
                <a:spcPts val="0"/>
              </a:spcAft>
              <a:buNone/>
            </a:pPr>
            <a:r>
              <a:rPr sz="1700">
                <a:solidFill>
                  <a:srgbClr val="6A737D"/>
                </a:solidFill>
                <a:latin typeface="Consolas"/>
              </a:rPr>
              <a:t>* Diagnostic 2: normality of residuals</a:t>
            </a:r>
          </a:p>
          <a:p>
            <a:pPr algn="l">
              <a:lnSpc>
                <a:spcPct val="100000"/>
              </a:lnSpc>
              <a:spcBef>
                <a:spcPts val="0"/>
              </a:spcBef>
              <a:spcAft>
                <a:spcPts val="0"/>
              </a:spcAft>
            </a:pPr>
            <a:r>
              <a:rPr sz="1700">
                <a:solidFill>
                  <a:srgbClr val="1F2328"/>
                </a:solidFill>
                <a:latin typeface="Consolas"/>
              </a:rPr>
              <a:t>qnorm resid_exp, ///</a:t>
            </a:r>
          </a:p>
          <a:p>
            <a:pPr algn="l">
              <a:lnSpc>
                <a:spcPct val="100000"/>
              </a:lnSpc>
              <a:spcBef>
                <a:spcPts val="0"/>
              </a:spcBef>
              <a:spcAft>
                <a:spcPts val="0"/>
              </a:spcAft>
            </a:pPr>
            <a:r>
              <a:rPr sz="1700">
                <a:solidFill>
                  <a:srgbClr val="1F2328"/>
                </a:solidFill>
                <a:latin typeface="Consolas"/>
              </a:rPr>
              <a:t>    title("Q-Q Plot of Residuals")</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Diagnostic 3: histogram</a:t>
            </a:r>
          </a:p>
          <a:p>
            <a:pPr algn="l">
              <a:lnSpc>
                <a:spcPct val="100000"/>
              </a:lnSpc>
              <a:spcBef>
                <a:spcPts val="0"/>
              </a:spcBef>
              <a:spcAft>
                <a:spcPts val="0"/>
              </a:spcAft>
            </a:pPr>
            <a:r>
              <a:rPr sz="1700">
                <a:solidFill>
                  <a:srgbClr val="1F2328"/>
                </a:solidFill>
                <a:latin typeface="Consolas"/>
              </a:rPr>
              <a:t>histogram resid_exp, normal ///</a:t>
            </a:r>
          </a:p>
          <a:p>
            <a:pPr algn="l">
              <a:lnSpc>
                <a:spcPct val="100000"/>
              </a:lnSpc>
              <a:spcBef>
                <a:spcPts val="0"/>
              </a:spcBef>
              <a:spcAft>
                <a:spcPts val="0"/>
              </a:spcAft>
            </a:pPr>
            <a:r>
              <a:rPr sz="1700">
                <a:solidFill>
                  <a:srgbClr val="1F2328"/>
                </a:solidFill>
                <a:latin typeface="Consolas"/>
              </a:rPr>
              <a:t>    title("Distribution of Residuals")</a:t>
            </a:r>
          </a:p>
        </p:txBody>
      </p:sp>
    </p:spTree>
    <p:extLst>
      <p:ext uri="{BB962C8B-B14F-4D97-AF65-F5344CB8AC3E}">
        <p14:creationId xmlns:p14="http://schemas.microsoft.com/office/powerpoint/2010/main" val="195451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5252"/>
            <a:ext cx="10515600" cy="915436"/>
          </a:xfrm>
        </p:spPr>
        <p:txBody>
          <a:bodyPr>
            <a:normAutofit/>
          </a:bodyPr>
          <a:lstStyle/>
          <a:p>
            <a:r>
              <a:rPr lang="en-US" sz="3600" b="1" dirty="0"/>
              <a:t>Calculate Half-Life (Derived Parameter)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6618" y="1690689"/>
                <a:ext cx="10515600" cy="1390442"/>
              </a:xfrm>
            </p:spPr>
            <p:txBody>
              <a:bodyPr/>
              <a:lstStyle/>
              <a:p>
                <a:r>
                  <a:rPr lang="en-US" b="1" dirty="0" smtClean="0"/>
                  <a:t>Half-life formula for exponential decay:</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1/2</m:t>
                        </m:r>
                      </m:sub>
                    </m:sSub>
                    <m:r>
                      <a:rPr lang="en-US"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ln</m:t>
                        </m:r>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oMath>
                </a14:m>
                <a:endParaRPr lang="en-US" b="1"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6618" y="1690689"/>
                <a:ext cx="10515600" cy="1390442"/>
              </a:xfrm>
              <a:blipFill>
                <a:blip r:embed="rId2"/>
                <a:stretch>
                  <a:fillRect l="-1043" t="-7018"/>
                </a:stretch>
              </a:blipFill>
            </p:spPr>
            <p:txBody>
              <a:bodyPr/>
              <a:lstStyle/>
              <a:p>
                <a:r>
                  <a:rPr lang="en-US">
                    <a:noFill/>
                  </a:rPr>
                  <a:t> </a:t>
                </a:r>
              </a:p>
            </p:txBody>
          </p:sp>
        </mc:Fallback>
      </mc:AlternateContent>
      <p:sp>
        <p:nvSpPr>
          <p:cNvPr id="4" name="Rectangle 1"/>
          <p:cNvSpPr>
            <a:spLocks noChangeArrowheads="1"/>
          </p:cNvSpPr>
          <p:nvPr/>
        </p:nvSpPr>
        <p:spPr bwMode="auto">
          <a:xfrm>
            <a:off x="838200" y="3081131"/>
            <a:ext cx="10055086" cy="3046988"/>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6A737D"/>
                </a:solidFill>
                <a:latin typeface="Consolas"/>
              </a:rPr>
              <a:t>* After fitting:</a:t>
            </a:r>
            <a:endParaRPr kumimoji="0" lang="en-US" altLang="en-US" sz="2200" b="0" i="0" u="none" strike="noStrike" cap="none" normalizeH="0" baseline="0" dirty="0" smtClean="0">
              <a:ln>
                <a:noFill/>
              </a:ln>
              <a:solidFill>
                <a:schemeClr val="tx1"/>
              </a:solidFill>
              <a:effectLst/>
            </a:endParaRPr>
          </a:p>
          <a:p>
            <a:pPr algn="l">
              <a:lnSpc>
                <a:spcPct val="100000"/>
              </a:lnSpc>
              <a:spcBef>
                <a:spcPts val="0"/>
              </a:spcBef>
              <a:spcAft>
                <a:spcPts val="0"/>
              </a:spcAft>
            </a:pPr>
            <a:r>
              <a:rPr sz="1800">
                <a:solidFill>
                  <a:srgbClr val="6A737D"/>
                </a:solidFill>
                <a:latin typeface="Consolas"/>
              </a:rPr>
              <a:t>*   nl (mpg = {a}*exp({b}*weight)), initial(a 40 b -0.0005)</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Half-life = weight change that halves MPG</a:t>
            </a:r>
          </a:p>
          <a:p>
            <a:pPr algn="l">
              <a:lnSpc>
                <a:spcPct val="100000"/>
              </a:lnSpc>
              <a:spcBef>
                <a:spcPts val="0"/>
              </a:spcBef>
              <a:spcAft>
                <a:spcPts val="0"/>
              </a:spcAft>
            </a:pPr>
            <a:r>
              <a:rPr sz="1800">
                <a:solidFill>
                  <a:srgbClr val="1F2328"/>
                </a:solidFill>
                <a:latin typeface="Consolas"/>
              </a:rPr>
              <a:t>nlcom (half_life: ln(2) / -_b[/b])</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Output: half_life = 1450 lbs (95% CI: 1100, 1800)</a:t>
            </a:r>
          </a:p>
          <a:p>
            <a:pPr algn="l">
              <a:lnSpc>
                <a:spcPct val="100000"/>
              </a:lnSpc>
              <a:spcBef>
                <a:spcPts val="0"/>
              </a:spcBef>
              <a:spcAft>
                <a:spcPts val="0"/>
              </a:spcAft>
            </a:pPr>
            <a:r>
              <a:rPr sz="1800">
                <a:solidFill>
                  <a:srgbClr val="6A737D"/>
                </a:solidFill>
                <a:latin typeface="Consolas"/>
              </a:rPr>
              <a:t>* Meaning: every +1450 lb halves the MPG</a:t>
            </a:r>
          </a:p>
        </p:txBody>
      </p:sp>
    </p:spTree>
    <p:extLst>
      <p:ext uri="{BB962C8B-B14F-4D97-AF65-F5344CB8AC3E}">
        <p14:creationId xmlns:p14="http://schemas.microsoft.com/office/powerpoint/2010/main" val="4203577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5255"/>
            <a:ext cx="10515600" cy="914400"/>
          </a:xfrm>
        </p:spPr>
        <p:txBody>
          <a:bodyPr>
            <a:normAutofit/>
          </a:bodyPr>
          <a:lstStyle/>
          <a:p>
            <a:r>
              <a:rPr lang="en-US" sz="3600" b="1" dirty="0" smtClean="0"/>
              <a:t>2 </a:t>
            </a:r>
            <a:r>
              <a:rPr lang="en-US" sz="3600" b="1" dirty="0"/>
              <a:t>– US Life Expectancy (Logistic Growth</a:t>
            </a:r>
            <a:r>
              <a:rPr lang="en-US" sz="3600" b="1" dirty="0" smtClean="0"/>
              <a:t>)</a:t>
            </a:r>
            <a:endParaRPr lang="en-US" sz="3600" dirty="0"/>
          </a:p>
        </p:txBody>
      </p:sp>
      <p:sp>
        <p:nvSpPr>
          <p:cNvPr id="4" name="Rectangle 1"/>
          <p:cNvSpPr>
            <a:spLocks noGrp="1" noChangeArrowheads="1"/>
          </p:cNvSpPr>
          <p:nvPr>
            <p:ph idx="1"/>
          </p:nvPr>
        </p:nvSpPr>
        <p:spPr bwMode="auto">
          <a:xfrm>
            <a:off x="838200" y="1449655"/>
            <a:ext cx="9621078" cy="4739759"/>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6A737D"/>
                </a:solidFill>
                <a:latin typeface="Consolas"/>
              </a:rPr>
              <a:t>* Load the data</a:t>
            </a:r>
            <a:endParaRPr kumimoji="0" lang="en-US" altLang="en-US" sz="2200" b="0" i="0" u="none" strike="noStrike" cap="none" normalizeH="0" baseline="0" dirty="0" smtClean="0">
              <a:ln>
                <a:noFill/>
              </a:ln>
              <a:solidFill>
                <a:schemeClr val="tx1"/>
              </a:solidFill>
              <a:effectLst/>
            </a:endParaRPr>
          </a:p>
          <a:p>
            <a:pPr algn="l">
              <a:lnSpc>
                <a:spcPct val="100000"/>
              </a:lnSpc>
              <a:spcBef>
                <a:spcPts val="0"/>
              </a:spcBef>
              <a:spcAft>
                <a:spcPts val="0"/>
              </a:spcAft>
            </a:pPr>
            <a:r>
              <a:rPr sz="1800">
                <a:solidFill>
                  <a:srgbClr val="1F2328"/>
                </a:solidFill>
                <a:latin typeface="Consolas"/>
              </a:rPr>
              <a:t>sysuse uslifeexp, clear</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Explore</a:t>
            </a:r>
          </a:p>
          <a:p>
            <a:pPr algn="l">
              <a:lnSpc>
                <a:spcPct val="100000"/>
              </a:lnSpc>
              <a:spcBef>
                <a:spcPts val="0"/>
              </a:spcBef>
              <a:spcAft>
                <a:spcPts val="0"/>
              </a:spcAft>
            </a:pPr>
            <a:r>
              <a:rPr sz="1800">
                <a:solidFill>
                  <a:srgbClr val="1F2328"/>
                </a:solidFill>
                <a:latin typeface="Consolas"/>
              </a:rPr>
              <a:t>list year le in 1/10</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Variables</a:t>
            </a:r>
          </a:p>
          <a:p>
            <a:pPr algn="l">
              <a:lnSpc>
                <a:spcPct val="100000"/>
              </a:lnSpc>
              <a:spcBef>
                <a:spcPts val="0"/>
              </a:spcBef>
              <a:spcAft>
                <a:spcPts val="0"/>
              </a:spcAft>
            </a:pPr>
            <a:r>
              <a:rPr sz="1800">
                <a:solidFill>
                  <a:srgbClr val="6A737D"/>
                </a:solidFill>
                <a:latin typeface="Consolas"/>
              </a:rPr>
              <a:t>* - year = calendar year       (predictor)</a:t>
            </a:r>
          </a:p>
          <a:p>
            <a:pPr algn="l">
              <a:lnSpc>
                <a:spcPct val="100000"/>
              </a:lnSpc>
              <a:spcBef>
                <a:spcPts val="0"/>
              </a:spcBef>
              <a:spcAft>
                <a:spcPts val="0"/>
              </a:spcAft>
            </a:pPr>
            <a:r>
              <a:rPr sz="1800">
                <a:solidFill>
                  <a:srgbClr val="6A737D"/>
                </a:solidFill>
                <a:latin typeface="Consolas"/>
              </a:rPr>
              <a:t>* - le   = life expectancy, yr (outcome)</a:t>
            </a:r>
          </a:p>
        </p:txBody>
      </p:sp>
    </p:spTree>
    <p:extLst>
      <p:ext uri="{BB962C8B-B14F-4D97-AF65-F5344CB8AC3E}">
        <p14:creationId xmlns:p14="http://schemas.microsoft.com/office/powerpoint/2010/main" val="1918919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Logistic Growth Model</a:t>
            </a:r>
            <a:endParaRPr lang="en-US" sz="3600"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1076601"/>
              </a:xfrm>
            </p:spPr>
            <p:txBody>
              <a:bodyPr/>
              <a:lstStyle/>
              <a:p>
                <a:r>
                  <a:rPr lang="en-US" dirty="0" smtClean="0"/>
                  <a:t>Model : </a:t>
                </a:r>
                <a14:m>
                  <m:oMath xmlns:m="http://schemas.openxmlformats.org/officeDocument/2006/math">
                    <m:r>
                      <a:rPr lang="en-US" b="0" i="1" smtClean="0">
                        <a:latin typeface="Cambria Math" panose="02040503050406030204" pitchFamily="18" charset="0"/>
                      </a:rPr>
                      <m:t>𝐿𝐸</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𝐴𝑠𝑦𝑚</m:t>
                        </m:r>
                      </m:num>
                      <m:den>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𝑅𝑎𝑡𝑒</m:t>
                            </m:r>
                          </m:sup>
                        </m:sSup>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𝑌𝑒𝑎𝑟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𝐼𝑛𝑓𝑙𝑒𝑐𝑡</m:t>
                            </m:r>
                          </m:e>
                        </m:d>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1076601"/>
              </a:xfrm>
              <a:blipFill>
                <a:blip r:embed="rId2"/>
                <a:stretch>
                  <a:fillRect l="-1043" t="-1130"/>
                </a:stretch>
              </a:blipFill>
            </p:spPr>
            <p:txBody>
              <a:bodyPr/>
              <a:lstStyle/>
              <a:p>
                <a:r>
                  <a:rPr lang="en-US">
                    <a:noFill/>
                  </a:rPr>
                  <a:t> </a:t>
                </a:r>
              </a:p>
            </p:txBody>
          </p:sp>
        </mc:Fallback>
      </mc:AlternateContent>
      <p:sp>
        <p:nvSpPr>
          <p:cNvPr id="4" name="TextBox 3"/>
          <p:cNvSpPr txBox="1"/>
          <p:nvPr/>
        </p:nvSpPr>
        <p:spPr>
          <a:xfrm>
            <a:off x="838200" y="3935897"/>
            <a:ext cx="9660834" cy="2092881"/>
          </a:xfrm>
          <a:prstGeom prst="rect">
            <a:avLst/>
          </a:prstGeom>
          <a:noFill/>
        </p:spPr>
        <p:txBody>
          <a:bodyPr wrap="square" rtlCol="0">
            <a:spAutoFit/>
          </a:bodyPr>
          <a:lstStyle/>
          <a:p>
            <a:r>
              <a:rPr lang="en-US" sz="2600" b="1" dirty="0" smtClean="0"/>
              <a:t>Where</a:t>
            </a:r>
            <a:r>
              <a:rPr lang="en-US" sz="2600" b="1" dirty="0"/>
              <a:t>:</a:t>
            </a:r>
            <a:endParaRPr lang="en-US" sz="2600" dirty="0"/>
          </a:p>
          <a:p>
            <a:pPr lvl="0"/>
            <a:r>
              <a:rPr lang="en-US" sz="2600" dirty="0" err="1"/>
              <a:t>Asym</a:t>
            </a:r>
            <a:r>
              <a:rPr lang="en-US" sz="2600" dirty="0"/>
              <a:t> = Upper asymptote (maximum life expectancy)</a:t>
            </a:r>
          </a:p>
          <a:p>
            <a:pPr lvl="0"/>
            <a:r>
              <a:rPr lang="en-US" sz="2600" dirty="0"/>
              <a:t>Rate = Growth rate (negative = increasing function)</a:t>
            </a:r>
          </a:p>
          <a:p>
            <a:pPr lvl="0"/>
            <a:r>
              <a:rPr lang="en-US" sz="2600" dirty="0"/>
              <a:t>Inflect = Year of fastest growth (inflection point)</a:t>
            </a:r>
          </a:p>
          <a:p>
            <a:endParaRPr lang="en-US" sz="2600" dirty="0"/>
          </a:p>
        </p:txBody>
      </p:sp>
    </p:spTree>
    <p:extLst>
      <p:ext uri="{BB962C8B-B14F-4D97-AF65-F5344CB8AC3E}">
        <p14:creationId xmlns:p14="http://schemas.microsoft.com/office/powerpoint/2010/main" val="888514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1 – Plot:</a:t>
            </a:r>
            <a:endParaRPr lang="en-US" dirty="0"/>
          </a:p>
        </p:txBody>
      </p:sp>
      <p:sp>
        <p:nvSpPr>
          <p:cNvPr id="4" name="Rectangle 1"/>
          <p:cNvSpPr>
            <a:spLocks noGrp="1" noChangeArrowheads="1"/>
          </p:cNvSpPr>
          <p:nvPr>
            <p:ph idx="1"/>
          </p:nvPr>
        </p:nvSpPr>
        <p:spPr bwMode="auto">
          <a:xfrm>
            <a:off x="838200" y="1690688"/>
            <a:ext cx="8576856" cy="3162084"/>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1F2328"/>
                </a:solidFill>
                <a:latin typeface="Consolas"/>
              </a:rPr>
              <a:t>twoway scatter le year, ///</a:t>
            </a:r>
          </a:p>
          <a:p>
            <a:pPr algn="l">
              <a:lnSpc>
                <a:spcPct val="100000"/>
              </a:lnSpc>
              <a:spcBef>
                <a:spcPts val="0"/>
              </a:spcBef>
              <a:spcAft>
                <a:spcPts val="0"/>
              </a:spcAft>
            </a:pPr>
            <a:r>
              <a:rPr sz="1800">
                <a:solidFill>
                  <a:srgbClr val="1F2328"/>
                </a:solidFill>
                <a:latin typeface="Consolas"/>
              </a:rPr>
              <a:t>    title("US Life Expectancy Over Time") ///</a:t>
            </a:r>
          </a:p>
          <a:p>
            <a:pPr algn="l">
              <a:lnSpc>
                <a:spcPct val="100000"/>
              </a:lnSpc>
              <a:spcBef>
                <a:spcPts val="0"/>
              </a:spcBef>
              <a:spcAft>
                <a:spcPts val="0"/>
              </a:spcAft>
            </a:pPr>
            <a:r>
              <a:rPr sz="1800">
                <a:solidFill>
                  <a:srgbClr val="1F2328"/>
                </a:solidFill>
                <a:latin typeface="Consolas"/>
              </a:rPr>
              <a:t>    xtitle("Year") ytitle("Life Expectancy (years)")</a:t>
            </a:r>
          </a:p>
        </p:txBody>
      </p:sp>
    </p:spTree>
    <p:extLst>
      <p:ext uri="{BB962C8B-B14F-4D97-AF65-F5344CB8AC3E}">
        <p14:creationId xmlns:p14="http://schemas.microsoft.com/office/powerpoint/2010/main" val="47687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5496"/>
            <a:ext cx="10515600" cy="955192"/>
          </a:xfrm>
        </p:spPr>
        <p:txBody>
          <a:bodyPr>
            <a:normAutofit/>
          </a:bodyPr>
          <a:lstStyle/>
          <a:p>
            <a:r>
              <a:rPr lang="en-US" sz="3600" b="1" dirty="0"/>
              <a:t>Step 2 – Starting values (visual guess):</a:t>
            </a:r>
            <a:endParaRPr lang="en-US" sz="3600" dirty="0"/>
          </a:p>
        </p:txBody>
      </p:sp>
      <p:sp>
        <p:nvSpPr>
          <p:cNvPr id="3" name="Content Placeholder 2"/>
          <p:cNvSpPr>
            <a:spLocks noGrp="1"/>
          </p:cNvSpPr>
          <p:nvPr>
            <p:ph idx="1"/>
          </p:nvPr>
        </p:nvSpPr>
        <p:spPr/>
        <p:txBody>
          <a:bodyPr/>
          <a:lstStyle/>
          <a:p>
            <a:pPr lvl="0"/>
            <a:r>
              <a:rPr lang="en-US" dirty="0"/>
              <a:t>Asymptote ≈ 80 → </a:t>
            </a:r>
            <a:r>
              <a:rPr lang="en-US" dirty="0" err="1"/>
              <a:t>asym</a:t>
            </a:r>
            <a:r>
              <a:rPr lang="en-US" dirty="0"/>
              <a:t> = 80</a:t>
            </a:r>
          </a:p>
          <a:p>
            <a:pPr lvl="0"/>
            <a:r>
              <a:rPr lang="en-US" dirty="0"/>
              <a:t>Rate negative, moderate → rate = -0.1</a:t>
            </a:r>
          </a:p>
          <a:p>
            <a:pPr lvl="0"/>
            <a:r>
              <a:rPr lang="en-US" dirty="0"/>
              <a:t>Inflection point around 1950 → inflect = 1950</a:t>
            </a:r>
          </a:p>
        </p:txBody>
      </p:sp>
    </p:spTree>
    <p:extLst>
      <p:ext uri="{BB962C8B-B14F-4D97-AF65-F5344CB8AC3E}">
        <p14:creationId xmlns:p14="http://schemas.microsoft.com/office/powerpoint/2010/main" val="93216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Fit Logistic Model</a:t>
            </a:r>
            <a:endParaRPr lang="en-US" dirty="0"/>
          </a:p>
        </p:txBody>
      </p:sp>
      <p:sp>
        <p:nvSpPr>
          <p:cNvPr id="6" name="Rectangle 2"/>
          <p:cNvSpPr>
            <a:spLocks noGrp="1" noChangeArrowheads="1"/>
          </p:cNvSpPr>
          <p:nvPr>
            <p:ph idx="1"/>
          </p:nvPr>
        </p:nvSpPr>
        <p:spPr bwMode="auto">
          <a:xfrm>
            <a:off x="838200" y="1690688"/>
            <a:ext cx="10038522" cy="387798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700">
                <a:solidFill>
                  <a:srgbClr val="6A737D"/>
                </a:solidFill>
                <a:latin typeface="Consolas"/>
              </a:rPr>
              <a:t>* Fit logistic growth model</a:t>
            </a:r>
          </a:p>
          <a:p>
            <a:pPr algn="l">
              <a:lnSpc>
                <a:spcPct val="100000"/>
              </a:lnSpc>
              <a:spcBef>
                <a:spcPts val="0"/>
              </a:spcBef>
              <a:spcAft>
                <a:spcPts val="0"/>
              </a:spcAft>
            </a:pPr>
            <a:r>
              <a:rPr sz="1700">
                <a:solidFill>
                  <a:srgbClr val="1F2328"/>
                </a:solidFill>
                <a:latin typeface="Consolas"/>
              </a:rPr>
              <a:t>nl (le = {asym} / (1 + exp({rate} * (year - {inflect})))), ///</a:t>
            </a:r>
          </a:p>
          <a:p>
            <a:pPr algn="l">
              <a:lnSpc>
                <a:spcPct val="100000"/>
              </a:lnSpc>
              <a:spcBef>
                <a:spcPts val="0"/>
              </a:spcBef>
              <a:spcAft>
                <a:spcPts val="0"/>
              </a:spcAft>
            </a:pPr>
            <a:r>
              <a:rPr sz="1700">
                <a:solidFill>
                  <a:srgbClr val="1F2328"/>
                </a:solidFill>
                <a:latin typeface="Consolas"/>
              </a:rPr>
              <a:t>    initial(asym 80 rate -0.1 inflect 1950)</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Store results for later comparison</a:t>
            </a:r>
          </a:p>
          <a:p>
            <a:pPr algn="l">
              <a:lnSpc>
                <a:spcPct val="100000"/>
              </a:lnSpc>
              <a:spcBef>
                <a:spcPts val="0"/>
              </a:spcBef>
              <a:spcAft>
                <a:spcPts val="0"/>
              </a:spcAft>
            </a:pPr>
            <a:r>
              <a:rPr sz="1700">
                <a:solidFill>
                  <a:srgbClr val="1F2328"/>
                </a:solidFill>
                <a:latin typeface="Consolas"/>
              </a:rPr>
              <a:t>estimates store logistic_model</a:t>
            </a:r>
          </a:p>
        </p:txBody>
      </p:sp>
    </p:spTree>
    <p:extLst>
      <p:ext uri="{BB962C8B-B14F-4D97-AF65-F5344CB8AC3E}">
        <p14:creationId xmlns:p14="http://schemas.microsoft.com/office/powerpoint/2010/main" val="566346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59734"/>
            <a:ext cx="10515600" cy="2300702"/>
          </a:xfrm>
        </p:spPr>
        <p:txBody>
          <a:bodyPr>
            <a:normAutofit/>
          </a:bodyPr>
          <a:lstStyle/>
          <a:p>
            <a:pPr marL="0" indent="0">
              <a:buNone/>
            </a:pPr>
            <a:r>
              <a:rPr lang="en-US" b="1" dirty="0" smtClean="0"/>
              <a:t>Clinical </a:t>
            </a:r>
            <a:r>
              <a:rPr lang="en-US" b="1" dirty="0"/>
              <a:t>interpretation:</a:t>
            </a:r>
            <a:endParaRPr lang="en-US" dirty="0"/>
          </a:p>
          <a:p>
            <a:pPr marL="0" indent="0">
              <a:buNone/>
            </a:pPr>
            <a:r>
              <a:rPr lang="en-US" b="1" dirty="0" err="1"/>
              <a:t>Asym</a:t>
            </a:r>
            <a:r>
              <a:rPr lang="en-US" b="1" dirty="0"/>
              <a:t> (79.2 years):</a:t>
            </a:r>
            <a:r>
              <a:rPr lang="en-US" dirty="0"/>
              <a:t> Maximum achievable life expectancy</a:t>
            </a:r>
          </a:p>
          <a:p>
            <a:pPr marL="0" indent="0">
              <a:buNone/>
            </a:pPr>
            <a:r>
              <a:rPr lang="en-US" b="1" dirty="0"/>
              <a:t>Inflect (1958):</a:t>
            </a:r>
            <a:r>
              <a:rPr lang="en-US" dirty="0"/>
              <a:t> Year when growth was fastest</a:t>
            </a:r>
          </a:p>
          <a:p>
            <a:pPr marL="0" indent="0">
              <a:buNone/>
            </a:pPr>
            <a:r>
              <a:rPr lang="en-US" b="1" dirty="0"/>
              <a:t>Rate (-0.095):</a:t>
            </a:r>
            <a:r>
              <a:rPr lang="en-US" dirty="0"/>
              <a:t> Steepness of the growth </a:t>
            </a:r>
            <a:r>
              <a:rPr lang="en-US" dirty="0" smtClean="0"/>
              <a:t>curve</a:t>
            </a:r>
            <a:endParaRPr lang="en-US" dirty="0"/>
          </a:p>
        </p:txBody>
      </p:sp>
      <p:sp>
        <p:nvSpPr>
          <p:cNvPr id="4" name="Rectangle 1"/>
          <p:cNvSpPr>
            <a:spLocks noGrp="1" noChangeArrowheads="1"/>
          </p:cNvSpPr>
          <p:nvPr>
            <p:ph type="title"/>
          </p:nvPr>
        </p:nvSpPr>
        <p:spPr bwMode="auto">
          <a:xfrm>
            <a:off x="838200" y="814072"/>
            <a:ext cx="105156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1" u="none" strike="noStrike" cap="none" normalizeH="0" baseline="0" smtClean="0">
                <a:ln>
                  <a:noFill/>
                </a:ln>
                <a:solidFill>
                  <a:srgbClr val="A0A1A7"/>
                </a:solidFill>
                <a:effectLst/>
                <a:latin typeface="Menlo"/>
              </a:rPr>
              <a:t>Output:</a:t>
            </a:r>
            <a:r>
              <a:rPr kumimoji="0" lang="en-US" altLang="en-US" sz="3600" b="0" i="0" u="none" strike="noStrike" cap="none" normalizeH="0" baseline="0" smtClean="0">
                <a:ln>
                  <a:noFill/>
                </a:ln>
                <a:solidFill>
                  <a:schemeClr val="tx1"/>
                </a:solidFill>
                <a:effectLst/>
              </a:rPr>
              <a:t> </a:t>
            </a: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838200" y="1183404"/>
            <a:ext cx="9978888" cy="2954655"/>
          </a:xfrm>
          <a:prstGeom prst="rect">
            <a:avLst/>
          </a:prstGeom>
          <a:solidFill>
            <a:srgbClr val="FFF7E6"/>
          </a:solidFill>
          <a:ln w="12700">
            <a:solidFill>
              <a:srgbClr val="E6D2A8"/>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400">
                <a:solidFill>
                  <a:srgbClr val="1F2328"/>
                </a:solidFill>
                <a:latin typeface="Consolas"/>
              </a:rPr>
              <a:t>------------------------------------------------------------------</a:t>
            </a:r>
          </a:p>
          <a:p>
            <a:pPr algn="l">
              <a:lnSpc>
                <a:spcPct val="100000"/>
              </a:lnSpc>
              <a:spcBef>
                <a:spcPts val="0"/>
              </a:spcBef>
              <a:spcAft>
                <a:spcPts val="0"/>
              </a:spcAft>
            </a:pPr>
            <a:r>
              <a:rPr sz="1400">
                <a:solidFill>
                  <a:srgbClr val="1F2328"/>
                </a:solidFill>
                <a:latin typeface="Consolas"/>
              </a:rPr>
              <a:t>        le | Coefficient  Std. err.    t    P&gt;|t|  [95% conf. int.]</a:t>
            </a:r>
          </a:p>
          <a:p>
            <a:pPr algn="l">
              <a:lnSpc>
                <a:spcPct val="100000"/>
              </a:lnSpc>
              <a:spcBef>
                <a:spcPts val="0"/>
              </a:spcBef>
              <a:spcAft>
                <a:spcPts val="0"/>
              </a:spcAft>
            </a:pPr>
            <a:r>
              <a:rPr sz="1400">
                <a:solidFill>
                  <a:srgbClr val="1F2328"/>
                </a:solidFill>
                <a:latin typeface="Consolas"/>
              </a:rPr>
              <a:t>-----------+------------------------------------------------------</a:t>
            </a:r>
          </a:p>
          <a:p>
            <a:pPr algn="l">
              <a:lnSpc>
                <a:spcPct val="100000"/>
              </a:lnSpc>
              <a:spcBef>
                <a:spcPts val="0"/>
              </a:spcBef>
              <a:spcAft>
                <a:spcPts val="0"/>
              </a:spcAft>
            </a:pPr>
            <a:r>
              <a:rPr sz="1400">
                <a:solidFill>
                  <a:srgbClr val="1F2328"/>
                </a:solidFill>
                <a:latin typeface="Consolas"/>
              </a:rPr>
              <a:t>     /asym |   79.234      1.234    64.21  0.000   76.745   81.723</a:t>
            </a:r>
          </a:p>
          <a:p>
            <a:pPr algn="l">
              <a:lnSpc>
                <a:spcPct val="100000"/>
              </a:lnSpc>
              <a:spcBef>
                <a:spcPts val="0"/>
              </a:spcBef>
              <a:spcAft>
                <a:spcPts val="0"/>
              </a:spcAft>
            </a:pPr>
            <a:r>
              <a:rPr sz="1400">
                <a:solidFill>
                  <a:srgbClr val="1F2328"/>
                </a:solidFill>
                <a:latin typeface="Consolas"/>
              </a:rPr>
              <a:t>     /rate |   -0.095      0.011    -8.64  0.000   -0.117   -0.073</a:t>
            </a:r>
          </a:p>
          <a:p>
            <a:pPr algn="l">
              <a:lnSpc>
                <a:spcPct val="100000"/>
              </a:lnSpc>
              <a:spcBef>
                <a:spcPts val="0"/>
              </a:spcBef>
              <a:spcAft>
                <a:spcPts val="0"/>
              </a:spcAft>
            </a:pPr>
            <a:r>
              <a:rPr sz="1400">
                <a:solidFill>
                  <a:srgbClr val="1F2328"/>
                </a:solidFill>
                <a:latin typeface="Consolas"/>
              </a:rPr>
              <a:t>  /inflect | 1958.45       2.101   931.78  0.000 1954.222 1962.678</a:t>
            </a:r>
          </a:p>
          <a:p>
            <a:pPr algn="l">
              <a:lnSpc>
                <a:spcPct val="100000"/>
              </a:lnSpc>
              <a:spcBef>
                <a:spcPts val="0"/>
              </a:spcBef>
              <a:spcAft>
                <a:spcPts val="0"/>
              </a:spcAft>
            </a:pPr>
            <a:r>
              <a:rPr sz="1400">
                <a:solidFill>
                  <a:srgbClr val="1F2328"/>
                </a:solidFill>
                <a:latin typeface="Consolas"/>
              </a:rPr>
              <a:t>------------------------------------------------------------------</a:t>
            </a:r>
          </a:p>
        </p:txBody>
      </p:sp>
    </p:spTree>
    <p:extLst>
      <p:ext uri="{BB962C8B-B14F-4D97-AF65-F5344CB8AC3E}">
        <p14:creationId xmlns:p14="http://schemas.microsoft.com/office/powerpoint/2010/main" val="306088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3999"/>
            <a:ext cx="10515600" cy="796166"/>
          </a:xfrm>
        </p:spPr>
        <p:txBody>
          <a:bodyPr>
            <a:normAutofit/>
          </a:bodyPr>
          <a:lstStyle/>
          <a:p>
            <a:r>
              <a:rPr lang="en-US" sz="3600" b="1" dirty="0"/>
              <a:t>Predict and Plot</a:t>
            </a:r>
          </a:p>
        </p:txBody>
      </p:sp>
      <p:sp>
        <p:nvSpPr>
          <p:cNvPr id="4" name="Rectangle 1"/>
          <p:cNvSpPr>
            <a:spLocks noGrp="1" noChangeArrowheads="1"/>
          </p:cNvSpPr>
          <p:nvPr>
            <p:ph idx="1"/>
          </p:nvPr>
        </p:nvSpPr>
        <p:spPr bwMode="auto">
          <a:xfrm>
            <a:off x="959058" y="1520165"/>
            <a:ext cx="10273884" cy="440120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300">
                <a:solidFill>
                  <a:srgbClr val="6A737D"/>
                </a:solidFill>
                <a:latin typeface="Consolas"/>
              </a:rPr>
              <a:t>* Predict fitted values and residuals</a:t>
            </a:r>
            <a:endParaRPr kumimoji="0" lang="en-US" altLang="en-US" sz="2200" b="1"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300">
                <a:solidFill>
                  <a:srgbClr val="1F2328"/>
                </a:solidFill>
                <a:latin typeface="Consolas"/>
              </a:rPr>
              <a:t>predict fitted_log, yhat</a:t>
            </a:r>
          </a:p>
          <a:p>
            <a:pPr algn="l">
              <a:lnSpc>
                <a:spcPct val="100000"/>
              </a:lnSpc>
              <a:spcBef>
                <a:spcPts val="0"/>
              </a:spcBef>
              <a:spcAft>
                <a:spcPts val="0"/>
              </a:spcAft>
            </a:pPr>
            <a:r>
              <a:rPr sz="1300">
                <a:solidFill>
                  <a:srgbClr val="1F2328"/>
                </a:solidFill>
                <a:latin typeface="Consolas"/>
              </a:rPr>
              <a:t>predict resid_log, resid</a:t>
            </a:r>
          </a:p>
          <a:p>
            <a:pPr algn="l">
              <a:lnSpc>
                <a:spcPct val="100000"/>
              </a:lnSpc>
              <a:spcBef>
                <a:spcPts val="0"/>
              </a:spcBef>
              <a:spcAft>
                <a:spcPts val="0"/>
              </a:spcAft>
            </a:pPr>
            <a:r>
              <a:rPr sz="1300">
                <a:solidFill>
                  <a:srgbClr val="1F2328"/>
                </a:solidFill>
                <a:latin typeface="Consolas"/>
              </a:rPr>
              <a:t/>
            </a:r>
          </a:p>
          <a:p>
            <a:pPr algn="l">
              <a:lnSpc>
                <a:spcPct val="100000"/>
              </a:lnSpc>
              <a:spcBef>
                <a:spcPts val="0"/>
              </a:spcBef>
              <a:spcAft>
                <a:spcPts val="0"/>
              </a:spcAft>
            </a:pPr>
            <a:r>
              <a:rPr sz="1300">
                <a:solidFill>
                  <a:srgbClr val="6A737D"/>
                </a:solidFill>
                <a:latin typeface="Consolas"/>
              </a:rPr>
              <a:t>* Actual vs predicted</a:t>
            </a:r>
          </a:p>
          <a:p>
            <a:pPr algn="l">
              <a:lnSpc>
                <a:spcPct val="100000"/>
              </a:lnSpc>
              <a:spcBef>
                <a:spcPts val="0"/>
              </a:spcBef>
              <a:spcAft>
                <a:spcPts val="0"/>
              </a:spcAft>
            </a:pPr>
            <a:r>
              <a:rPr sz="1300">
                <a:solidFill>
                  <a:srgbClr val="1F2328"/>
                </a:solidFill>
                <a:latin typeface="Consolas"/>
              </a:rPr>
              <a:t>twoway (scatter le year) ///</a:t>
            </a:r>
          </a:p>
          <a:p>
            <a:pPr algn="l">
              <a:lnSpc>
                <a:spcPct val="100000"/>
              </a:lnSpc>
              <a:spcBef>
                <a:spcPts val="0"/>
              </a:spcBef>
              <a:spcAft>
                <a:spcPts val="0"/>
              </a:spcAft>
            </a:pPr>
            <a:r>
              <a:rPr sz="1300">
                <a:solidFill>
                  <a:srgbClr val="1F2328"/>
                </a:solidFill>
                <a:latin typeface="Consolas"/>
              </a:rPr>
              <a:t>       (line fitted_log year, lpattern(dash) lcolor(red) lwidth(med)), ///</a:t>
            </a:r>
          </a:p>
          <a:p>
            <a:pPr algn="l">
              <a:lnSpc>
                <a:spcPct val="100000"/>
              </a:lnSpc>
              <a:spcBef>
                <a:spcPts val="0"/>
              </a:spcBef>
              <a:spcAft>
                <a:spcPts val="0"/>
              </a:spcAft>
            </a:pPr>
            <a:r>
              <a:rPr sz="1300">
                <a:solidFill>
                  <a:srgbClr val="1F2328"/>
                </a:solidFill>
                <a:latin typeface="Consolas"/>
              </a:rPr>
              <a:t>    title("Actual vs Predicted Life Expectancy") ///</a:t>
            </a:r>
          </a:p>
          <a:p>
            <a:pPr algn="l">
              <a:lnSpc>
                <a:spcPct val="100000"/>
              </a:lnSpc>
              <a:spcBef>
                <a:spcPts val="0"/>
              </a:spcBef>
              <a:spcAft>
                <a:spcPts val="0"/>
              </a:spcAft>
            </a:pPr>
            <a:r>
              <a:rPr sz="1300">
                <a:solidFill>
                  <a:srgbClr val="1F2328"/>
                </a:solidFill>
                <a:latin typeface="Consolas"/>
              </a:rPr>
              <a:t>    legend(label(1 "Actual") label(2 "Predicted"))</a:t>
            </a:r>
          </a:p>
          <a:p>
            <a:pPr algn="l">
              <a:lnSpc>
                <a:spcPct val="100000"/>
              </a:lnSpc>
              <a:spcBef>
                <a:spcPts val="0"/>
              </a:spcBef>
              <a:spcAft>
                <a:spcPts val="0"/>
              </a:spcAft>
            </a:pPr>
            <a:r>
              <a:rPr sz="1300">
                <a:solidFill>
                  <a:srgbClr val="1F2328"/>
                </a:solidFill>
                <a:latin typeface="Consolas"/>
              </a:rPr>
              <a:t/>
            </a:r>
          </a:p>
          <a:p>
            <a:pPr algn="l">
              <a:lnSpc>
                <a:spcPct val="100000"/>
              </a:lnSpc>
              <a:spcBef>
                <a:spcPts val="0"/>
              </a:spcBef>
              <a:spcAft>
                <a:spcPts val="0"/>
              </a:spcAft>
            </a:pPr>
            <a:r>
              <a:rPr sz="1300">
                <a:solidFill>
                  <a:srgbClr val="6A737D"/>
                </a:solidFill>
                <a:latin typeface="Consolas"/>
              </a:rPr>
              <a:t>* Predict life expectancy for 2020</a:t>
            </a:r>
          </a:p>
          <a:p>
            <a:pPr algn="l">
              <a:lnSpc>
                <a:spcPct val="100000"/>
              </a:lnSpc>
              <a:spcBef>
                <a:spcPts val="0"/>
              </a:spcBef>
              <a:spcAft>
                <a:spcPts val="0"/>
              </a:spcAft>
            </a:pPr>
            <a:r>
              <a:rPr sz="1300">
                <a:solidFill>
                  <a:srgbClr val="1F2328"/>
                </a:solidFill>
                <a:latin typeface="Consolas"/>
              </a:rPr>
              <a:t>local asym = _b[/asym]</a:t>
            </a:r>
          </a:p>
          <a:p>
            <a:pPr algn="l">
              <a:lnSpc>
                <a:spcPct val="100000"/>
              </a:lnSpc>
              <a:spcBef>
                <a:spcPts val="0"/>
              </a:spcBef>
              <a:spcAft>
                <a:spcPts val="0"/>
              </a:spcAft>
            </a:pPr>
            <a:r>
              <a:rPr sz="1300">
                <a:solidFill>
                  <a:srgbClr val="1F2328"/>
                </a:solidFill>
                <a:latin typeface="Consolas"/>
              </a:rPr>
              <a:t>local rate = _b[/rate]</a:t>
            </a:r>
          </a:p>
          <a:p>
            <a:pPr algn="l">
              <a:lnSpc>
                <a:spcPct val="100000"/>
              </a:lnSpc>
              <a:spcBef>
                <a:spcPts val="0"/>
              </a:spcBef>
              <a:spcAft>
                <a:spcPts val="0"/>
              </a:spcAft>
            </a:pPr>
            <a:r>
              <a:rPr sz="1300">
                <a:solidFill>
                  <a:srgbClr val="1F2328"/>
                </a:solidFill>
                <a:latin typeface="Consolas"/>
              </a:rPr>
              <a:t>local inflect = _b[/inflect]</a:t>
            </a:r>
          </a:p>
          <a:p>
            <a:pPr algn="l">
              <a:lnSpc>
                <a:spcPct val="100000"/>
              </a:lnSpc>
              <a:spcBef>
                <a:spcPts val="0"/>
              </a:spcBef>
              <a:spcAft>
                <a:spcPts val="0"/>
              </a:spcAft>
            </a:pPr>
            <a:r>
              <a:rPr sz="1300">
                <a:solidFill>
                  <a:srgbClr val="1F2328"/>
                </a:solidFill>
                <a:latin typeface="Consolas"/>
              </a:rPr>
              <a:t>display "Predicted LE 2020: " `asym'/(1+exp(`rate'*(2020-`inflect')))</a:t>
            </a:r>
          </a:p>
          <a:p>
            <a:pPr algn="l">
              <a:lnSpc>
                <a:spcPct val="100000"/>
              </a:lnSpc>
              <a:spcBef>
                <a:spcPts val="0"/>
              </a:spcBef>
              <a:spcAft>
                <a:spcPts val="0"/>
              </a:spcAft>
            </a:pPr>
            <a:r>
              <a:rPr sz="1300">
                <a:solidFill>
                  <a:srgbClr val="1F2328"/>
                </a:solidFill>
                <a:latin typeface="Consolas"/>
              </a:rPr>
              <a:t/>
            </a:r>
          </a:p>
          <a:p>
            <a:pPr algn="l">
              <a:lnSpc>
                <a:spcPct val="100000"/>
              </a:lnSpc>
              <a:spcBef>
                <a:spcPts val="0"/>
              </a:spcBef>
              <a:spcAft>
                <a:spcPts val="0"/>
              </a:spcAft>
            </a:pPr>
            <a:r>
              <a:rPr sz="1300">
                <a:solidFill>
                  <a:srgbClr val="6A737D"/>
                </a:solidFill>
                <a:latin typeface="Consolas"/>
              </a:rPr>
              <a:t>* Residuals over time</a:t>
            </a:r>
          </a:p>
          <a:p>
            <a:pPr algn="l">
              <a:lnSpc>
                <a:spcPct val="100000"/>
              </a:lnSpc>
              <a:spcBef>
                <a:spcPts val="0"/>
              </a:spcBef>
              <a:spcAft>
                <a:spcPts val="0"/>
              </a:spcAft>
            </a:pPr>
            <a:r>
              <a:rPr sz="1300">
                <a:solidFill>
                  <a:srgbClr val="1F2328"/>
                </a:solidFill>
                <a:latin typeface="Consolas"/>
              </a:rPr>
              <a:t>scatter resid_log year, yline(0) title("Residuals Over Time")</a:t>
            </a:r>
          </a:p>
        </p:txBody>
      </p:sp>
    </p:spTree>
    <p:extLst>
      <p:ext uri="{BB962C8B-B14F-4D97-AF65-F5344CB8AC3E}">
        <p14:creationId xmlns:p14="http://schemas.microsoft.com/office/powerpoint/2010/main" val="2123995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5130"/>
            <a:ext cx="10515600" cy="895558"/>
          </a:xfrm>
        </p:spPr>
        <p:txBody>
          <a:bodyPr>
            <a:normAutofit/>
          </a:bodyPr>
          <a:lstStyle/>
          <a:p>
            <a:r>
              <a:rPr lang="en-US" sz="3600" b="1" dirty="0" smtClean="0"/>
              <a:t>3. Simulated </a:t>
            </a:r>
            <a:r>
              <a:rPr lang="en-US" sz="3600" b="1" dirty="0"/>
              <a:t>Dose-Response (</a:t>
            </a:r>
            <a:r>
              <a:rPr lang="en-US" sz="3600" b="1" dirty="0" err="1"/>
              <a:t>Michaelis-Menten</a:t>
            </a:r>
            <a:r>
              <a:rPr lang="en-US" sz="3600" b="1" dirty="0"/>
              <a:t>)</a:t>
            </a:r>
          </a:p>
        </p:txBody>
      </p:sp>
      <p:sp>
        <p:nvSpPr>
          <p:cNvPr id="4" name="Rectangle 1"/>
          <p:cNvSpPr>
            <a:spLocks noGrp="1" noChangeArrowheads="1"/>
          </p:cNvSpPr>
          <p:nvPr>
            <p:ph idx="1"/>
          </p:nvPr>
        </p:nvSpPr>
        <p:spPr bwMode="auto">
          <a:xfrm>
            <a:off x="838200" y="1690688"/>
            <a:ext cx="10503368" cy="440120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500">
                <a:solidFill>
                  <a:srgbClr val="6A737D"/>
                </a:solidFill>
                <a:latin typeface="Consolas"/>
              </a:rPr>
              <a:t>* Simulate a dose-response study</a:t>
            </a:r>
            <a:endParaRPr kumimoji="0" lang="en-US" altLang="en-US" sz="2200" b="0" i="0" u="none" strike="noStrike" cap="none" normalizeH="0" baseline="0" dirty="0" smtClean="0">
              <a:ln>
                <a:noFill/>
              </a:ln>
              <a:solidFill>
                <a:schemeClr val="tx1"/>
              </a:solidFill>
              <a:effectLst/>
            </a:endParaRPr>
          </a:p>
          <a:p>
            <a:pPr algn="l">
              <a:lnSpc>
                <a:spcPct val="100000"/>
              </a:lnSpc>
              <a:spcBef>
                <a:spcPts val="0"/>
              </a:spcBef>
              <a:spcAft>
                <a:spcPts val="0"/>
              </a:spcAft>
            </a:pPr>
            <a:r>
              <a:rPr sz="1500">
                <a:solidFill>
                  <a:srgbClr val="1F2328"/>
                </a:solidFill>
                <a:latin typeface="Consolas"/>
              </a:rPr>
              <a:t>clear</a:t>
            </a:r>
          </a:p>
          <a:p>
            <a:pPr algn="l">
              <a:lnSpc>
                <a:spcPct val="100000"/>
              </a:lnSpc>
              <a:spcBef>
                <a:spcPts val="0"/>
              </a:spcBef>
              <a:spcAft>
                <a:spcPts val="0"/>
              </a:spcAft>
            </a:pPr>
            <a:r>
              <a:rPr sz="1500">
                <a:solidFill>
                  <a:srgbClr val="1F2328"/>
                </a:solidFill>
                <a:latin typeface="Consolas"/>
              </a:rPr>
              <a:t>set seed 12345</a:t>
            </a:r>
          </a:p>
          <a:p>
            <a:pPr algn="l">
              <a:lnSpc>
                <a:spcPct val="100000"/>
              </a:lnSpc>
              <a:spcBef>
                <a:spcPts val="0"/>
              </a:spcBef>
              <a:spcAft>
                <a:spcPts val="0"/>
              </a:spcAft>
            </a:pPr>
            <a:r>
              <a:rPr sz="1500">
                <a:solidFill>
                  <a:srgbClr val="1F2328"/>
                </a:solidFill>
                <a:latin typeface="Consolas"/>
              </a:rPr>
              <a:t>set obs 40</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Dose levels: 0 to 100 mg/kg</a:t>
            </a:r>
          </a:p>
          <a:p>
            <a:pPr algn="l">
              <a:lnSpc>
                <a:spcPct val="100000"/>
              </a:lnSpc>
              <a:spcBef>
                <a:spcPts val="0"/>
              </a:spcBef>
              <a:spcAft>
                <a:spcPts val="0"/>
              </a:spcAft>
            </a:pPr>
            <a:r>
              <a:rPr sz="1500">
                <a:solidFill>
                  <a:srgbClr val="1F2328"/>
                </a:solidFill>
                <a:latin typeface="Consolas"/>
              </a:rPr>
              <a:t>gen dose = (_n - 1) * (100 / 39)</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True values: Vmax = 90%, Km (EC50) = 25 mg/kg</a:t>
            </a:r>
          </a:p>
          <a:p>
            <a:pPr algn="l">
              <a:lnSpc>
                <a:spcPct val="100000"/>
              </a:lnSpc>
              <a:spcBef>
                <a:spcPts val="0"/>
              </a:spcBef>
              <a:spcAft>
                <a:spcPts val="0"/>
              </a:spcAft>
            </a:pPr>
            <a:r>
              <a:rPr sz="1500">
                <a:solidFill>
                  <a:srgbClr val="6A737D"/>
                </a:solidFill>
                <a:latin typeface="Consolas"/>
              </a:rPr>
              <a:t>* response = (90*dose)/(25+dose) + noise</a:t>
            </a:r>
          </a:p>
          <a:p>
            <a:pPr algn="l">
              <a:lnSpc>
                <a:spcPct val="100000"/>
              </a:lnSpc>
              <a:spcBef>
                <a:spcPts val="0"/>
              </a:spcBef>
              <a:spcAft>
                <a:spcPts val="0"/>
              </a:spcAft>
            </a:pPr>
            <a:r>
              <a:rPr sz="1500">
                <a:solidFill>
                  <a:srgbClr val="1F2328"/>
                </a:solidFill>
                <a:latin typeface="Consolas"/>
              </a:rPr>
              <a:t>gen response = (90 * dose) / (25 + dose) + rnormal(0, 4)</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Plot the data</a:t>
            </a:r>
          </a:p>
          <a:p>
            <a:pPr algn="l">
              <a:lnSpc>
                <a:spcPct val="100000"/>
              </a:lnSpc>
              <a:spcBef>
                <a:spcPts val="0"/>
              </a:spcBef>
              <a:spcAft>
                <a:spcPts val="0"/>
              </a:spcAft>
            </a:pPr>
            <a:r>
              <a:rPr sz="1500">
                <a:solidFill>
                  <a:srgbClr val="1F2328"/>
                </a:solidFill>
                <a:latin typeface="Consolas"/>
              </a:rPr>
              <a:t>twoway scatter response dose, ///</a:t>
            </a:r>
          </a:p>
          <a:p>
            <a:pPr algn="l">
              <a:lnSpc>
                <a:spcPct val="100000"/>
              </a:lnSpc>
              <a:spcBef>
                <a:spcPts val="0"/>
              </a:spcBef>
              <a:spcAft>
                <a:spcPts val="0"/>
              </a:spcAft>
            </a:pPr>
            <a:r>
              <a:rPr sz="1500">
                <a:solidFill>
                  <a:srgbClr val="1F2328"/>
                </a:solidFill>
                <a:latin typeface="Consolas"/>
              </a:rPr>
              <a:t>    title("Dose-Response Curve") ///</a:t>
            </a:r>
          </a:p>
          <a:p>
            <a:pPr algn="l">
              <a:lnSpc>
                <a:spcPct val="100000"/>
              </a:lnSpc>
              <a:spcBef>
                <a:spcPts val="0"/>
              </a:spcBef>
              <a:spcAft>
                <a:spcPts val="0"/>
              </a:spcAft>
            </a:pPr>
            <a:r>
              <a:rPr sz="1500">
                <a:solidFill>
                  <a:srgbClr val="1F2328"/>
                </a:solidFill>
                <a:latin typeface="Consolas"/>
              </a:rPr>
              <a:t>    xtitle("Dose (mg/kg)") ytitle("Response (%)") ///</a:t>
            </a:r>
          </a:p>
          <a:p>
            <a:pPr algn="l">
              <a:lnSpc>
                <a:spcPct val="100000"/>
              </a:lnSpc>
              <a:spcBef>
                <a:spcPts val="0"/>
              </a:spcBef>
              <a:spcAft>
                <a:spcPts val="0"/>
              </a:spcAft>
            </a:pPr>
            <a:r>
              <a:rPr sz="1500">
                <a:solidFill>
                  <a:srgbClr val="1F2328"/>
                </a:solidFill>
                <a:latin typeface="Consolas"/>
              </a:rPr>
              <a:t>    ylabel(0(20)100)</a:t>
            </a:r>
          </a:p>
        </p:txBody>
      </p:sp>
    </p:spTree>
    <p:extLst>
      <p:ext uri="{BB962C8B-B14F-4D97-AF65-F5344CB8AC3E}">
        <p14:creationId xmlns:p14="http://schemas.microsoft.com/office/powerpoint/2010/main" val="2624644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5861"/>
            <a:ext cx="10515600" cy="855801"/>
          </a:xfrm>
        </p:spPr>
        <p:txBody>
          <a:bodyPr>
            <a:normAutofit/>
          </a:bodyPr>
          <a:lstStyle/>
          <a:p>
            <a:r>
              <a:rPr lang="en-US" sz="3600" b="1" dirty="0" err="1"/>
              <a:t>Michaelis-Menten</a:t>
            </a:r>
            <a:r>
              <a:rPr lang="en-US" sz="3600" b="1" dirty="0"/>
              <a:t>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indent="0">
                  <a:buNone/>
                </a:pPr>
                <a:r>
                  <a:rPr lang="en-US" b="1" dirty="0" smtClean="0"/>
                  <a:t>Model : </a:t>
                </a: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𝑹𝒆𝒔𝒑𝒐𝒏𝒔𝒆</m:t>
                      </m:r>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𝑽</m:t>
                              </m:r>
                            </m:e>
                            <m:sub>
                              <m:r>
                                <a:rPr lang="en-US" b="1" i="1" smtClean="0">
                                  <a:latin typeface="Cambria Math" panose="02040503050406030204" pitchFamily="18" charset="0"/>
                                  <a:ea typeface="Cambria Math" panose="02040503050406030204" pitchFamily="18" charset="0"/>
                                </a:rPr>
                                <m:t>𝒎𝒂𝒙</m:t>
                              </m:r>
                            </m:sub>
                          </m:s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𝑫𝒐𝒔𝒆</m:t>
                          </m:r>
                        </m:num>
                        <m:den>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𝑲</m:t>
                              </m:r>
                            </m:e>
                            <m:sub>
                              <m:r>
                                <a:rPr lang="en-US" b="1" i="1" smtClean="0">
                                  <a:latin typeface="Cambria Math" panose="02040503050406030204" pitchFamily="18" charset="0"/>
                                  <a:ea typeface="Cambria Math" panose="02040503050406030204" pitchFamily="18" charset="0"/>
                                </a:rPr>
                                <m:t>𝒎</m:t>
                              </m:r>
                            </m:sub>
                          </m:s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𝑫𝒐𝒔𝒆</m:t>
                          </m:r>
                        </m:den>
                      </m:f>
                    </m:oMath>
                  </m:oMathPara>
                </a14:m>
                <a:endParaRPr lang="en-US" b="1" dirty="0"/>
              </a:p>
              <a:p>
                <a:pPr marL="0" indent="0">
                  <a:buNone/>
                </a:pPr>
                <a:endParaRPr lang="en-US" b="1" dirty="0" smtClean="0"/>
              </a:p>
              <a:p>
                <a:pPr marL="0" indent="0">
                  <a:buNone/>
                </a:pPr>
                <a:r>
                  <a:rPr lang="en-US" b="1" dirty="0" smtClean="0"/>
                  <a:t>Where</a:t>
                </a:r>
                <a:r>
                  <a:rPr lang="en-US" b="1" dirty="0"/>
                  <a:t>:</a:t>
                </a:r>
                <a:endParaRPr lang="en-US" dirty="0"/>
              </a:p>
              <a:p>
                <a:pPr marL="0" lvl="0" indent="0">
                  <a:buNone/>
                </a:pPr>
                <a:r>
                  <a:rPr lang="en-US" dirty="0" err="1"/>
                  <a:t>V</a:t>
                </a:r>
                <a:r>
                  <a:rPr lang="en-US" baseline="-25000" dirty="0" err="1"/>
                  <a:t>max</a:t>
                </a:r>
                <a:r>
                  <a:rPr lang="en-US" baseline="-25000" dirty="0"/>
                  <a:t> </a:t>
                </a:r>
                <a:r>
                  <a:rPr lang="en-US" dirty="0"/>
                  <a:t>= Maximum response (asymptote)</a:t>
                </a:r>
              </a:p>
              <a:p>
                <a:pPr marL="0" lvl="0" indent="0">
                  <a:buNone/>
                </a:pPr>
                <a:r>
                  <a:rPr lang="en-US" dirty="0"/>
                  <a:t>Km = Dose at 50% of </a:t>
                </a:r>
                <a:r>
                  <a:rPr lang="en-US" dirty="0" err="1"/>
                  <a:t>Vmax</a:t>
                </a:r>
                <a:r>
                  <a:rPr lang="en-US" dirty="0"/>
                  <a:t> (EC50</a:t>
                </a:r>
                <a:r>
                  <a:rPr lang="en-US" dirty="0" smtClean="0"/>
                  <a:t>)</a:t>
                </a:r>
              </a:p>
              <a:p>
                <a:pPr marL="0" indent="0">
                  <a:buNone/>
                </a:pPr>
                <a:r>
                  <a:rPr lang="en-US" b="1" dirty="0"/>
                  <a:t>Starting values:</a:t>
                </a:r>
                <a:endParaRPr lang="en-US" dirty="0"/>
              </a:p>
              <a:p>
                <a:pPr marL="0" indent="0">
                  <a:buNone/>
                </a:pPr>
                <a:r>
                  <a:rPr lang="en-US" dirty="0" err="1"/>
                  <a:t>Vmax</a:t>
                </a:r>
                <a:r>
                  <a:rPr lang="en-US" dirty="0"/>
                  <a:t> ≈ 90 (from plot)</a:t>
                </a:r>
              </a:p>
              <a:p>
                <a:pPr marL="0" indent="0">
                  <a:buNone/>
                </a:pPr>
                <a:r>
                  <a:rPr lang="en-US" dirty="0"/>
                  <a:t>Km ≈ 25 (dose at half max response</a:t>
                </a:r>
                <a:r>
                  <a:rPr lang="en-US" dirty="0" smtClean="0"/>
                  <a:t>)</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801" b="-1401"/>
                </a:stretch>
              </a:blipFill>
            </p:spPr>
            <p:txBody>
              <a:bodyPr/>
              <a:lstStyle/>
              <a:p>
                <a:r>
                  <a:rPr lang="en-US">
                    <a:noFill/>
                  </a:rPr>
                  <a:t> </a:t>
                </a:r>
              </a:p>
            </p:txBody>
          </p:sp>
        </mc:Fallback>
      </mc:AlternateContent>
    </p:spTree>
    <p:extLst>
      <p:ext uri="{BB962C8B-B14F-4D97-AF65-F5344CB8AC3E}">
        <p14:creationId xmlns:p14="http://schemas.microsoft.com/office/powerpoint/2010/main" val="2938040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894522" y="1057513"/>
            <a:ext cx="9620083" cy="452431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6A737D"/>
                </a:solidFill>
                <a:latin typeface="Consolas"/>
              </a:rPr>
              <a:t>* Fit Michaelis-Menten</a:t>
            </a:r>
            <a:endParaRPr kumimoji="0" lang="en-US" altLang="en-US" sz="2800" b="1"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800">
                <a:solidFill>
                  <a:srgbClr val="1F2328"/>
                </a:solidFill>
                <a:latin typeface="Consolas"/>
              </a:rPr>
              <a:t>nl (response = {vmax} * dose / ({km} + dose)), ///</a:t>
            </a:r>
          </a:p>
          <a:p>
            <a:pPr algn="l">
              <a:lnSpc>
                <a:spcPct val="100000"/>
              </a:lnSpc>
              <a:spcBef>
                <a:spcPts val="0"/>
              </a:spcBef>
              <a:spcAft>
                <a:spcPts val="0"/>
              </a:spcAft>
            </a:pPr>
            <a:r>
              <a:rPr sz="1800">
                <a:solidFill>
                  <a:srgbClr val="1F2328"/>
                </a:solidFill>
                <a:latin typeface="Consolas"/>
              </a:rPr>
              <a:t>    initial(vmax 90 km 25)</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Same model with robust standard errors</a:t>
            </a:r>
          </a:p>
          <a:p>
            <a:pPr algn="l">
              <a:lnSpc>
                <a:spcPct val="100000"/>
              </a:lnSpc>
              <a:spcBef>
                <a:spcPts val="0"/>
              </a:spcBef>
              <a:spcAft>
                <a:spcPts val="0"/>
              </a:spcAft>
            </a:pPr>
            <a:r>
              <a:rPr sz="1800">
                <a:solidFill>
                  <a:srgbClr val="1F2328"/>
                </a:solidFill>
                <a:latin typeface="Consolas"/>
              </a:rPr>
              <a:t>nl (response = {vmax} * dose / ({km} + dose)), ///</a:t>
            </a:r>
          </a:p>
          <a:p>
            <a:pPr algn="l">
              <a:lnSpc>
                <a:spcPct val="100000"/>
              </a:lnSpc>
              <a:spcBef>
                <a:spcPts val="0"/>
              </a:spcBef>
              <a:spcAft>
                <a:spcPts val="0"/>
              </a:spcAft>
            </a:pPr>
            <a:r>
              <a:rPr sz="1800">
                <a:solidFill>
                  <a:srgbClr val="1F2328"/>
                </a:solidFill>
                <a:latin typeface="Consolas"/>
              </a:rPr>
              <a:t>    initial(vmax 90 km 25) vce(robust)</a:t>
            </a:r>
          </a:p>
        </p:txBody>
      </p:sp>
    </p:spTree>
    <p:extLst>
      <p:ext uri="{BB962C8B-B14F-4D97-AF65-F5344CB8AC3E}">
        <p14:creationId xmlns:p14="http://schemas.microsoft.com/office/powerpoint/2010/main" val="3708794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Output Interpretation</a:t>
            </a:r>
          </a:p>
        </p:txBody>
      </p:sp>
      <p:sp>
        <p:nvSpPr>
          <p:cNvPr id="3" name="Content Placeholder 2"/>
          <p:cNvSpPr>
            <a:spLocks noGrp="1"/>
          </p:cNvSpPr>
          <p:nvPr>
            <p:ph idx="1"/>
          </p:nvPr>
        </p:nvSpPr>
        <p:spPr>
          <a:solidFill>
            <a:srgbClr val="FFF7E6"/>
          </a:solidFill>
          <a:ln w="12700">
            <a:solidFill>
              <a:srgbClr val="E6D2A8"/>
            </a:solidFill>
          </a:ln>
        </p:spPr>
        <p:txBody>
          <a:bodyPr wrap="square" anchor="t" lIns="127000" rIns="127000" tIns="101600" bIns="101600"/>
          <a:lstStyle/>
          <a:p>
            <a:pPr marL="0" indent="0" algn="l">
              <a:lnSpc>
                <a:spcPct val="100000"/>
              </a:lnSpc>
              <a:spcBef>
                <a:spcPts val="0"/>
              </a:spcBef>
              <a:spcAft>
                <a:spcPts val="0"/>
              </a:spcAft>
              <a:buNone/>
            </a:pPr>
            <a:r>
              <a:rPr sz="1500">
                <a:solidFill>
                  <a:srgbClr val="1F2328"/>
                </a:solidFill>
                <a:latin typeface="Consolas"/>
              </a:rPr>
              <a:t>------------------------------------------------------------------</a:t>
            </a:r>
            <a:endParaRPr lang="en-US" dirty="0"/>
          </a:p>
          <a:p>
            <a:pPr algn="l">
              <a:lnSpc>
                <a:spcPct val="100000"/>
              </a:lnSpc>
              <a:spcBef>
                <a:spcPts val="0"/>
              </a:spcBef>
              <a:spcAft>
                <a:spcPts val="0"/>
              </a:spcAft>
            </a:pPr>
            <a:r>
              <a:rPr sz="1500">
                <a:solidFill>
                  <a:srgbClr val="1F2328"/>
                </a:solidFill>
                <a:latin typeface="Consolas"/>
              </a:rPr>
              <a:t>  response | Coefficient  Std. err.    t    P&gt;|t|  [95% conf. int.]</a:t>
            </a:r>
          </a:p>
          <a:p>
            <a:pPr algn="l">
              <a:lnSpc>
                <a:spcPct val="100000"/>
              </a:lnSpc>
              <a:spcBef>
                <a:spcPts val="0"/>
              </a:spcBef>
              <a:spcAft>
                <a:spcPts val="0"/>
              </a:spcAft>
            </a:pPr>
            <a:r>
              <a:rPr sz="1500">
                <a:solidFill>
                  <a:srgbClr val="1F2328"/>
                </a:solidFill>
                <a:latin typeface="Consolas"/>
              </a:rPr>
              <a:t>-----------+------------------------------------------------------</a:t>
            </a:r>
          </a:p>
          <a:p>
            <a:pPr algn="l">
              <a:lnSpc>
                <a:spcPct val="100000"/>
              </a:lnSpc>
              <a:spcBef>
                <a:spcPts val="0"/>
              </a:spcBef>
              <a:spcAft>
                <a:spcPts val="0"/>
              </a:spcAft>
            </a:pPr>
            <a:r>
              <a:rPr sz="1500">
                <a:solidFill>
                  <a:srgbClr val="1F2328"/>
                </a:solidFill>
                <a:latin typeface="Consolas"/>
              </a:rPr>
              <a:t>     /vmax |   89.456      2.345    38.15  0.000   84.712   94.200</a:t>
            </a:r>
          </a:p>
          <a:p>
            <a:pPr algn="l">
              <a:lnSpc>
                <a:spcPct val="100000"/>
              </a:lnSpc>
              <a:spcBef>
                <a:spcPts val="0"/>
              </a:spcBef>
              <a:spcAft>
                <a:spcPts val="0"/>
              </a:spcAft>
            </a:pPr>
            <a:r>
              <a:rPr sz="1500">
                <a:solidFill>
                  <a:srgbClr val="1F2328"/>
                </a:solidFill>
                <a:latin typeface="Consolas"/>
              </a:rPr>
              <a:t>       /km |   24.876      2.123    11.72  0.000   20.578   29.174</a:t>
            </a:r>
          </a:p>
          <a:p>
            <a:pPr algn="l">
              <a:lnSpc>
                <a:spcPct val="100000"/>
              </a:lnSpc>
              <a:spcBef>
                <a:spcPts val="0"/>
              </a:spcBef>
              <a:spcAft>
                <a:spcPts val="0"/>
              </a:spcAft>
            </a:pPr>
            <a:r>
              <a:rPr sz="1500">
                <a:solidFill>
                  <a:srgbClr val="1F2328"/>
                </a:solidFill>
                <a:latin typeface="Consolas"/>
              </a:rPr>
              <a:t>------------------------------------------------------------------</a:t>
            </a:r>
          </a:p>
        </p:txBody>
      </p:sp>
    </p:spTree>
    <p:extLst>
      <p:ext uri="{BB962C8B-B14F-4D97-AF65-F5344CB8AC3E}">
        <p14:creationId xmlns:p14="http://schemas.microsoft.com/office/powerpoint/2010/main" val="4248448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translation: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7135873"/>
              </p:ext>
            </p:extLst>
          </p:nvPr>
        </p:nvGraphicFramePr>
        <p:xfrm>
          <a:off x="520148" y="1690688"/>
          <a:ext cx="10515600" cy="2702409"/>
        </p:xfrm>
        <a:graphic>
          <a:graphicData uri="http://schemas.openxmlformats.org/drawingml/2006/table">
            <a:tbl>
              <a:tblPr/>
              <a:tblGrid>
                <a:gridCol w="1765852">
                  <a:extLst>
                    <a:ext uri="{9D8B030D-6E8A-4147-A177-3AD203B41FA5}">
                      <a16:colId xmlns:a16="http://schemas.microsoft.com/office/drawing/2014/main" val="370076683"/>
                    </a:ext>
                  </a:extLst>
                </a:gridCol>
                <a:gridCol w="2107096">
                  <a:extLst>
                    <a:ext uri="{9D8B030D-6E8A-4147-A177-3AD203B41FA5}">
                      <a16:colId xmlns:a16="http://schemas.microsoft.com/office/drawing/2014/main" val="1449607051"/>
                    </a:ext>
                  </a:extLst>
                </a:gridCol>
                <a:gridCol w="2365513">
                  <a:extLst>
                    <a:ext uri="{9D8B030D-6E8A-4147-A177-3AD203B41FA5}">
                      <a16:colId xmlns:a16="http://schemas.microsoft.com/office/drawing/2014/main" val="490513835"/>
                    </a:ext>
                  </a:extLst>
                </a:gridCol>
                <a:gridCol w="4277139">
                  <a:extLst>
                    <a:ext uri="{9D8B030D-6E8A-4147-A177-3AD203B41FA5}">
                      <a16:colId xmlns:a16="http://schemas.microsoft.com/office/drawing/2014/main" val="3392180689"/>
                    </a:ext>
                  </a:extLst>
                </a:gridCol>
              </a:tblGrid>
              <a:tr h="900803">
                <a:tc>
                  <a:txBody>
                    <a:bodyPr/>
                    <a:lstStyle/>
                    <a:p>
                      <a:pPr algn="l"/>
                      <a:r>
                        <a:rPr lang="en-US" sz="2400" b="1" dirty="0" smtClean="0">
                          <a:effectLst/>
                          <a:latin typeface="quote-cjk-patch"/>
                        </a:rPr>
                        <a:t>Parameter</a:t>
                      </a:r>
                      <a:endParaRPr lang="en-US" sz="2400" b="1" dirty="0">
                        <a:effectLst/>
                        <a:latin typeface="quote-cjk-patch"/>
                      </a:endParaRPr>
                    </a:p>
                  </a:txBody>
                  <a:tcPr marR="121920" marT="76200" marB="76200" anchor="ctr">
                    <a:lnL>
                      <a:noFill/>
                    </a:lnL>
                    <a:lnR>
                      <a:noFill/>
                    </a:lnR>
                    <a:lnT>
                      <a:noFill/>
                    </a:lnT>
                    <a:lnB>
                      <a:noFill/>
                    </a:lnB>
                    <a:solidFill>
                      <a:srgbClr val="FFFFFF"/>
                    </a:solidFill>
                  </a:tcPr>
                </a:tc>
                <a:tc>
                  <a:txBody>
                    <a:bodyPr/>
                    <a:lstStyle/>
                    <a:p>
                      <a:pPr algn="l"/>
                      <a:r>
                        <a:rPr lang="en-US" sz="2400" b="1">
                          <a:effectLst/>
                          <a:latin typeface="quote-cjk-patch"/>
                        </a:rPr>
                        <a:t>Estimate</a:t>
                      </a:r>
                    </a:p>
                  </a:txBody>
                  <a:tcPr marL="121920" marR="121920" marT="76200" marB="76200" anchor="ctr">
                    <a:lnL>
                      <a:noFill/>
                    </a:lnL>
                    <a:lnR>
                      <a:noFill/>
                    </a:lnR>
                    <a:lnT>
                      <a:noFill/>
                    </a:lnT>
                    <a:lnB>
                      <a:noFill/>
                    </a:lnB>
                    <a:solidFill>
                      <a:srgbClr val="FFFFFF"/>
                    </a:solidFill>
                  </a:tcPr>
                </a:tc>
                <a:tc>
                  <a:txBody>
                    <a:bodyPr/>
                    <a:lstStyle/>
                    <a:p>
                      <a:pPr algn="l"/>
                      <a:r>
                        <a:rPr lang="en-US" sz="2400" b="1">
                          <a:effectLst/>
                          <a:latin typeface="quote-cjk-patch"/>
                        </a:rPr>
                        <a:t>95% CI</a:t>
                      </a:r>
                    </a:p>
                  </a:txBody>
                  <a:tcPr marL="121920" marR="121920" marT="76200" marB="76200" anchor="ctr">
                    <a:lnL>
                      <a:noFill/>
                    </a:lnL>
                    <a:lnR>
                      <a:noFill/>
                    </a:lnR>
                    <a:lnT>
                      <a:noFill/>
                    </a:lnT>
                    <a:lnB>
                      <a:noFill/>
                    </a:lnB>
                    <a:solidFill>
                      <a:srgbClr val="FFFFFF"/>
                    </a:solidFill>
                  </a:tcPr>
                </a:tc>
                <a:tc>
                  <a:txBody>
                    <a:bodyPr/>
                    <a:lstStyle/>
                    <a:p>
                      <a:pPr algn="l"/>
                      <a:r>
                        <a:rPr lang="en-US" sz="2400" b="1" dirty="0">
                          <a:effectLst/>
                          <a:latin typeface="quote-cjk-patch"/>
                        </a:rPr>
                        <a:t>Clinical Meaning</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809295245"/>
                  </a:ext>
                </a:extLst>
              </a:tr>
              <a:tr h="900803">
                <a:tc>
                  <a:txBody>
                    <a:bodyPr/>
                    <a:lstStyle/>
                    <a:p>
                      <a:r>
                        <a:rPr lang="en-US" sz="2400" b="1">
                          <a:effectLst/>
                          <a:latin typeface="quote-cjk-patch"/>
                        </a:rPr>
                        <a:t>Vmax</a:t>
                      </a:r>
                    </a:p>
                  </a:txBody>
                  <a:tcPr marR="121920" marT="76200" marB="76200" anchor="ctr">
                    <a:lnL>
                      <a:noFill/>
                    </a:lnL>
                    <a:lnR>
                      <a:noFill/>
                    </a:lnR>
                    <a:lnT>
                      <a:noFill/>
                    </a:lnT>
                    <a:lnB>
                      <a:noFill/>
                    </a:lnB>
                    <a:solidFill>
                      <a:srgbClr val="FFFFFF"/>
                    </a:solidFill>
                  </a:tcPr>
                </a:tc>
                <a:tc>
                  <a:txBody>
                    <a:bodyPr/>
                    <a:lstStyle/>
                    <a:p>
                      <a:r>
                        <a:rPr lang="en-US" sz="2400" b="0">
                          <a:effectLst/>
                          <a:latin typeface="quote-cjk-patch"/>
                        </a:rPr>
                        <a:t>89.5%</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(84.7, 94.2)</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Maximum achievable response</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2830913092"/>
                  </a:ext>
                </a:extLst>
              </a:tr>
              <a:tr h="900803">
                <a:tc>
                  <a:txBody>
                    <a:bodyPr/>
                    <a:lstStyle/>
                    <a:p>
                      <a:r>
                        <a:rPr lang="en-US" sz="2400" b="1" dirty="0">
                          <a:effectLst/>
                          <a:latin typeface="quote-cjk-patch"/>
                        </a:rPr>
                        <a:t>Km (EC50)</a:t>
                      </a:r>
                    </a:p>
                  </a:txBody>
                  <a:tcPr marR="121920" marT="76200" marB="76200" anchor="ctr">
                    <a:lnL>
                      <a:noFill/>
                    </a:lnL>
                    <a:lnR>
                      <a:noFill/>
                    </a:lnR>
                    <a:lnT>
                      <a:noFill/>
                    </a:lnT>
                    <a:lnB>
                      <a:noFill/>
                    </a:lnB>
                    <a:solidFill>
                      <a:srgbClr val="FFFFFF"/>
                    </a:solidFill>
                  </a:tcPr>
                </a:tc>
                <a:tc>
                  <a:txBody>
                    <a:bodyPr/>
                    <a:lstStyle/>
                    <a:p>
                      <a:r>
                        <a:rPr lang="en-US" sz="2400" b="0">
                          <a:effectLst/>
                          <a:latin typeface="quote-cjk-patch"/>
                        </a:rPr>
                        <a:t>24.9 mg/kg</a:t>
                      </a:r>
                    </a:p>
                  </a:txBody>
                  <a:tcPr marL="121920" marR="121920" marT="76200" marB="76200" anchor="ctr">
                    <a:lnL>
                      <a:noFill/>
                    </a:lnL>
                    <a:lnR>
                      <a:noFill/>
                    </a:lnR>
                    <a:lnT>
                      <a:noFill/>
                    </a:lnT>
                    <a:lnB>
                      <a:noFill/>
                    </a:lnB>
                    <a:solidFill>
                      <a:srgbClr val="FFFFFF"/>
                    </a:solidFill>
                  </a:tcPr>
                </a:tc>
                <a:tc>
                  <a:txBody>
                    <a:bodyPr/>
                    <a:lstStyle/>
                    <a:p>
                      <a:r>
                        <a:rPr lang="en-US" sz="2400" b="0">
                          <a:effectLst/>
                          <a:latin typeface="quote-cjk-patch"/>
                        </a:rPr>
                        <a:t>(20.6, 29.2)</a:t>
                      </a:r>
                    </a:p>
                  </a:txBody>
                  <a:tcPr marL="121920" marR="121920" marT="76200" marB="76200" anchor="ctr">
                    <a:lnL>
                      <a:noFill/>
                    </a:lnL>
                    <a:lnR>
                      <a:noFill/>
                    </a:lnR>
                    <a:lnT>
                      <a:noFill/>
                    </a:lnT>
                    <a:lnB>
                      <a:noFill/>
                    </a:lnB>
                    <a:solidFill>
                      <a:srgbClr val="FFFFFF"/>
                    </a:solidFill>
                  </a:tcPr>
                </a:tc>
                <a:tc>
                  <a:txBody>
                    <a:bodyPr/>
                    <a:lstStyle/>
                    <a:p>
                      <a:r>
                        <a:rPr lang="en-US" sz="2400" b="0" dirty="0">
                          <a:effectLst/>
                          <a:latin typeface="quote-cjk-patch"/>
                        </a:rPr>
                        <a:t>Dose for 50% of max effect</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779953872"/>
                  </a:ext>
                </a:extLst>
              </a:tr>
            </a:tbl>
          </a:graphicData>
        </a:graphic>
      </p:graphicFrame>
      <p:sp>
        <p:nvSpPr>
          <p:cNvPr id="5" name="TextBox 4"/>
          <p:cNvSpPr txBox="1"/>
          <p:nvPr/>
        </p:nvSpPr>
        <p:spPr>
          <a:xfrm>
            <a:off x="520148" y="4701050"/>
            <a:ext cx="9922566" cy="1200329"/>
          </a:xfrm>
          <a:prstGeom prst="rect">
            <a:avLst/>
          </a:prstGeom>
          <a:noFill/>
        </p:spPr>
        <p:txBody>
          <a:bodyPr wrap="square" rtlCol="0">
            <a:spAutoFit/>
          </a:bodyPr>
          <a:lstStyle/>
          <a:p>
            <a:r>
              <a:rPr lang="en-US" sz="2400" b="1" dirty="0"/>
              <a:t>Clinical statement:</a:t>
            </a:r>
            <a:r>
              <a:rPr lang="en-US" sz="2400" dirty="0"/>
              <a:t/>
            </a:r>
            <a:br>
              <a:rPr lang="en-US" sz="2400" dirty="0"/>
            </a:br>
            <a:r>
              <a:rPr lang="en-US" sz="2400" dirty="0"/>
              <a:t>*"The estimated EC50 is 24.9 mg/kg (95% CI: 20.6-29.2), meaning half the maximum response is achieved at this dose."*</a:t>
            </a:r>
          </a:p>
        </p:txBody>
      </p:sp>
    </p:spTree>
    <p:extLst>
      <p:ext uri="{BB962C8B-B14F-4D97-AF65-F5344CB8AC3E}">
        <p14:creationId xmlns:p14="http://schemas.microsoft.com/office/powerpoint/2010/main" val="345330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 Diagnostics</a:t>
            </a:r>
          </a:p>
        </p:txBody>
      </p:sp>
      <p:sp>
        <p:nvSpPr>
          <p:cNvPr id="4" name="Rectangle 1"/>
          <p:cNvSpPr>
            <a:spLocks noGrp="1" noChangeArrowheads="1"/>
          </p:cNvSpPr>
          <p:nvPr>
            <p:ph idx="1"/>
          </p:nvPr>
        </p:nvSpPr>
        <p:spPr bwMode="auto">
          <a:xfrm>
            <a:off x="838200" y="1400270"/>
            <a:ext cx="9760156" cy="4062651"/>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700">
                <a:solidFill>
                  <a:srgbClr val="6A737D"/>
                </a:solidFill>
                <a:latin typeface="Consolas"/>
              </a:rPr>
              <a:t>* Predict fitted values and residuals</a:t>
            </a:r>
          </a:p>
          <a:p>
            <a:pPr algn="l">
              <a:lnSpc>
                <a:spcPct val="100000"/>
              </a:lnSpc>
              <a:spcBef>
                <a:spcPts val="0"/>
              </a:spcBef>
              <a:spcAft>
                <a:spcPts val="0"/>
              </a:spcAft>
            </a:pPr>
            <a:r>
              <a:rPr sz="1700">
                <a:solidFill>
                  <a:srgbClr val="1F2328"/>
                </a:solidFill>
                <a:latin typeface="Consolas"/>
              </a:rPr>
              <a:t>predict fitted_mm, yhat</a:t>
            </a:r>
          </a:p>
          <a:p>
            <a:pPr algn="l">
              <a:lnSpc>
                <a:spcPct val="100000"/>
              </a:lnSpc>
              <a:spcBef>
                <a:spcPts val="0"/>
              </a:spcBef>
              <a:spcAft>
                <a:spcPts val="0"/>
              </a:spcAft>
            </a:pPr>
            <a:r>
              <a:rPr sz="1700">
                <a:solidFill>
                  <a:srgbClr val="1F2328"/>
                </a:solidFill>
                <a:latin typeface="Consolas"/>
              </a:rPr>
              <a:t>predict resid_mm, resid</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Plot fitted curve over the data</a:t>
            </a:r>
          </a:p>
          <a:p>
            <a:pPr algn="l">
              <a:lnSpc>
                <a:spcPct val="100000"/>
              </a:lnSpc>
              <a:spcBef>
                <a:spcPts val="0"/>
              </a:spcBef>
              <a:spcAft>
                <a:spcPts val="0"/>
              </a:spcAft>
            </a:pPr>
            <a:r>
              <a:rPr sz="1700">
                <a:solidFill>
                  <a:srgbClr val="1F2328"/>
                </a:solidFill>
                <a:latin typeface="Consolas"/>
              </a:rPr>
              <a:t>twoway (scatter response dose) ///</a:t>
            </a:r>
          </a:p>
          <a:p>
            <a:pPr algn="l">
              <a:lnSpc>
                <a:spcPct val="100000"/>
              </a:lnSpc>
              <a:spcBef>
                <a:spcPts val="0"/>
              </a:spcBef>
              <a:spcAft>
                <a:spcPts val="0"/>
              </a:spcAft>
            </a:pPr>
            <a:r>
              <a:rPr sz="1700">
                <a:solidFill>
                  <a:srgbClr val="1F2328"/>
                </a:solidFill>
                <a:latin typeface="Consolas"/>
              </a:rPr>
              <a:t>       (line fitted_mm dose, lcolor(red) lwidth(med)), ///</a:t>
            </a:r>
          </a:p>
          <a:p>
            <a:pPr algn="l">
              <a:lnSpc>
                <a:spcPct val="100000"/>
              </a:lnSpc>
              <a:spcBef>
                <a:spcPts val="0"/>
              </a:spcBef>
              <a:spcAft>
                <a:spcPts val="0"/>
              </a:spcAft>
            </a:pPr>
            <a:r>
              <a:rPr sz="1700">
                <a:solidFill>
                  <a:srgbClr val="1F2328"/>
                </a:solidFill>
                <a:latin typeface="Consolas"/>
              </a:rPr>
              <a:t>    title("Michaelis-Menten Fit") ///</a:t>
            </a:r>
          </a:p>
          <a:p>
            <a:pPr algn="l">
              <a:lnSpc>
                <a:spcPct val="100000"/>
              </a:lnSpc>
              <a:spcBef>
                <a:spcPts val="0"/>
              </a:spcBef>
              <a:spcAft>
                <a:spcPts val="0"/>
              </a:spcAft>
            </a:pPr>
            <a:r>
              <a:rPr sz="1700">
                <a:solidFill>
                  <a:srgbClr val="1F2328"/>
                </a:solidFill>
                <a:latin typeface="Consolas"/>
              </a:rPr>
              <a:t>    xtitle("Dose (mg/kg)") ytitle("Response (%)")</a:t>
            </a:r>
          </a:p>
        </p:txBody>
      </p:sp>
    </p:spTree>
    <p:extLst>
      <p:ext uri="{BB962C8B-B14F-4D97-AF65-F5344CB8AC3E}">
        <p14:creationId xmlns:p14="http://schemas.microsoft.com/office/powerpoint/2010/main" val="215051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795131" y="996737"/>
            <a:ext cx="10065026" cy="3600986"/>
          </a:xfrm>
          <a:prstGeom prst="rect">
            <a:avLst/>
          </a:prstGeom>
          <a:solidFill>
            <a:srgbClr val="F6F8FA"/>
          </a:solidFill>
          <a:ln w="12700">
            <a:solidFill>
              <a:srgbClr val="D0D7DE"/>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457200" marR="0" lvl="0" indent="-457200" algn="l" defTabSz="914400" rtl="0" eaLnBrk="0" fontAlgn="base" latinLnBrk="0" hangingPunct="0">
              <a:lnSpc>
                <a:spcPct val="100000"/>
              </a:lnSpc>
              <a:spcBef>
                <a:spcPts val="0"/>
              </a:spcBef>
              <a:spcAft>
                <a:spcPts val="0"/>
              </a:spcAft>
              <a:buClrTx/>
              <a:buSzTx/>
              <a:buFont typeface="Arial" panose="020B0604020202020204" pitchFamily="34" charset="0"/>
              <a:buChar char="•"/>
              <a:tabLst/>
            </a:pPr>
            <a:r>
              <a:rPr sz="1800">
                <a:solidFill>
                  <a:srgbClr val="6A737D"/>
                </a:solidFill>
                <a:latin typeface="Consolas"/>
              </a:rPr>
              <a:t>* Residual diagnostics</a:t>
            </a:r>
          </a:p>
          <a:p>
            <a:pPr algn="l">
              <a:lnSpc>
                <a:spcPct val="100000"/>
              </a:lnSpc>
              <a:spcBef>
                <a:spcPts val="0"/>
              </a:spcBef>
              <a:spcAft>
                <a:spcPts val="0"/>
              </a:spcAft>
            </a:pPr>
            <a:r>
              <a:rPr sz="1800">
                <a:solidFill>
                  <a:srgbClr val="1F2328"/>
                </a:solidFill>
                <a:latin typeface="Consolas"/>
              </a:rPr>
              <a:t>rvfplot, yline(0) title("Residuals vs Fitted")</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Cook's distance - find influential points</a:t>
            </a:r>
          </a:p>
          <a:p>
            <a:pPr algn="l">
              <a:lnSpc>
                <a:spcPct val="100000"/>
              </a:lnSpc>
              <a:spcBef>
                <a:spcPts val="0"/>
              </a:spcBef>
              <a:spcAft>
                <a:spcPts val="0"/>
              </a:spcAft>
            </a:pPr>
            <a:r>
              <a:rPr sz="1800">
                <a:solidFill>
                  <a:srgbClr val="1F2328"/>
                </a:solidFill>
                <a:latin typeface="Consolas"/>
              </a:rPr>
              <a:t>predict cooksd_mm, cooksd</a:t>
            </a:r>
          </a:p>
          <a:p>
            <a:pPr algn="l">
              <a:lnSpc>
                <a:spcPct val="100000"/>
              </a:lnSpc>
              <a:spcBef>
                <a:spcPts val="0"/>
              </a:spcBef>
              <a:spcAft>
                <a:spcPts val="0"/>
              </a:spcAft>
            </a:pPr>
            <a:r>
              <a:rPr sz="1800">
                <a:solidFill>
                  <a:srgbClr val="1F2328"/>
                </a:solidFill>
                <a:latin typeface="Consolas"/>
              </a:rPr>
              <a:t>scatter cooksd_mm _n, title("Cook's Distance") yline(4/40)</a:t>
            </a:r>
          </a:p>
        </p:txBody>
      </p:sp>
    </p:spTree>
    <p:extLst>
      <p:ext uri="{BB962C8B-B14F-4D97-AF65-F5344CB8AC3E}">
        <p14:creationId xmlns:p14="http://schemas.microsoft.com/office/powerpoint/2010/main" val="3871010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6236"/>
            <a:ext cx="10515600" cy="994949"/>
          </a:xfrm>
        </p:spPr>
        <p:txBody>
          <a:bodyPr/>
          <a:lstStyle/>
          <a:p>
            <a:r>
              <a:rPr lang="en-US" b="1" dirty="0" smtClean="0"/>
              <a:t>4. </a:t>
            </a:r>
            <a:r>
              <a:rPr lang="en-US" sz="3600" b="1" dirty="0" smtClean="0"/>
              <a:t>Exponential </a:t>
            </a:r>
            <a:r>
              <a:rPr lang="en-US" sz="3600" b="1" dirty="0"/>
              <a:t>Growth (Viral Load)</a:t>
            </a:r>
          </a:p>
        </p:txBody>
      </p:sp>
      <p:sp>
        <p:nvSpPr>
          <p:cNvPr id="5" name="Rectangle 2"/>
          <p:cNvSpPr>
            <a:spLocks noGrp="1" noChangeArrowheads="1"/>
          </p:cNvSpPr>
          <p:nvPr>
            <p:ph idx="1"/>
          </p:nvPr>
        </p:nvSpPr>
        <p:spPr bwMode="auto">
          <a:xfrm>
            <a:off x="838200" y="1421185"/>
            <a:ext cx="10073720" cy="4739759"/>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500">
                <a:solidFill>
                  <a:srgbClr val="6A737D"/>
                </a:solidFill>
                <a:latin typeface="Consolas"/>
              </a:rPr>
              <a:t>* Simulate viral load after infection</a:t>
            </a:r>
          </a:p>
          <a:p>
            <a:pPr algn="l">
              <a:lnSpc>
                <a:spcPct val="100000"/>
              </a:lnSpc>
              <a:spcBef>
                <a:spcPts val="0"/>
              </a:spcBef>
              <a:spcAft>
                <a:spcPts val="0"/>
              </a:spcAft>
            </a:pPr>
            <a:r>
              <a:rPr sz="1500">
                <a:solidFill>
                  <a:srgbClr val="1F2328"/>
                </a:solidFill>
                <a:latin typeface="Consolas"/>
              </a:rPr>
              <a:t>clear</a:t>
            </a:r>
          </a:p>
          <a:p>
            <a:pPr algn="l">
              <a:lnSpc>
                <a:spcPct val="100000"/>
              </a:lnSpc>
              <a:spcBef>
                <a:spcPts val="0"/>
              </a:spcBef>
              <a:spcAft>
                <a:spcPts val="0"/>
              </a:spcAft>
            </a:pPr>
            <a:r>
              <a:rPr sz="1500">
                <a:solidFill>
                  <a:srgbClr val="1F2328"/>
                </a:solidFill>
                <a:latin typeface="Consolas"/>
              </a:rPr>
              <a:t>set seed 67890</a:t>
            </a:r>
          </a:p>
          <a:p>
            <a:pPr algn="l">
              <a:lnSpc>
                <a:spcPct val="100000"/>
              </a:lnSpc>
              <a:spcBef>
                <a:spcPts val="0"/>
              </a:spcBef>
              <a:spcAft>
                <a:spcPts val="0"/>
              </a:spcAft>
            </a:pPr>
            <a:r>
              <a:rPr sz="1500">
                <a:solidFill>
                  <a:srgbClr val="1F2328"/>
                </a:solidFill>
                <a:latin typeface="Consolas"/>
              </a:rPr>
              <a:t>set obs 20</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Days after infection</a:t>
            </a:r>
          </a:p>
          <a:p>
            <a:pPr algn="l">
              <a:lnSpc>
                <a:spcPct val="100000"/>
              </a:lnSpc>
              <a:spcBef>
                <a:spcPts val="0"/>
              </a:spcBef>
              <a:spcAft>
                <a:spcPts val="0"/>
              </a:spcAft>
            </a:pPr>
            <a:r>
              <a:rPr sz="1500">
                <a:solidFill>
                  <a:srgbClr val="1F2328"/>
                </a:solidFill>
                <a:latin typeface="Consolas"/>
              </a:rPr>
              <a:t>gen day = _n</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True values: start = 100, growth rate = 0.3</a:t>
            </a:r>
          </a:p>
          <a:p>
            <a:pPr algn="l">
              <a:lnSpc>
                <a:spcPct val="100000"/>
              </a:lnSpc>
              <a:spcBef>
                <a:spcPts val="0"/>
              </a:spcBef>
              <a:spcAft>
                <a:spcPts val="0"/>
              </a:spcAft>
            </a:pPr>
            <a:r>
              <a:rPr sz="1500">
                <a:solidFill>
                  <a:srgbClr val="6A737D"/>
                </a:solidFill>
                <a:latin typeface="Consolas"/>
              </a:rPr>
              <a:t>* viral_load = 100*exp(0.3*day) + noise</a:t>
            </a:r>
          </a:p>
          <a:p>
            <a:pPr algn="l">
              <a:lnSpc>
                <a:spcPct val="100000"/>
              </a:lnSpc>
              <a:spcBef>
                <a:spcPts val="0"/>
              </a:spcBef>
              <a:spcAft>
                <a:spcPts val="0"/>
              </a:spcAft>
            </a:pPr>
            <a:r>
              <a:rPr sz="1500">
                <a:solidFill>
                  <a:srgbClr val="1F2328"/>
                </a:solidFill>
                <a:latin typeface="Consolas"/>
              </a:rPr>
              <a:t>gen viral_load = 100 * exp(0.3 * day) + rnormal(0, 200)</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Plot the data</a:t>
            </a:r>
          </a:p>
          <a:p>
            <a:pPr algn="l">
              <a:lnSpc>
                <a:spcPct val="100000"/>
              </a:lnSpc>
              <a:spcBef>
                <a:spcPts val="0"/>
              </a:spcBef>
              <a:spcAft>
                <a:spcPts val="0"/>
              </a:spcAft>
            </a:pPr>
            <a:r>
              <a:rPr sz="1500">
                <a:solidFill>
                  <a:srgbClr val="1F2328"/>
                </a:solidFill>
                <a:latin typeface="Consolas"/>
              </a:rPr>
              <a:t>twoway scatter viral_load day, ///</a:t>
            </a:r>
          </a:p>
          <a:p>
            <a:pPr algn="l">
              <a:lnSpc>
                <a:spcPct val="100000"/>
              </a:lnSpc>
              <a:spcBef>
                <a:spcPts val="0"/>
              </a:spcBef>
              <a:spcAft>
                <a:spcPts val="0"/>
              </a:spcAft>
            </a:pPr>
            <a:r>
              <a:rPr sz="1500">
                <a:solidFill>
                  <a:srgbClr val="1F2328"/>
                </a:solidFill>
                <a:latin typeface="Consolas"/>
              </a:rPr>
              <a:t>    title("Viral Load Over Time") ///</a:t>
            </a:r>
          </a:p>
          <a:p>
            <a:pPr algn="l">
              <a:lnSpc>
                <a:spcPct val="100000"/>
              </a:lnSpc>
              <a:spcBef>
                <a:spcPts val="0"/>
              </a:spcBef>
              <a:spcAft>
                <a:spcPts val="0"/>
              </a:spcAft>
            </a:pPr>
            <a:r>
              <a:rPr sz="1500">
                <a:solidFill>
                  <a:srgbClr val="1F2328"/>
                </a:solidFill>
                <a:latin typeface="Consolas"/>
              </a:rPr>
              <a:t>    xtitle("Days Post-Infection") ///</a:t>
            </a:r>
          </a:p>
          <a:p>
            <a:pPr algn="l">
              <a:lnSpc>
                <a:spcPct val="100000"/>
              </a:lnSpc>
              <a:spcBef>
                <a:spcPts val="0"/>
              </a:spcBef>
              <a:spcAft>
                <a:spcPts val="0"/>
              </a:spcAft>
            </a:pPr>
            <a:r>
              <a:rPr sz="1500">
                <a:solidFill>
                  <a:srgbClr val="1F2328"/>
                </a:solidFill>
                <a:latin typeface="Consolas"/>
              </a:rPr>
              <a:t>    ytitle("Viral Load (copies/mL)")</a:t>
            </a:r>
          </a:p>
        </p:txBody>
      </p:sp>
    </p:spTree>
    <p:extLst>
      <p:ext uri="{BB962C8B-B14F-4D97-AF65-F5344CB8AC3E}">
        <p14:creationId xmlns:p14="http://schemas.microsoft.com/office/powerpoint/2010/main" val="1932692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Fit Exponential Growth</a:t>
            </a:r>
          </a:p>
        </p:txBody>
      </p:sp>
      <p:sp>
        <p:nvSpPr>
          <p:cNvPr id="4" name="Rectangle 1"/>
          <p:cNvSpPr>
            <a:spLocks noGrp="1" noChangeArrowheads="1"/>
          </p:cNvSpPr>
          <p:nvPr>
            <p:ph idx="1"/>
          </p:nvPr>
        </p:nvSpPr>
        <p:spPr bwMode="auto">
          <a:xfrm>
            <a:off x="838200" y="365125"/>
            <a:ext cx="10442649" cy="5909310"/>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400">
                <a:solidFill>
                  <a:srgbClr val="6A737D"/>
                </a:solidFill>
                <a:latin typeface="Consolas"/>
              </a:rPr>
              <a:t>* Starting values: a = 100, b = 0.3</a:t>
            </a:r>
          </a:p>
          <a:p>
            <a:pPr algn="l">
              <a:lnSpc>
                <a:spcPct val="100000"/>
              </a:lnSpc>
              <a:spcBef>
                <a:spcPts val="0"/>
              </a:spcBef>
              <a:spcAft>
                <a:spcPts val="0"/>
              </a:spcAft>
            </a:pPr>
            <a:r>
              <a:rPr sz="1400">
                <a:solidFill>
                  <a:srgbClr val="1F2328"/>
                </a:solidFill>
                <a:latin typeface="Consolas"/>
              </a:rPr>
              <a:t>nl (viral_load = {a} * exp({b} * day)), ///</a:t>
            </a:r>
          </a:p>
          <a:p>
            <a:pPr algn="l">
              <a:lnSpc>
                <a:spcPct val="100000"/>
              </a:lnSpc>
              <a:spcBef>
                <a:spcPts val="0"/>
              </a:spcBef>
              <a:spcAft>
                <a:spcPts val="0"/>
              </a:spcAft>
            </a:pPr>
            <a:r>
              <a:rPr sz="1400">
                <a:solidFill>
                  <a:srgbClr val="1F2328"/>
                </a:solidFill>
                <a:latin typeface="Consolas"/>
              </a:rPr>
              <a:t>    initial(a 100 b 0.3)</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1F2328"/>
                </a:solidFill>
                <a:latin typeface="Consolas"/>
              </a:rPr>
              <a:t>------------------------------------------------------------------</a:t>
            </a:r>
          </a:p>
          <a:p>
            <a:pPr algn="l">
              <a:lnSpc>
                <a:spcPct val="100000"/>
              </a:lnSpc>
              <a:spcBef>
                <a:spcPts val="0"/>
              </a:spcBef>
              <a:spcAft>
                <a:spcPts val="0"/>
              </a:spcAft>
            </a:pPr>
            <a:r>
              <a:rPr sz="1400">
                <a:solidFill>
                  <a:srgbClr val="1F2328"/>
                </a:solidFill>
                <a:latin typeface="Consolas"/>
              </a:rPr>
              <a:t>viral_load | Coefficient  Std. err.    t    P&gt;|t|  [95% conf. int.]</a:t>
            </a:r>
          </a:p>
          <a:p>
            <a:pPr algn="l">
              <a:lnSpc>
                <a:spcPct val="100000"/>
              </a:lnSpc>
              <a:spcBef>
                <a:spcPts val="0"/>
              </a:spcBef>
              <a:spcAft>
                <a:spcPts val="0"/>
              </a:spcAft>
            </a:pPr>
            <a:r>
              <a:rPr sz="1400">
                <a:solidFill>
                  <a:srgbClr val="1F2328"/>
                </a:solidFill>
                <a:latin typeface="Consolas"/>
              </a:rPr>
              <a:t>-----------+------------------------------------------------------</a:t>
            </a:r>
          </a:p>
          <a:p>
            <a:pPr algn="l">
              <a:lnSpc>
                <a:spcPct val="100000"/>
              </a:lnSpc>
              <a:spcBef>
                <a:spcPts val="0"/>
              </a:spcBef>
              <a:spcAft>
                <a:spcPts val="0"/>
              </a:spcAft>
            </a:pPr>
            <a:r>
              <a:rPr sz="1400">
                <a:solidFill>
                  <a:srgbClr val="1F2328"/>
                </a:solidFill>
                <a:latin typeface="Consolas"/>
              </a:rPr>
              <a:t>        /a |   98.456     12.34     7.98  0.000   73.456  123.456</a:t>
            </a:r>
          </a:p>
          <a:p>
            <a:pPr algn="l">
              <a:lnSpc>
                <a:spcPct val="100000"/>
              </a:lnSpc>
              <a:spcBef>
                <a:spcPts val="0"/>
              </a:spcBef>
              <a:spcAft>
                <a:spcPts val="0"/>
              </a:spcAft>
            </a:pPr>
            <a:r>
              <a:rPr sz="1400">
                <a:solidFill>
                  <a:srgbClr val="1F2328"/>
                </a:solidFill>
                <a:latin typeface="Consolas"/>
              </a:rPr>
              <a:t>        /b |   0.312       0.045    6.93  0.000    0.218    0.406</a:t>
            </a:r>
          </a:p>
          <a:p>
            <a:pPr algn="l">
              <a:lnSpc>
                <a:spcPct val="100000"/>
              </a:lnSpc>
              <a:spcBef>
                <a:spcPts val="0"/>
              </a:spcBef>
              <a:spcAft>
                <a:spcPts val="0"/>
              </a:spcAft>
            </a:pPr>
            <a:r>
              <a:rPr sz="1400">
                <a:solidFill>
                  <a:srgbClr val="1F2328"/>
                </a:solidFill>
                <a:latin typeface="Consolas"/>
              </a:rPr>
              <a:t>------------------------------------------------------------------</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Calculate doubling time</a:t>
            </a:r>
          </a:p>
          <a:p>
            <a:pPr algn="l">
              <a:lnSpc>
                <a:spcPct val="100000"/>
              </a:lnSpc>
              <a:spcBef>
                <a:spcPts val="0"/>
              </a:spcBef>
              <a:spcAft>
                <a:spcPts val="0"/>
              </a:spcAft>
            </a:pPr>
            <a:r>
              <a:rPr sz="1400">
                <a:solidFill>
                  <a:srgbClr val="1F2328"/>
                </a:solidFill>
                <a:latin typeface="Consolas"/>
              </a:rPr>
              <a:t>nlcom (doubling_time: ln(2) / _b[/b])</a:t>
            </a:r>
          </a:p>
          <a:p>
            <a:pPr algn="l">
              <a:lnSpc>
                <a:spcPct val="100000"/>
              </a:lnSpc>
              <a:spcBef>
                <a:spcPts val="0"/>
              </a:spcBef>
              <a:spcAft>
                <a:spcPts val="0"/>
              </a:spcAft>
            </a:pPr>
            <a:r>
              <a:rPr sz="1400">
                <a:solidFill>
                  <a:srgbClr val="6A737D"/>
                </a:solidFill>
                <a:latin typeface="Consolas"/>
              </a:rPr>
              <a:t>* Doubling time = 2.22 days (95% CI: 1.71, 2.73)</a:t>
            </a:r>
          </a:p>
        </p:txBody>
      </p:sp>
    </p:spTree>
    <p:extLst>
      <p:ext uri="{BB962C8B-B14F-4D97-AF65-F5344CB8AC3E}">
        <p14:creationId xmlns:p14="http://schemas.microsoft.com/office/powerpoint/2010/main" val="3854357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5374"/>
            <a:ext cx="10515600" cy="935314"/>
          </a:xfrm>
        </p:spPr>
        <p:txBody>
          <a:bodyPr>
            <a:normAutofit/>
          </a:bodyPr>
          <a:lstStyle/>
          <a:p>
            <a:r>
              <a:rPr lang="en-US" sz="3600" b="1" dirty="0"/>
              <a:t>Comparing Models – Linear vs Non-linear</a:t>
            </a:r>
          </a:p>
        </p:txBody>
      </p:sp>
      <p:sp>
        <p:nvSpPr>
          <p:cNvPr id="4" name="Rectangle 1"/>
          <p:cNvSpPr>
            <a:spLocks noGrp="1" noChangeArrowheads="1"/>
          </p:cNvSpPr>
          <p:nvPr>
            <p:ph idx="1"/>
          </p:nvPr>
        </p:nvSpPr>
        <p:spPr bwMode="auto">
          <a:xfrm>
            <a:off x="990334" y="1690688"/>
            <a:ext cx="9734253" cy="440120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600">
                <a:solidFill>
                  <a:srgbClr val="6A737D"/>
                </a:solidFill>
                <a:latin typeface="Consolas"/>
              </a:rPr>
              <a:t>* Linear model on raw data</a:t>
            </a:r>
            <a:endParaRPr kumimoji="0" lang="en-US" altLang="en-US" sz="2200" b="0"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600">
                <a:solidFill>
                  <a:srgbClr val="1F2328"/>
                </a:solidFill>
                <a:latin typeface="Consolas"/>
              </a:rPr>
              <a:t>regress mpg weight</a:t>
            </a:r>
          </a:p>
          <a:p>
            <a:pPr algn="l">
              <a:lnSpc>
                <a:spcPct val="100000"/>
              </a:lnSpc>
              <a:spcBef>
                <a:spcPts val="0"/>
              </a:spcBef>
              <a:spcAft>
                <a:spcPts val="0"/>
              </a:spcAft>
            </a:pPr>
            <a:r>
              <a:rPr sz="1600">
                <a:solidFill>
                  <a:srgbClr val="1F2328"/>
                </a:solidFill>
                <a:latin typeface="Consolas"/>
              </a:rPr>
              <a:t>estimates store linear_model</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Non-linear model (exponential decay)</a:t>
            </a:r>
          </a:p>
          <a:p>
            <a:pPr algn="l">
              <a:lnSpc>
                <a:spcPct val="100000"/>
              </a:lnSpc>
              <a:spcBef>
                <a:spcPts val="0"/>
              </a:spcBef>
              <a:spcAft>
                <a:spcPts val="0"/>
              </a:spcAft>
            </a:pPr>
            <a:r>
              <a:rPr sz="1600">
                <a:solidFill>
                  <a:srgbClr val="1F2328"/>
                </a:solidFill>
                <a:latin typeface="Consolas"/>
              </a:rPr>
              <a:t>nl (mpg = {a} * exp({b} * weight)), initial(a 40 b -0.0005)</a:t>
            </a:r>
          </a:p>
          <a:p>
            <a:pPr algn="l">
              <a:lnSpc>
                <a:spcPct val="100000"/>
              </a:lnSpc>
              <a:spcBef>
                <a:spcPts val="0"/>
              </a:spcBef>
              <a:spcAft>
                <a:spcPts val="0"/>
              </a:spcAft>
            </a:pPr>
            <a:r>
              <a:rPr sz="1600">
                <a:solidFill>
                  <a:srgbClr val="1F2328"/>
                </a:solidFill>
                <a:latin typeface="Consolas"/>
              </a:rPr>
              <a:t>estimates store nl_model</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Compare AIC / BIC</a:t>
            </a:r>
          </a:p>
          <a:p>
            <a:pPr algn="l">
              <a:lnSpc>
                <a:spcPct val="100000"/>
              </a:lnSpc>
              <a:spcBef>
                <a:spcPts val="0"/>
              </a:spcBef>
              <a:spcAft>
                <a:spcPts val="0"/>
              </a:spcAft>
            </a:pPr>
            <a:r>
              <a:rPr sz="1600">
                <a:solidFill>
                  <a:srgbClr val="1F2328"/>
                </a:solidFill>
                <a:latin typeface="Consolas"/>
              </a:rPr>
              <a:t>estimates stats linear_model nl_model</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Compare residual spread</a:t>
            </a:r>
          </a:p>
          <a:p>
            <a:pPr algn="l">
              <a:lnSpc>
                <a:spcPct val="100000"/>
              </a:lnSpc>
              <a:spcBef>
                <a:spcPts val="0"/>
              </a:spcBef>
              <a:spcAft>
                <a:spcPts val="0"/>
              </a:spcAft>
            </a:pPr>
            <a:r>
              <a:rPr sz="1600">
                <a:solidFill>
                  <a:srgbClr val="1F2328"/>
                </a:solidFill>
                <a:latin typeface="Consolas"/>
              </a:rPr>
              <a:t>predict resid_linear, resid</a:t>
            </a:r>
          </a:p>
          <a:p>
            <a:pPr algn="l">
              <a:lnSpc>
                <a:spcPct val="100000"/>
              </a:lnSpc>
              <a:spcBef>
                <a:spcPts val="0"/>
              </a:spcBef>
              <a:spcAft>
                <a:spcPts val="0"/>
              </a:spcAft>
            </a:pPr>
            <a:r>
              <a:rPr sz="1600">
                <a:solidFill>
                  <a:srgbClr val="1F2328"/>
                </a:solidFill>
                <a:latin typeface="Consolas"/>
              </a:rPr>
              <a:t>summarize resid_linear resid_exp</a:t>
            </a:r>
          </a:p>
        </p:txBody>
      </p:sp>
    </p:spTree>
    <p:extLst>
      <p:ext uri="{BB962C8B-B14F-4D97-AF65-F5344CB8AC3E}">
        <p14:creationId xmlns:p14="http://schemas.microsoft.com/office/powerpoint/2010/main" val="1360879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Typical results:</a:t>
            </a:r>
            <a:endParaRPr lang="en-US" dirty="0"/>
          </a:p>
        </p:txBody>
      </p:sp>
      <p:sp>
        <p:nvSpPr>
          <p:cNvPr id="3" name="Content Placeholder 2"/>
          <p:cNvSpPr>
            <a:spLocks noGrp="1"/>
          </p:cNvSpPr>
          <p:nvPr>
            <p:ph idx="1"/>
          </p:nvPr>
        </p:nvSpPr>
        <p:spPr/>
        <p:txBody>
          <a:bodyPr/>
          <a:lstStyle/>
          <a:p>
            <a:pPr marL="0" indent="0">
              <a:buNone/>
            </a:pPr>
            <a:r>
              <a:rPr lang="en-US" b="1" dirty="0"/>
              <a:t>Conclusion:</a:t>
            </a:r>
            <a:r>
              <a:rPr lang="en-US" dirty="0"/>
              <a:t> Non-linear offers modest improvement; choose based on clinical interpretability.</a:t>
            </a:r>
            <a:br>
              <a:rPr lang="en-US" dirty="0"/>
            </a:b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27762424"/>
              </p:ext>
            </p:extLst>
          </p:nvPr>
        </p:nvGraphicFramePr>
        <p:xfrm>
          <a:off x="1448463" y="3222066"/>
          <a:ext cx="8649693" cy="2582385"/>
        </p:xfrm>
        <a:graphic>
          <a:graphicData uri="http://schemas.openxmlformats.org/drawingml/2006/table">
            <a:tbl>
              <a:tblPr/>
              <a:tblGrid>
                <a:gridCol w="2883231">
                  <a:extLst>
                    <a:ext uri="{9D8B030D-6E8A-4147-A177-3AD203B41FA5}">
                      <a16:colId xmlns:a16="http://schemas.microsoft.com/office/drawing/2014/main" val="4204236157"/>
                    </a:ext>
                  </a:extLst>
                </a:gridCol>
                <a:gridCol w="2883231">
                  <a:extLst>
                    <a:ext uri="{9D8B030D-6E8A-4147-A177-3AD203B41FA5}">
                      <a16:colId xmlns:a16="http://schemas.microsoft.com/office/drawing/2014/main" val="3324421695"/>
                    </a:ext>
                  </a:extLst>
                </a:gridCol>
                <a:gridCol w="2883231">
                  <a:extLst>
                    <a:ext uri="{9D8B030D-6E8A-4147-A177-3AD203B41FA5}">
                      <a16:colId xmlns:a16="http://schemas.microsoft.com/office/drawing/2014/main" val="1831936048"/>
                    </a:ext>
                  </a:extLst>
                </a:gridCol>
              </a:tblGrid>
              <a:tr h="860795">
                <a:tc>
                  <a:txBody>
                    <a:bodyPr/>
                    <a:lstStyle/>
                    <a:p>
                      <a:pPr algn="l"/>
                      <a:r>
                        <a:rPr lang="en-US" sz="2800" b="0">
                          <a:effectLst/>
                          <a:latin typeface="quote-cjk-patch"/>
                        </a:rPr>
                        <a:t>Model</a:t>
                      </a:r>
                    </a:p>
                  </a:txBody>
                  <a:tcPr marR="121920" marT="76200" marB="76200" anchor="ctr">
                    <a:lnL>
                      <a:noFill/>
                    </a:lnL>
                    <a:lnR>
                      <a:noFill/>
                    </a:lnR>
                    <a:lnT>
                      <a:noFill/>
                    </a:lnT>
                    <a:lnB>
                      <a:noFill/>
                    </a:lnB>
                    <a:solidFill>
                      <a:srgbClr val="FFFFFF"/>
                    </a:solidFill>
                  </a:tcPr>
                </a:tc>
                <a:tc>
                  <a:txBody>
                    <a:bodyPr/>
                    <a:lstStyle/>
                    <a:p>
                      <a:pPr algn="l"/>
                      <a:r>
                        <a:rPr lang="en-US" sz="2800" b="0">
                          <a:effectLst/>
                          <a:latin typeface="quote-cjk-patch"/>
                        </a:rPr>
                        <a:t>AIC</a:t>
                      </a:r>
                    </a:p>
                  </a:txBody>
                  <a:tcPr marL="121920" marR="121920" marT="76200" marB="76200" anchor="ctr">
                    <a:lnL>
                      <a:noFill/>
                    </a:lnL>
                    <a:lnR>
                      <a:noFill/>
                    </a:lnR>
                    <a:lnT>
                      <a:noFill/>
                    </a:lnT>
                    <a:lnB>
                      <a:noFill/>
                    </a:lnB>
                    <a:solidFill>
                      <a:srgbClr val="FFFFFF"/>
                    </a:solidFill>
                  </a:tcPr>
                </a:tc>
                <a:tc>
                  <a:txBody>
                    <a:bodyPr/>
                    <a:lstStyle/>
                    <a:p>
                      <a:pPr algn="l"/>
                      <a:r>
                        <a:rPr lang="en-US" sz="2800" b="0">
                          <a:effectLst/>
                          <a:latin typeface="quote-cjk-patch"/>
                        </a:rPr>
                        <a:t>Residual SD</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2710832164"/>
                  </a:ext>
                </a:extLst>
              </a:tr>
              <a:tr h="860795">
                <a:tc>
                  <a:txBody>
                    <a:bodyPr/>
                    <a:lstStyle/>
                    <a:p>
                      <a:r>
                        <a:rPr lang="en-US" sz="2800" b="0">
                          <a:effectLst/>
                          <a:latin typeface="quote-cjk-patch"/>
                        </a:rPr>
                        <a:t>Linear</a:t>
                      </a:r>
                    </a:p>
                  </a:txBody>
                  <a:tcPr marR="121920" marT="76200" marB="76200" anchor="ctr">
                    <a:lnL>
                      <a:noFill/>
                    </a:lnL>
                    <a:lnR>
                      <a:noFill/>
                    </a:lnR>
                    <a:lnT>
                      <a:noFill/>
                    </a:lnT>
                    <a:lnB>
                      <a:noFill/>
                    </a:lnB>
                    <a:solidFill>
                      <a:srgbClr val="FFFFFF"/>
                    </a:solidFill>
                  </a:tcPr>
                </a:tc>
                <a:tc>
                  <a:txBody>
                    <a:bodyPr/>
                    <a:lstStyle/>
                    <a:p>
                      <a:r>
                        <a:rPr lang="en-US" sz="2800" b="0">
                          <a:effectLst/>
                          <a:latin typeface="quote-cjk-patch"/>
                        </a:rPr>
                        <a:t>342.5</a:t>
                      </a:r>
                    </a:p>
                  </a:txBody>
                  <a:tcPr marL="121920" marR="121920" marT="76200" marB="76200" anchor="ctr">
                    <a:lnL>
                      <a:noFill/>
                    </a:lnL>
                    <a:lnR>
                      <a:noFill/>
                    </a:lnR>
                    <a:lnT>
                      <a:noFill/>
                    </a:lnT>
                    <a:lnB>
                      <a:noFill/>
                    </a:lnB>
                    <a:solidFill>
                      <a:srgbClr val="FFFFFF"/>
                    </a:solidFill>
                  </a:tcPr>
                </a:tc>
                <a:tc>
                  <a:txBody>
                    <a:bodyPr/>
                    <a:lstStyle/>
                    <a:p>
                      <a:r>
                        <a:rPr lang="en-US" sz="2800" b="0">
                          <a:effectLst/>
                          <a:latin typeface="quote-cjk-patch"/>
                        </a:rPr>
                        <a:t>4.23</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713753383"/>
                  </a:ext>
                </a:extLst>
              </a:tr>
              <a:tr h="860795">
                <a:tc>
                  <a:txBody>
                    <a:bodyPr/>
                    <a:lstStyle/>
                    <a:p>
                      <a:r>
                        <a:rPr lang="en-US" sz="2800" b="0">
                          <a:effectLst/>
                          <a:latin typeface="quote-cjk-patch"/>
                        </a:rPr>
                        <a:t>Non-linear</a:t>
                      </a:r>
                    </a:p>
                  </a:txBody>
                  <a:tcPr marR="121920" marT="76200" marB="76200" anchor="ctr">
                    <a:lnL>
                      <a:noFill/>
                    </a:lnL>
                    <a:lnR>
                      <a:noFill/>
                    </a:lnR>
                    <a:lnT>
                      <a:noFill/>
                    </a:lnT>
                    <a:lnB>
                      <a:noFill/>
                    </a:lnB>
                    <a:solidFill>
                      <a:srgbClr val="FFFFFF"/>
                    </a:solidFill>
                  </a:tcPr>
                </a:tc>
                <a:tc>
                  <a:txBody>
                    <a:bodyPr/>
                    <a:lstStyle/>
                    <a:p>
                      <a:r>
                        <a:rPr lang="en-US" sz="2800" b="0">
                          <a:effectLst/>
                          <a:latin typeface="quote-cjk-patch"/>
                        </a:rPr>
                        <a:t>338.2</a:t>
                      </a:r>
                    </a:p>
                  </a:txBody>
                  <a:tcPr marL="121920" marR="121920" marT="76200" marB="76200" anchor="ctr">
                    <a:lnL>
                      <a:noFill/>
                    </a:lnL>
                    <a:lnR>
                      <a:noFill/>
                    </a:lnR>
                    <a:lnT>
                      <a:noFill/>
                    </a:lnT>
                    <a:lnB>
                      <a:noFill/>
                    </a:lnB>
                    <a:solidFill>
                      <a:srgbClr val="FFFFFF"/>
                    </a:solidFill>
                  </a:tcPr>
                </a:tc>
                <a:tc>
                  <a:txBody>
                    <a:bodyPr/>
                    <a:lstStyle/>
                    <a:p>
                      <a:r>
                        <a:rPr lang="en-US" sz="2800" b="0" dirty="0">
                          <a:effectLst/>
                          <a:latin typeface="quote-cjk-patch"/>
                        </a:rPr>
                        <a:t>4.01</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2838788544"/>
                  </a:ext>
                </a:extLst>
              </a:tr>
            </a:tbl>
          </a:graphicData>
        </a:graphic>
      </p:graphicFrame>
    </p:spTree>
    <p:extLst>
      <p:ext uri="{BB962C8B-B14F-4D97-AF65-F5344CB8AC3E}">
        <p14:creationId xmlns:p14="http://schemas.microsoft.com/office/powerpoint/2010/main" val="3176209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5009"/>
            <a:ext cx="10515600" cy="875679"/>
          </a:xfrm>
        </p:spPr>
        <p:txBody>
          <a:bodyPr>
            <a:normAutofit/>
          </a:bodyPr>
          <a:lstStyle/>
          <a:p>
            <a:r>
              <a:rPr lang="en-US" sz="3800" b="1" dirty="0"/>
              <a:t>Diagnostic Checklist for Non-linear Models</a:t>
            </a:r>
          </a:p>
        </p:txBody>
      </p:sp>
      <p:sp>
        <p:nvSpPr>
          <p:cNvPr id="4" name="Rectangle 1"/>
          <p:cNvSpPr>
            <a:spLocks noGrp="1" noChangeArrowheads="1"/>
          </p:cNvSpPr>
          <p:nvPr>
            <p:ph idx="1"/>
          </p:nvPr>
        </p:nvSpPr>
        <p:spPr bwMode="auto">
          <a:xfrm>
            <a:off x="838200" y="1690688"/>
            <a:ext cx="9999206" cy="4062651"/>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800">
                <a:solidFill>
                  <a:srgbClr val="6A737D"/>
                </a:solidFill>
                <a:latin typeface="Consolas"/>
              </a:rPr>
              <a:t>* Run this after EVERY non-linear regression</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1. Check convergence (should be 1)</a:t>
            </a:r>
          </a:p>
          <a:p>
            <a:pPr algn="l">
              <a:lnSpc>
                <a:spcPct val="100000"/>
              </a:lnSpc>
              <a:spcBef>
                <a:spcPts val="0"/>
              </a:spcBef>
              <a:spcAft>
                <a:spcPts val="0"/>
              </a:spcAft>
            </a:pPr>
            <a:r>
              <a:rPr sz="1800">
                <a:solidFill>
                  <a:srgbClr val="1F2328"/>
                </a:solidFill>
                <a:latin typeface="Consolas"/>
              </a:rPr>
              <a:t>di e(converged)</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2. Residuals vs fitted</a:t>
            </a:r>
          </a:p>
          <a:p>
            <a:pPr algn="l">
              <a:lnSpc>
                <a:spcPct val="100000"/>
              </a:lnSpc>
              <a:spcBef>
                <a:spcPts val="0"/>
              </a:spcBef>
              <a:spcAft>
                <a:spcPts val="0"/>
              </a:spcAft>
            </a:pPr>
            <a:r>
              <a:rPr sz="1800">
                <a:solidFill>
                  <a:srgbClr val="1F2328"/>
                </a:solidFill>
                <a:latin typeface="Consolas"/>
              </a:rPr>
              <a:t>rvfplot, yline(0)</a:t>
            </a:r>
          </a:p>
          <a:p>
            <a:pPr algn="l">
              <a:lnSpc>
                <a:spcPct val="100000"/>
              </a:lnSpc>
              <a:spcBef>
                <a:spcPts val="0"/>
              </a:spcBef>
              <a:spcAft>
                <a:spcPts val="0"/>
              </a:spcAft>
            </a:pPr>
            <a:r>
              <a:rPr sz="1800">
                <a:solidFill>
                  <a:srgbClr val="1F2328"/>
                </a:solidFill>
                <a:latin typeface="Consolas"/>
              </a:rPr>
              <a:t/>
            </a:r>
          </a:p>
          <a:p>
            <a:pPr algn="l">
              <a:lnSpc>
                <a:spcPct val="100000"/>
              </a:lnSpc>
              <a:spcBef>
                <a:spcPts val="0"/>
              </a:spcBef>
              <a:spcAft>
                <a:spcPts val="0"/>
              </a:spcAft>
            </a:pPr>
            <a:r>
              <a:rPr sz="1800">
                <a:solidFill>
                  <a:srgbClr val="6A737D"/>
                </a:solidFill>
                <a:latin typeface="Consolas"/>
              </a:rPr>
              <a:t>* 3. Normality of residuals</a:t>
            </a:r>
          </a:p>
          <a:p>
            <a:pPr algn="l">
              <a:lnSpc>
                <a:spcPct val="100000"/>
              </a:lnSpc>
              <a:spcBef>
                <a:spcPts val="0"/>
              </a:spcBef>
              <a:spcAft>
                <a:spcPts val="0"/>
              </a:spcAft>
            </a:pPr>
            <a:r>
              <a:rPr sz="1800">
                <a:solidFill>
                  <a:srgbClr val="1F2328"/>
                </a:solidFill>
                <a:latin typeface="Consolas"/>
              </a:rPr>
              <a:t>qnorm resid</a:t>
            </a:r>
          </a:p>
        </p:txBody>
      </p:sp>
    </p:spTree>
    <p:extLst>
      <p:ext uri="{BB962C8B-B14F-4D97-AF65-F5344CB8AC3E}">
        <p14:creationId xmlns:p14="http://schemas.microsoft.com/office/powerpoint/2010/main" val="3902334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013791" y="619566"/>
            <a:ext cx="9939131" cy="5201424"/>
          </a:xfrm>
          <a:prstGeom prst="rect">
            <a:avLst/>
          </a:prstGeom>
          <a:solidFill>
            <a:srgbClr val="F6F8FA"/>
          </a:solidFill>
          <a:ln w="12700">
            <a:solidFill>
              <a:srgbClr val="D0D7DE"/>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342900" marR="0" lvl="0" indent="-342900" algn="l" defTabSz="914400" rtl="0" eaLnBrk="0" fontAlgn="base" latinLnBrk="0" hangingPunct="0">
              <a:lnSpc>
                <a:spcPct val="100000"/>
              </a:lnSpc>
              <a:spcBef>
                <a:spcPts val="0"/>
              </a:spcBef>
              <a:spcAft>
                <a:spcPts val="0"/>
              </a:spcAft>
              <a:buClrTx/>
              <a:buSzTx/>
              <a:buFont typeface="Arial" panose="020B0604020202020204" pitchFamily="34" charset="0"/>
              <a:buChar char="•"/>
              <a:tabLst/>
            </a:pPr>
            <a:r>
              <a:rPr sz="1600">
                <a:solidFill>
                  <a:srgbClr val="6A737D"/>
                </a:solidFill>
                <a:latin typeface="Consolas"/>
              </a:rPr>
              <a:t>* 3. Normality of residuals</a:t>
            </a:r>
          </a:p>
          <a:p>
            <a:pPr algn="l">
              <a:lnSpc>
                <a:spcPct val="100000"/>
              </a:lnSpc>
              <a:spcBef>
                <a:spcPts val="0"/>
              </a:spcBef>
              <a:spcAft>
                <a:spcPts val="0"/>
              </a:spcAft>
            </a:pPr>
            <a:r>
              <a:rPr sz="1600">
                <a:solidFill>
                  <a:srgbClr val="1F2328"/>
                </a:solidFill>
                <a:latin typeface="Consolas"/>
              </a:rPr>
              <a:t>qnorm resid</a:t>
            </a:r>
          </a:p>
          <a:p>
            <a:pPr algn="l">
              <a:lnSpc>
                <a:spcPct val="100000"/>
              </a:lnSpc>
              <a:spcBef>
                <a:spcPts val="0"/>
              </a:spcBef>
              <a:spcAft>
                <a:spcPts val="0"/>
              </a:spcAft>
            </a:pPr>
            <a:r>
              <a:rPr sz="1600">
                <a:solidFill>
                  <a:srgbClr val="1F2328"/>
                </a:solidFill>
                <a:latin typeface="Consolas"/>
              </a:rPr>
              <a:t>swilk resid        // Shapiro-Wilk: p &gt; 0.05 = normal</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4. Influential points</a:t>
            </a:r>
          </a:p>
          <a:p>
            <a:pPr algn="l">
              <a:lnSpc>
                <a:spcPct val="100000"/>
              </a:lnSpc>
              <a:spcBef>
                <a:spcPts val="0"/>
              </a:spcBef>
              <a:spcAft>
                <a:spcPts val="0"/>
              </a:spcAft>
            </a:pPr>
            <a:r>
              <a:rPr sz="1600">
                <a:solidFill>
                  <a:srgbClr val="1F2328"/>
                </a:solidFill>
                <a:latin typeface="Consolas"/>
              </a:rPr>
              <a:t>predict cooksd, cooksd</a:t>
            </a:r>
          </a:p>
          <a:p>
            <a:pPr algn="l">
              <a:lnSpc>
                <a:spcPct val="100000"/>
              </a:lnSpc>
              <a:spcBef>
                <a:spcPts val="0"/>
              </a:spcBef>
              <a:spcAft>
                <a:spcPts val="0"/>
              </a:spcAft>
            </a:pPr>
            <a:r>
              <a:rPr sz="1600">
                <a:solidFill>
                  <a:srgbClr val="1F2328"/>
                </a:solidFill>
                <a:latin typeface="Consolas"/>
              </a:rPr>
              <a:t>summarize cooksd, detail</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5. Parameter plausibility</a:t>
            </a:r>
          </a:p>
          <a:p>
            <a:pPr algn="l">
              <a:lnSpc>
                <a:spcPct val="100000"/>
              </a:lnSpc>
              <a:spcBef>
                <a:spcPts val="0"/>
              </a:spcBef>
              <a:spcAft>
                <a:spcPts val="0"/>
              </a:spcAft>
            </a:pPr>
            <a:r>
              <a:rPr sz="1600">
                <a:solidFill>
                  <a:srgbClr val="6A737D"/>
                </a:solidFill>
                <a:latin typeface="Consolas"/>
              </a:rPr>
              <a:t>*    do the estimates make clinical sense?</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6. Profile-likelihood CIs (better for small n)</a:t>
            </a:r>
          </a:p>
          <a:p>
            <a:pPr algn="l">
              <a:lnSpc>
                <a:spcPct val="100000"/>
              </a:lnSpc>
              <a:spcBef>
                <a:spcPts val="0"/>
              </a:spcBef>
              <a:spcAft>
                <a:spcPts val="0"/>
              </a:spcAft>
            </a:pPr>
            <a:r>
              <a:rPr sz="1600">
                <a:solidFill>
                  <a:srgbClr val="1F2328"/>
                </a:solidFill>
                <a:latin typeface="Consolas"/>
              </a:rPr>
              <a:t>nl (y = {a} * exp({b} * x)), initial(a 10 b -0.1) level(95)</a:t>
            </a:r>
          </a:p>
        </p:txBody>
      </p:sp>
    </p:spTree>
    <p:extLst>
      <p:ext uri="{BB962C8B-B14F-4D97-AF65-F5344CB8AC3E}">
        <p14:creationId xmlns:p14="http://schemas.microsoft.com/office/powerpoint/2010/main" val="21494884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735496"/>
            <a:ext cx="10515600" cy="655983"/>
          </a:xfrm>
        </p:spPr>
        <p:txBody>
          <a:bodyPr>
            <a:normAutofit/>
          </a:bodyPr>
          <a:lstStyle/>
          <a:p>
            <a:r>
              <a:rPr lang="en-US" sz="3600" b="1" dirty="0"/>
              <a:t>Common Stata Errors and Fixes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26170978"/>
              </p:ext>
            </p:extLst>
          </p:nvPr>
        </p:nvGraphicFramePr>
        <p:xfrm>
          <a:off x="838200" y="1391479"/>
          <a:ext cx="10515601" cy="4878545"/>
        </p:xfrm>
        <a:graphic>
          <a:graphicData uri="http://schemas.openxmlformats.org/drawingml/2006/table">
            <a:tbl>
              <a:tblPr>
                <a:tableStyleId>{5940675A-B579-460E-94D1-54222C63F5DA}</a:tableStyleId>
              </a:tblPr>
              <a:tblGrid>
                <a:gridCol w="3074697">
                  <a:extLst>
                    <a:ext uri="{9D8B030D-6E8A-4147-A177-3AD203B41FA5}">
                      <a16:colId xmlns:a16="http://schemas.microsoft.com/office/drawing/2014/main" val="3647771733"/>
                    </a:ext>
                  </a:extLst>
                </a:gridCol>
                <a:gridCol w="3614845">
                  <a:extLst>
                    <a:ext uri="{9D8B030D-6E8A-4147-A177-3AD203B41FA5}">
                      <a16:colId xmlns:a16="http://schemas.microsoft.com/office/drawing/2014/main" val="1441492991"/>
                    </a:ext>
                  </a:extLst>
                </a:gridCol>
                <a:gridCol w="3826059">
                  <a:extLst>
                    <a:ext uri="{9D8B030D-6E8A-4147-A177-3AD203B41FA5}">
                      <a16:colId xmlns:a16="http://schemas.microsoft.com/office/drawing/2014/main" val="1835192526"/>
                    </a:ext>
                  </a:extLst>
                </a:gridCol>
              </a:tblGrid>
              <a:tr h="446165">
                <a:tc>
                  <a:txBody>
                    <a:bodyPr/>
                    <a:lstStyle/>
                    <a:p>
                      <a:pPr algn="l"/>
                      <a:r>
                        <a:rPr lang="en-US" sz="2400" b="1">
                          <a:effectLst/>
                        </a:rPr>
                        <a:t>Error Message</a:t>
                      </a:r>
                      <a:endParaRPr lang="en-US" sz="2400" b="1">
                        <a:effectLst/>
                        <a:latin typeface="quote-cjk-patch"/>
                      </a:endParaRPr>
                    </a:p>
                  </a:txBody>
                  <a:tcPr marL="62162" marR="82883" marT="51802" marB="51802" anchor="ctr"/>
                </a:tc>
                <a:tc>
                  <a:txBody>
                    <a:bodyPr/>
                    <a:lstStyle/>
                    <a:p>
                      <a:pPr algn="l"/>
                      <a:r>
                        <a:rPr lang="en-US" sz="2400" b="1" dirty="0">
                          <a:effectLst/>
                        </a:rPr>
                        <a:t>Cause</a:t>
                      </a:r>
                      <a:endParaRPr lang="en-US" sz="2400" b="1" dirty="0">
                        <a:effectLst/>
                        <a:latin typeface="quote-cjk-patch"/>
                      </a:endParaRPr>
                    </a:p>
                  </a:txBody>
                  <a:tcPr marL="82883" marR="82883" marT="51802" marB="51802" anchor="ctr"/>
                </a:tc>
                <a:tc>
                  <a:txBody>
                    <a:bodyPr/>
                    <a:lstStyle/>
                    <a:p>
                      <a:pPr algn="l"/>
                      <a:r>
                        <a:rPr lang="en-US" sz="2400" b="1" dirty="0">
                          <a:effectLst/>
                        </a:rPr>
                        <a:t>Solution</a:t>
                      </a:r>
                      <a:endParaRPr lang="en-US" sz="2400" b="1" dirty="0">
                        <a:effectLst/>
                        <a:latin typeface="quote-cjk-patch"/>
                      </a:endParaRPr>
                    </a:p>
                  </a:txBody>
                  <a:tcPr marL="82883" marR="82883" marT="51802" marB="51802" anchor="ctr"/>
                </a:tc>
                <a:extLst>
                  <a:ext uri="{0D108BD9-81ED-4DB2-BD59-A6C34878D82A}">
                    <a16:rowId xmlns:a16="http://schemas.microsoft.com/office/drawing/2014/main" val="3713391896"/>
                  </a:ext>
                </a:extLst>
              </a:tr>
              <a:tr h="793846">
                <a:tc>
                  <a:txBody>
                    <a:bodyPr/>
                    <a:lstStyle/>
                    <a:p>
                      <a:r>
                        <a:rPr lang="en-US" sz="2400">
                          <a:effectLst/>
                        </a:rPr>
                        <a:t>"could not calculate numerical derivatives"</a:t>
                      </a:r>
                      <a:endParaRPr lang="en-US" sz="2400" b="0">
                        <a:effectLst/>
                        <a:latin typeface="quote-cjk-patch"/>
                      </a:endParaRPr>
                    </a:p>
                  </a:txBody>
                  <a:tcPr marL="62162" marR="82883" marT="51802" marB="51802" anchor="ctr"/>
                </a:tc>
                <a:tc>
                  <a:txBody>
                    <a:bodyPr/>
                    <a:lstStyle/>
                    <a:p>
                      <a:r>
                        <a:rPr lang="en-US" sz="2400">
                          <a:effectLst/>
                        </a:rPr>
                        <a:t>Poor starting values</a:t>
                      </a:r>
                      <a:endParaRPr lang="en-US" sz="2400" b="0">
                        <a:effectLst/>
                        <a:latin typeface="quote-cjk-patch"/>
                      </a:endParaRPr>
                    </a:p>
                  </a:txBody>
                  <a:tcPr marL="82883" marR="82883" marT="51802" marB="51802" anchor="ctr"/>
                </a:tc>
                <a:tc>
                  <a:txBody>
                    <a:bodyPr/>
                    <a:lstStyle/>
                    <a:p>
                      <a:r>
                        <a:rPr lang="en-US" sz="2400">
                          <a:effectLst/>
                        </a:rPr>
                        <a:t>Adjust initials, use trace to debug</a:t>
                      </a:r>
                      <a:endParaRPr lang="en-US" sz="2400" b="0">
                        <a:effectLst/>
                        <a:latin typeface="quote-cjk-patch"/>
                      </a:endParaRPr>
                    </a:p>
                  </a:txBody>
                  <a:tcPr marL="82883" marR="62162" marT="51802" marB="51802" anchor="ctr"/>
                </a:tc>
                <a:extLst>
                  <a:ext uri="{0D108BD9-81ED-4DB2-BD59-A6C34878D82A}">
                    <a16:rowId xmlns:a16="http://schemas.microsoft.com/office/drawing/2014/main" val="3695508617"/>
                  </a:ext>
                </a:extLst>
              </a:tr>
              <a:tr h="793846">
                <a:tc>
                  <a:txBody>
                    <a:bodyPr/>
                    <a:lstStyle/>
                    <a:p>
                      <a:r>
                        <a:rPr lang="en-US" sz="2400">
                          <a:effectLst/>
                        </a:rPr>
                        <a:t>"region of estimates is not feasible"</a:t>
                      </a:r>
                      <a:endParaRPr lang="en-US" sz="2400" b="0">
                        <a:effectLst/>
                        <a:latin typeface="quote-cjk-patch"/>
                      </a:endParaRPr>
                    </a:p>
                  </a:txBody>
                  <a:tcPr marL="62162" marR="82883" marT="51802" marB="51802" anchor="ctr"/>
                </a:tc>
                <a:tc>
                  <a:txBody>
                    <a:bodyPr/>
                    <a:lstStyle/>
                    <a:p>
                      <a:r>
                        <a:rPr lang="en-US" sz="2400">
                          <a:effectLst/>
                        </a:rPr>
                        <a:t>Parameter constraints violated</a:t>
                      </a:r>
                      <a:endParaRPr lang="en-US" sz="2400" b="0">
                        <a:effectLst/>
                        <a:latin typeface="quote-cjk-patch"/>
                      </a:endParaRPr>
                    </a:p>
                  </a:txBody>
                  <a:tcPr marL="82883" marR="82883" marT="51802" marB="51802" anchor="ctr"/>
                </a:tc>
                <a:tc>
                  <a:txBody>
                    <a:bodyPr/>
                    <a:lstStyle/>
                    <a:p>
                      <a:r>
                        <a:rPr lang="en-US" sz="2400">
                          <a:effectLst/>
                        </a:rPr>
                        <a:t>Use constraints() to bound parameters</a:t>
                      </a:r>
                      <a:endParaRPr lang="en-US" sz="2400" b="0">
                        <a:effectLst/>
                        <a:latin typeface="quote-cjk-patch"/>
                      </a:endParaRPr>
                    </a:p>
                  </a:txBody>
                  <a:tcPr marL="82883" marR="62162" marT="51802" marB="51802" anchor="ctr"/>
                </a:tc>
                <a:extLst>
                  <a:ext uri="{0D108BD9-81ED-4DB2-BD59-A6C34878D82A}">
                    <a16:rowId xmlns:a16="http://schemas.microsoft.com/office/drawing/2014/main" val="1580858"/>
                  </a:ext>
                </a:extLst>
              </a:tr>
              <a:tr h="793846">
                <a:tc>
                  <a:txBody>
                    <a:bodyPr/>
                    <a:lstStyle/>
                    <a:p>
                      <a:r>
                        <a:rPr lang="en-US" sz="2400">
                          <a:effectLst/>
                        </a:rPr>
                        <a:t>"convergence not achieved"</a:t>
                      </a:r>
                      <a:endParaRPr lang="en-US" sz="2400" b="0">
                        <a:effectLst/>
                        <a:latin typeface="quote-cjk-patch"/>
                      </a:endParaRPr>
                    </a:p>
                  </a:txBody>
                  <a:tcPr marL="62162" marR="82883" marT="51802" marB="51802" anchor="ctr"/>
                </a:tc>
                <a:tc>
                  <a:txBody>
                    <a:bodyPr/>
                    <a:lstStyle/>
                    <a:p>
                      <a:r>
                        <a:rPr lang="en-US" sz="2400">
                          <a:effectLst/>
                        </a:rPr>
                        <a:t>Iteration limit reached</a:t>
                      </a:r>
                      <a:endParaRPr lang="en-US" sz="2400" b="0">
                        <a:effectLst/>
                        <a:latin typeface="quote-cjk-patch"/>
                      </a:endParaRPr>
                    </a:p>
                  </a:txBody>
                  <a:tcPr marL="82883" marR="82883" marT="51802" marB="51802" anchor="ctr"/>
                </a:tc>
                <a:tc>
                  <a:txBody>
                    <a:bodyPr/>
                    <a:lstStyle/>
                    <a:p>
                      <a:r>
                        <a:rPr lang="en-US" sz="2400">
                          <a:effectLst/>
                        </a:rPr>
                        <a:t>Increase iterate(#) or improve initials</a:t>
                      </a:r>
                      <a:endParaRPr lang="en-US" sz="2400" b="0">
                        <a:effectLst/>
                        <a:latin typeface="quote-cjk-patch"/>
                      </a:endParaRPr>
                    </a:p>
                  </a:txBody>
                  <a:tcPr marL="82883" marR="62162" marT="51802" marB="51802" anchor="ctr"/>
                </a:tc>
                <a:extLst>
                  <a:ext uri="{0D108BD9-81ED-4DB2-BD59-A6C34878D82A}">
                    <a16:rowId xmlns:a16="http://schemas.microsoft.com/office/drawing/2014/main" val="3934126593"/>
                  </a:ext>
                </a:extLst>
              </a:tr>
              <a:tr h="793846">
                <a:tc>
                  <a:txBody>
                    <a:bodyPr/>
                    <a:lstStyle/>
                    <a:p>
                      <a:r>
                        <a:rPr lang="en-US" sz="2400">
                          <a:effectLst/>
                        </a:rPr>
                        <a:t>"singular matrix"</a:t>
                      </a:r>
                      <a:endParaRPr lang="en-US" sz="2400" b="0">
                        <a:effectLst/>
                        <a:latin typeface="quote-cjk-patch"/>
                      </a:endParaRPr>
                    </a:p>
                  </a:txBody>
                  <a:tcPr marL="62162" marR="82883" marT="51802" marB="51802" anchor="ctr"/>
                </a:tc>
                <a:tc>
                  <a:txBody>
                    <a:bodyPr/>
                    <a:lstStyle/>
                    <a:p>
                      <a:r>
                        <a:rPr lang="en-US" sz="2400">
                          <a:effectLst/>
                        </a:rPr>
                        <a:t>Model overparameterized</a:t>
                      </a:r>
                      <a:endParaRPr lang="en-US" sz="2400" b="0">
                        <a:effectLst/>
                        <a:latin typeface="quote-cjk-patch"/>
                      </a:endParaRPr>
                    </a:p>
                  </a:txBody>
                  <a:tcPr marL="82883" marR="82883" marT="51802" marB="51802" anchor="ctr"/>
                </a:tc>
                <a:tc>
                  <a:txBody>
                    <a:bodyPr/>
                    <a:lstStyle/>
                    <a:p>
                      <a:r>
                        <a:rPr lang="en-US" sz="2400">
                          <a:effectLst/>
                        </a:rPr>
                        <a:t>Simplify model or get more data</a:t>
                      </a:r>
                      <a:endParaRPr lang="en-US" sz="2400" b="0">
                        <a:effectLst/>
                        <a:latin typeface="quote-cjk-patch"/>
                      </a:endParaRPr>
                    </a:p>
                  </a:txBody>
                  <a:tcPr marL="82883" marR="62162" marT="51802" marB="51802" anchor="ctr"/>
                </a:tc>
                <a:extLst>
                  <a:ext uri="{0D108BD9-81ED-4DB2-BD59-A6C34878D82A}">
                    <a16:rowId xmlns:a16="http://schemas.microsoft.com/office/drawing/2014/main" val="3897380345"/>
                  </a:ext>
                </a:extLst>
              </a:tr>
              <a:tr h="1068685">
                <a:tc>
                  <a:txBody>
                    <a:bodyPr/>
                    <a:lstStyle/>
                    <a:p>
                      <a:r>
                        <a:rPr lang="en-US" sz="2400">
                          <a:effectLst/>
                        </a:rPr>
                        <a:t>"variance matrix is nonsymmetric"</a:t>
                      </a:r>
                      <a:endParaRPr lang="en-US" sz="2400" b="0">
                        <a:effectLst/>
                        <a:latin typeface="quote-cjk-patch"/>
                      </a:endParaRPr>
                    </a:p>
                  </a:txBody>
                  <a:tcPr marL="62162" marR="82883" marT="51802" marB="51802" anchor="ctr"/>
                </a:tc>
                <a:tc>
                  <a:txBody>
                    <a:bodyPr/>
                    <a:lstStyle/>
                    <a:p>
                      <a:r>
                        <a:rPr lang="en-US" sz="2400" dirty="0">
                          <a:effectLst/>
                        </a:rPr>
                        <a:t>Hessian issues</a:t>
                      </a:r>
                      <a:endParaRPr lang="en-US" sz="2400" b="0" dirty="0">
                        <a:effectLst/>
                        <a:latin typeface="quote-cjk-patch"/>
                      </a:endParaRPr>
                    </a:p>
                  </a:txBody>
                  <a:tcPr marL="82883" marR="82883" marT="51802" marB="51802" anchor="ctr"/>
                </a:tc>
                <a:tc>
                  <a:txBody>
                    <a:bodyPr/>
                    <a:lstStyle/>
                    <a:p>
                      <a:r>
                        <a:rPr lang="en-US" sz="2400" dirty="0">
                          <a:effectLst/>
                        </a:rPr>
                        <a:t>Try </a:t>
                      </a:r>
                      <a:r>
                        <a:rPr lang="en-US" sz="2400" dirty="0" err="1">
                          <a:effectLst/>
                        </a:rPr>
                        <a:t>vce</a:t>
                      </a:r>
                      <a:r>
                        <a:rPr lang="en-US" sz="2400" dirty="0">
                          <a:effectLst/>
                        </a:rPr>
                        <a:t>(robust) or different technique()</a:t>
                      </a:r>
                      <a:endParaRPr lang="en-US" sz="2400" b="0" dirty="0">
                        <a:effectLst/>
                        <a:latin typeface="quote-cjk-patch"/>
                      </a:endParaRPr>
                    </a:p>
                  </a:txBody>
                  <a:tcPr marL="82883" marR="62162" marT="51802" marB="51802" anchor="ctr"/>
                </a:tc>
                <a:extLst>
                  <a:ext uri="{0D108BD9-81ED-4DB2-BD59-A6C34878D82A}">
                    <a16:rowId xmlns:a16="http://schemas.microsoft.com/office/drawing/2014/main" val="3716623177"/>
                  </a:ext>
                </a:extLst>
              </a:tr>
            </a:tbl>
          </a:graphicData>
        </a:graphic>
      </p:graphicFrame>
    </p:spTree>
    <p:extLst>
      <p:ext uri="{BB962C8B-B14F-4D97-AF65-F5344CB8AC3E}">
        <p14:creationId xmlns:p14="http://schemas.microsoft.com/office/powerpoint/2010/main" val="4014400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5618"/>
            <a:ext cx="10515600" cy="855801"/>
          </a:xfrm>
        </p:spPr>
        <p:txBody>
          <a:bodyPr/>
          <a:lstStyle/>
          <a:p>
            <a:r>
              <a:rPr lang="en-US" sz="3600" b="1" dirty="0"/>
              <a:t>Debugging tools</a:t>
            </a:r>
            <a:r>
              <a:rPr lang="en-US" b="1" dirty="0"/>
              <a:t>:</a:t>
            </a:r>
            <a:endParaRPr lang="en-US" dirty="0"/>
          </a:p>
        </p:txBody>
      </p:sp>
      <p:sp>
        <p:nvSpPr>
          <p:cNvPr id="4" name="Rectangle 1"/>
          <p:cNvSpPr>
            <a:spLocks noGrp="1" noChangeArrowheads="1"/>
          </p:cNvSpPr>
          <p:nvPr>
            <p:ph idx="1"/>
          </p:nvPr>
        </p:nvSpPr>
        <p:spPr bwMode="auto">
          <a:xfrm>
            <a:off x="838200" y="1571419"/>
            <a:ext cx="10233991" cy="4308872"/>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700">
                <a:solidFill>
                  <a:srgbClr val="6A737D"/>
                </a:solidFill>
                <a:latin typeface="Consolas"/>
              </a:rPr>
              <a:t>* Trace each iteration</a:t>
            </a:r>
          </a:p>
          <a:p>
            <a:pPr algn="l">
              <a:lnSpc>
                <a:spcPct val="100000"/>
              </a:lnSpc>
              <a:spcBef>
                <a:spcPts val="0"/>
              </a:spcBef>
              <a:spcAft>
                <a:spcPts val="0"/>
              </a:spcAft>
            </a:pPr>
            <a:r>
              <a:rPr sz="1700">
                <a:solidFill>
                  <a:srgbClr val="1F2328"/>
                </a:solidFill>
                <a:latin typeface="Consolas"/>
              </a:rPr>
              <a:t>nl (y = {a} * exp({b} * x)), initial(a 40 b -0.0005) trace</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Increase the iteration limit</a:t>
            </a:r>
          </a:p>
          <a:p>
            <a:pPr algn="l">
              <a:lnSpc>
                <a:spcPct val="100000"/>
              </a:lnSpc>
              <a:spcBef>
                <a:spcPts val="0"/>
              </a:spcBef>
              <a:spcAft>
                <a:spcPts val="0"/>
              </a:spcAft>
            </a:pPr>
            <a:r>
              <a:rPr sz="1700">
                <a:solidFill>
                  <a:srgbClr val="1F2328"/>
                </a:solidFill>
                <a:latin typeface="Consolas"/>
              </a:rPr>
              <a:t>nl (y = {a} * exp({b} * x)), initial(a 40 b -0.0005) iterate(100)</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Try a different algorithm</a:t>
            </a:r>
          </a:p>
          <a:p>
            <a:pPr algn="l">
              <a:lnSpc>
                <a:spcPct val="100000"/>
              </a:lnSpc>
              <a:spcBef>
                <a:spcPts val="0"/>
              </a:spcBef>
              <a:spcAft>
                <a:spcPts val="0"/>
              </a:spcAft>
            </a:pPr>
            <a:r>
              <a:rPr sz="1700">
                <a:solidFill>
                  <a:srgbClr val="1F2328"/>
                </a:solidFill>
                <a:latin typeface="Consolas"/>
              </a:rPr>
              <a:t>nl (y = {a} * exp({b} * x)), initial(a 40 b -0.0005) technique(gn)</a:t>
            </a:r>
          </a:p>
        </p:txBody>
      </p:sp>
    </p:spTree>
    <p:extLst>
      <p:ext uri="{BB962C8B-B14F-4D97-AF65-F5344CB8AC3E}">
        <p14:creationId xmlns:p14="http://schemas.microsoft.com/office/powerpoint/2010/main" val="3714685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4887"/>
            <a:ext cx="10515600" cy="855801"/>
          </a:xfrm>
        </p:spPr>
        <p:txBody>
          <a:bodyPr>
            <a:normAutofit/>
          </a:bodyPr>
          <a:lstStyle/>
          <a:p>
            <a:r>
              <a:rPr lang="en-US" sz="3600" b="1" dirty="0"/>
              <a:t>Hands-on Exercise</a:t>
            </a:r>
          </a:p>
        </p:txBody>
      </p:sp>
      <p:sp>
        <p:nvSpPr>
          <p:cNvPr id="3" name="Content Placeholder 2"/>
          <p:cNvSpPr>
            <a:spLocks noGrp="1"/>
          </p:cNvSpPr>
          <p:nvPr>
            <p:ph idx="1"/>
          </p:nvPr>
        </p:nvSpPr>
        <p:spPr>
          <a:xfrm>
            <a:off x="838200" y="1690688"/>
            <a:ext cx="10515600" cy="4486275"/>
          </a:xfrm>
        </p:spPr>
        <p:txBody>
          <a:bodyPr/>
          <a:lstStyle/>
          <a:p>
            <a:pPr marL="0" indent="0">
              <a:buNone/>
            </a:pPr>
            <a:r>
              <a:rPr lang="en-US" dirty="0"/>
              <a:t>You are a clinical epidemiologist studying the relationship between hospital bed occupancy (%) and infection rate (per 1000 patient-days) . </a:t>
            </a:r>
            <a:endParaRPr lang="en-US" dirty="0" smtClean="0"/>
          </a:p>
          <a:p>
            <a:pPr marL="0" indent="0">
              <a:buNone/>
            </a:pPr>
            <a:r>
              <a:rPr lang="en-US" dirty="0" smtClean="0"/>
              <a:t>The </a:t>
            </a:r>
            <a:r>
              <a:rPr lang="en-US" dirty="0"/>
              <a:t>relationship follows a logistic sigmoid pattern – infections remain low until occupancy exceeds a threshold, then rise rapidly to a maximum</a:t>
            </a:r>
            <a:r>
              <a:rPr lang="en-US" dirty="0" smtClean="0"/>
              <a:t>.</a:t>
            </a:r>
          </a:p>
          <a:p>
            <a:pPr marL="0" indent="0">
              <a:buNone/>
            </a:pPr>
            <a:r>
              <a:rPr lang="en-US" dirty="0" err="1" smtClean="0"/>
              <a:t>DatasetL</a:t>
            </a:r>
            <a:r>
              <a:rPr lang="en-US" dirty="0" smtClean="0"/>
              <a:t> use inbuilt data</a:t>
            </a:r>
            <a:endParaRPr lang="en-US" dirty="0" smtClean="0"/>
          </a:p>
          <a:p>
            <a:pPr marL="0" indent="0">
              <a:buNone/>
            </a:pPr>
            <a:endParaRPr lang="en-US" dirty="0"/>
          </a:p>
        </p:txBody>
      </p:sp>
    </p:spTree>
    <p:extLst>
      <p:ext uri="{BB962C8B-B14F-4D97-AF65-F5344CB8AC3E}">
        <p14:creationId xmlns:p14="http://schemas.microsoft.com/office/powerpoint/2010/main" val="7681424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113183" y="945662"/>
            <a:ext cx="9998765" cy="5006434"/>
          </a:xfrm>
          <a:prstGeom prst="rect">
            <a:avLst/>
          </a:prstGeom>
          <a:solidFill>
            <a:srgbClr val="EBEE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dirty="0" smtClean="0">
                <a:ln>
                  <a:noFill/>
                </a:ln>
                <a:solidFill>
                  <a:srgbClr val="0F1115"/>
                </a:solidFill>
                <a:effectLst/>
                <a:latin typeface="quote-cjk-patch"/>
              </a:rPr>
              <a:t>Your tasks (complete in Stata):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600" b="0" i="0" u="none" strike="noStrike" cap="none" normalizeH="0" baseline="0" dirty="0" smtClean="0">
                <a:ln>
                  <a:noFill/>
                </a:ln>
                <a:solidFill>
                  <a:srgbClr val="0F1115"/>
                </a:solidFill>
                <a:effectLst/>
                <a:latin typeface="quote-cjk-patch"/>
              </a:rPr>
              <a:t>Load/create the data (code provided)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600" b="0" i="0" u="none" strike="noStrike" cap="none" normalizeH="0" baseline="0" dirty="0" smtClean="0">
                <a:ln>
                  <a:noFill/>
                </a:ln>
                <a:solidFill>
                  <a:srgbClr val="0F1115"/>
                </a:solidFill>
                <a:effectLst/>
                <a:latin typeface="quote-cjk-patch"/>
              </a:rPr>
              <a:t>Plot infection rate vs occupancy</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600" b="0" i="0" u="none" strike="noStrike" cap="none" normalizeH="0" baseline="0" dirty="0" smtClean="0">
                <a:ln>
                  <a:noFill/>
                </a:ln>
                <a:solidFill>
                  <a:srgbClr val="0F1115"/>
                </a:solidFill>
                <a:effectLst/>
                <a:latin typeface="quote-cjk-patch"/>
              </a:rPr>
              <a:t>Fit a logistic growth model: </a:t>
            </a:r>
          </a:p>
          <a:p>
            <a:pPr marL="0" marR="0" lvl="0" indent="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smtClean="0">
                <a:ln>
                  <a:noFill/>
                </a:ln>
                <a:solidFill>
                  <a:srgbClr val="0F1115"/>
                </a:solidFill>
                <a:effectLst/>
                <a:latin typeface="Menlo"/>
              </a:rPr>
              <a:t>rate = {</a:t>
            </a:r>
            <a:r>
              <a:rPr kumimoji="0" lang="en-US" altLang="en-US" sz="2600" b="0" i="0" u="none" strike="noStrike" cap="none" normalizeH="0" baseline="0" dirty="0" err="1" smtClean="0">
                <a:ln>
                  <a:noFill/>
                </a:ln>
                <a:solidFill>
                  <a:srgbClr val="0F1115"/>
                </a:solidFill>
                <a:effectLst/>
                <a:latin typeface="Menlo"/>
              </a:rPr>
              <a:t>asym</a:t>
            </a:r>
            <a:r>
              <a:rPr kumimoji="0" lang="en-US" altLang="en-US" sz="2600" b="0" i="0" u="none" strike="noStrike" cap="none" normalizeH="0" baseline="0" dirty="0" smtClean="0">
                <a:ln>
                  <a:noFill/>
                </a:ln>
                <a:solidFill>
                  <a:srgbClr val="0F1115"/>
                </a:solidFill>
                <a:effectLst/>
                <a:latin typeface="Menlo"/>
              </a:rPr>
              <a:t>} / (1 + </a:t>
            </a:r>
            <a:r>
              <a:rPr kumimoji="0" lang="en-US" altLang="en-US" sz="2600" b="0" i="0" u="none" strike="noStrike" cap="none" normalizeH="0" baseline="0" dirty="0" err="1" smtClean="0">
                <a:ln>
                  <a:noFill/>
                </a:ln>
                <a:solidFill>
                  <a:srgbClr val="0F1115"/>
                </a:solidFill>
                <a:effectLst/>
                <a:latin typeface="Menlo"/>
              </a:rPr>
              <a:t>exp</a:t>
            </a:r>
            <a:r>
              <a:rPr kumimoji="0" lang="en-US" altLang="en-US" sz="2600" b="0" i="0" u="none" strike="noStrike" cap="none" normalizeH="0" baseline="0" dirty="0" smtClean="0">
                <a:ln>
                  <a:noFill/>
                </a:ln>
                <a:solidFill>
                  <a:srgbClr val="0F1115"/>
                </a:solidFill>
                <a:effectLst/>
                <a:latin typeface="Menlo"/>
              </a:rPr>
              <a:t>({</a:t>
            </a:r>
            <a:r>
              <a:rPr kumimoji="0" lang="en-US" altLang="en-US" sz="2600" b="0" i="0" u="none" strike="noStrike" cap="none" normalizeH="0" baseline="0" dirty="0" err="1" smtClean="0">
                <a:ln>
                  <a:noFill/>
                </a:ln>
                <a:solidFill>
                  <a:srgbClr val="0F1115"/>
                </a:solidFill>
                <a:effectLst/>
                <a:latin typeface="Menlo"/>
              </a:rPr>
              <a:t>rate_g</a:t>
            </a:r>
            <a:r>
              <a:rPr kumimoji="0" lang="en-US" altLang="en-US" sz="2600" b="0" i="0" u="none" strike="noStrike" cap="none" normalizeH="0" baseline="0" dirty="0" smtClean="0">
                <a:ln>
                  <a:noFill/>
                </a:ln>
                <a:solidFill>
                  <a:srgbClr val="0F1115"/>
                </a:solidFill>
                <a:effectLst/>
                <a:latin typeface="Menlo"/>
              </a:rPr>
              <a:t>} * (occupancy - {inflect})))</a:t>
            </a:r>
            <a:endParaRPr kumimoji="0" lang="en-US" altLang="en-US" sz="2600" b="0" i="0" u="none" strike="noStrike" cap="none" normalizeH="0" baseline="0" dirty="0" smtClean="0">
              <a:ln>
                <a:noFill/>
              </a:ln>
              <a:solidFill>
                <a:srgbClr val="0F1115"/>
              </a:solidFill>
              <a:effectLst/>
              <a:latin typeface="quote-cjk-patch"/>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600" b="0" i="0" u="none" strike="noStrike" cap="none" normalizeH="0" baseline="0" dirty="0" smtClean="0">
                <a:ln>
                  <a:noFill/>
                </a:ln>
                <a:solidFill>
                  <a:srgbClr val="0F1115"/>
                </a:solidFill>
                <a:effectLst/>
                <a:latin typeface="quote-cjk-patch"/>
              </a:rPr>
              <a:t>Provide reasonable starting values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600" b="0" i="0" u="none" strike="noStrike" cap="none" normalizeH="0" baseline="0" dirty="0" smtClean="0">
                <a:ln>
                  <a:noFill/>
                </a:ln>
                <a:solidFill>
                  <a:srgbClr val="0F1115"/>
                </a:solidFill>
                <a:effectLst/>
                <a:latin typeface="quote-cjk-patch"/>
              </a:rPr>
              <a:t>Interpret the three parameters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600" b="0" i="0" u="none" strike="noStrike" cap="none" normalizeH="0" baseline="0" dirty="0" smtClean="0">
                <a:ln>
                  <a:noFill/>
                </a:ln>
                <a:solidFill>
                  <a:srgbClr val="0F1115"/>
                </a:solidFill>
                <a:effectLst/>
                <a:latin typeface="quote-cjk-patch"/>
              </a:rPr>
              <a:t>Predict fitted values and plot actual vs predicted</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600" b="0" i="0" u="none" strike="noStrike" cap="none" normalizeH="0" baseline="0" dirty="0" smtClean="0">
                <a:ln>
                  <a:noFill/>
                </a:ln>
                <a:solidFill>
                  <a:srgbClr val="0F1115"/>
                </a:solidFill>
                <a:effectLst/>
                <a:latin typeface="quote-cjk-patch"/>
              </a:rPr>
              <a:t>Calculate the occupancy level at 50% of maximum infection rate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600" b="0" i="0" u="none" strike="noStrike" cap="none" normalizeH="0" baseline="0" dirty="0" smtClean="0">
                <a:ln>
                  <a:noFill/>
                </a:ln>
                <a:solidFill>
                  <a:srgbClr val="0F1115"/>
                </a:solidFill>
                <a:effectLst/>
                <a:latin typeface="quote-cjk-patch"/>
              </a:rPr>
              <a:t>Check residuals (Q-Q plot and residual vs fitted)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4819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6591"/>
            <a:ext cx="10515600" cy="675861"/>
          </a:xfrm>
        </p:spPr>
        <p:txBody>
          <a:bodyPr>
            <a:normAutofit fontScale="90000"/>
          </a:bodyPr>
          <a:lstStyle/>
          <a:p>
            <a:r>
              <a:rPr lang="en-US" b="1" dirty="0"/>
              <a:t>Exercise – Data Creation Code</a:t>
            </a:r>
          </a:p>
        </p:txBody>
      </p:sp>
      <p:sp>
        <p:nvSpPr>
          <p:cNvPr id="4" name="Rectangle 1"/>
          <p:cNvSpPr>
            <a:spLocks noGrp="1" noChangeArrowheads="1"/>
          </p:cNvSpPr>
          <p:nvPr>
            <p:ph idx="1"/>
          </p:nvPr>
        </p:nvSpPr>
        <p:spPr bwMode="auto">
          <a:xfrm>
            <a:off x="838201" y="1038285"/>
            <a:ext cx="10515599" cy="5170646"/>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600">
                <a:solidFill>
                  <a:srgbClr val="6A737D"/>
                </a:solidFill>
                <a:latin typeface="Consolas"/>
              </a:rPr>
              <a:t>* ================================================</a:t>
            </a:r>
            <a:endParaRPr kumimoji="0" lang="en-US" altLang="en-US" sz="2400" b="1"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600">
                <a:solidFill>
                  <a:srgbClr val="6A737D"/>
                </a:solidFill>
                <a:latin typeface="Consolas"/>
              </a:rPr>
              <a:t>* EXERCISE: Hospital infection-rate data</a:t>
            </a:r>
          </a:p>
          <a:p>
            <a:pPr algn="l">
              <a:lnSpc>
                <a:spcPct val="100000"/>
              </a:lnSpc>
              <a:spcBef>
                <a:spcPts val="0"/>
              </a:spcBef>
              <a:spcAft>
                <a:spcPts val="0"/>
              </a:spcAft>
            </a:pPr>
            <a:r>
              <a:rPr sz="1600">
                <a:solidFill>
                  <a:srgbClr val="6A737D"/>
                </a:solidFill>
                <a:latin typeface="Consolas"/>
              </a:rPr>
              <a:t>* ================================================</a:t>
            </a:r>
          </a:p>
          <a:p>
            <a:pPr algn="l">
              <a:lnSpc>
                <a:spcPct val="100000"/>
              </a:lnSpc>
              <a:spcBef>
                <a:spcPts val="0"/>
              </a:spcBef>
              <a:spcAft>
                <a:spcPts val="0"/>
              </a:spcAft>
            </a:pPr>
            <a:r>
              <a:rPr sz="1600">
                <a:solidFill>
                  <a:srgbClr val="1F2328"/>
                </a:solidFill>
                <a:latin typeface="Consolas"/>
              </a:rPr>
              <a:t>clear</a:t>
            </a:r>
          </a:p>
          <a:p>
            <a:pPr algn="l">
              <a:lnSpc>
                <a:spcPct val="100000"/>
              </a:lnSpc>
              <a:spcBef>
                <a:spcPts val="0"/>
              </a:spcBef>
              <a:spcAft>
                <a:spcPts val="0"/>
              </a:spcAft>
            </a:pPr>
            <a:r>
              <a:rPr sz="1600">
                <a:solidFill>
                  <a:srgbClr val="1F2328"/>
                </a:solidFill>
                <a:latin typeface="Consolas"/>
              </a:rPr>
              <a:t>set seed 999</a:t>
            </a:r>
          </a:p>
          <a:p>
            <a:pPr algn="l">
              <a:lnSpc>
                <a:spcPct val="100000"/>
              </a:lnSpc>
              <a:spcBef>
                <a:spcPts val="0"/>
              </a:spcBef>
              <a:spcAft>
                <a:spcPts val="0"/>
              </a:spcAft>
            </a:pPr>
            <a:r>
              <a:rPr sz="1600">
                <a:solidFill>
                  <a:srgbClr val="1F2328"/>
                </a:solidFill>
                <a:latin typeface="Consolas"/>
              </a:rPr>
              <a:t>set obs 30</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Hospital occupancy (%)</a:t>
            </a:r>
          </a:p>
          <a:p>
            <a:pPr algn="l">
              <a:lnSpc>
                <a:spcPct val="100000"/>
              </a:lnSpc>
              <a:spcBef>
                <a:spcPts val="0"/>
              </a:spcBef>
              <a:spcAft>
                <a:spcPts val="0"/>
              </a:spcAft>
            </a:pPr>
            <a:r>
              <a:rPr sz="1600">
                <a:solidFill>
                  <a:srgbClr val="1F2328"/>
                </a:solidFill>
                <a:latin typeface="Consolas"/>
              </a:rPr>
              <a:t>gen occupancy = 40 + (_n - 1) * (95 - 40) / 29</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True logistic parameters:</a:t>
            </a:r>
          </a:p>
          <a:p>
            <a:pPr algn="l">
              <a:lnSpc>
                <a:spcPct val="100000"/>
              </a:lnSpc>
              <a:spcBef>
                <a:spcPts val="0"/>
              </a:spcBef>
              <a:spcAft>
                <a:spcPts val="0"/>
              </a:spcAft>
            </a:pPr>
            <a:r>
              <a:rPr sz="1600">
                <a:solidFill>
                  <a:srgbClr val="6A737D"/>
                </a:solidFill>
                <a:latin typeface="Consolas"/>
              </a:rPr>
              <a:t>*   asymptote (max rate) = 12 per 1000 patient-days</a:t>
            </a:r>
          </a:p>
          <a:p>
            <a:pPr algn="l">
              <a:lnSpc>
                <a:spcPct val="100000"/>
              </a:lnSpc>
              <a:spcBef>
                <a:spcPts val="0"/>
              </a:spcBef>
              <a:spcAft>
                <a:spcPts val="0"/>
              </a:spcAft>
            </a:pPr>
            <a:r>
              <a:rPr sz="1600">
                <a:solidFill>
                  <a:srgbClr val="6A737D"/>
                </a:solidFill>
                <a:latin typeface="Consolas"/>
              </a:rPr>
              <a:t>*   inflection point     = 75% occupancy</a:t>
            </a:r>
          </a:p>
        </p:txBody>
      </p:sp>
    </p:spTree>
    <p:extLst>
      <p:ext uri="{BB962C8B-B14F-4D97-AF65-F5344CB8AC3E}">
        <p14:creationId xmlns:p14="http://schemas.microsoft.com/office/powerpoint/2010/main" val="33666965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Exercise – Data Creation Code</a:t>
            </a:r>
          </a:p>
        </p:txBody>
      </p:sp>
      <p:sp>
        <p:nvSpPr>
          <p:cNvPr id="4" name="Rectangle 1"/>
          <p:cNvSpPr>
            <a:spLocks noGrp="1" noChangeArrowheads="1"/>
          </p:cNvSpPr>
          <p:nvPr>
            <p:ph idx="1"/>
          </p:nvPr>
        </p:nvSpPr>
        <p:spPr bwMode="auto">
          <a:xfrm>
            <a:off x="838200" y="843346"/>
            <a:ext cx="10515599" cy="492442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400">
                <a:solidFill>
                  <a:srgbClr val="6A737D"/>
                </a:solidFill>
                <a:latin typeface="Consolas"/>
              </a:rPr>
              <a:t>* Growth rate = 0.3</a:t>
            </a:r>
            <a:endParaRPr kumimoji="0" lang="en-US" altLang="en-US" sz="2000" b="1"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400">
                <a:solidFill>
                  <a:srgbClr val="1F2328"/>
                </a:solidFill>
                <a:latin typeface="Consolas"/>
              </a:rPr>
              <a:t>gen infection_rate = 12 / (1 + exp(0.3*(occupancy-75))) + rnormal(0, 0.5)</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Round for realism</a:t>
            </a:r>
          </a:p>
          <a:p>
            <a:pPr algn="l">
              <a:lnSpc>
                <a:spcPct val="100000"/>
              </a:lnSpc>
              <a:spcBef>
                <a:spcPts val="0"/>
              </a:spcBef>
              <a:spcAft>
                <a:spcPts val="0"/>
              </a:spcAft>
            </a:pPr>
            <a:r>
              <a:rPr sz="1400">
                <a:solidFill>
                  <a:srgbClr val="1F2328"/>
                </a:solidFill>
                <a:latin typeface="Consolas"/>
              </a:rPr>
              <a:t>replace infection_rate = round(infection_rate, 0.1)</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Label variables</a:t>
            </a:r>
          </a:p>
          <a:p>
            <a:pPr algn="l">
              <a:lnSpc>
                <a:spcPct val="100000"/>
              </a:lnSpc>
              <a:spcBef>
                <a:spcPts val="0"/>
              </a:spcBef>
              <a:spcAft>
                <a:spcPts val="0"/>
              </a:spcAft>
            </a:pPr>
            <a:r>
              <a:rPr sz="1400">
                <a:solidFill>
                  <a:srgbClr val="1F2328"/>
                </a:solidFill>
                <a:latin typeface="Consolas"/>
              </a:rPr>
              <a:t>label variable occupancy "Hospital Bed Occupancy (%)"</a:t>
            </a:r>
          </a:p>
          <a:p>
            <a:pPr algn="l">
              <a:lnSpc>
                <a:spcPct val="100000"/>
              </a:lnSpc>
              <a:spcBef>
                <a:spcPts val="0"/>
              </a:spcBef>
              <a:spcAft>
                <a:spcPts val="0"/>
              </a:spcAft>
            </a:pPr>
            <a:r>
              <a:rPr sz="1400">
                <a:solidFill>
                  <a:srgbClr val="1F2328"/>
                </a:solidFill>
                <a:latin typeface="Consolas"/>
              </a:rPr>
              <a:t>label variable infection_rate "Infection Rate (per 1000 patient-days)"</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View and plot</a:t>
            </a:r>
          </a:p>
          <a:p>
            <a:pPr algn="l">
              <a:lnSpc>
                <a:spcPct val="100000"/>
              </a:lnSpc>
              <a:spcBef>
                <a:spcPts val="0"/>
              </a:spcBef>
              <a:spcAft>
                <a:spcPts val="0"/>
              </a:spcAft>
            </a:pPr>
            <a:r>
              <a:rPr sz="1400">
                <a:solidFill>
                  <a:srgbClr val="1F2328"/>
                </a:solidFill>
                <a:latin typeface="Consolas"/>
              </a:rPr>
              <a:t>list in 1/10</a:t>
            </a:r>
          </a:p>
          <a:p>
            <a:pPr algn="l">
              <a:lnSpc>
                <a:spcPct val="100000"/>
              </a:lnSpc>
              <a:spcBef>
                <a:spcPts val="0"/>
              </a:spcBef>
              <a:spcAft>
                <a:spcPts val="0"/>
              </a:spcAft>
            </a:pPr>
            <a:r>
              <a:rPr sz="1400">
                <a:solidFill>
                  <a:srgbClr val="1F2328"/>
                </a:solidFill>
                <a:latin typeface="Consolas"/>
              </a:rPr>
              <a:t>twoway scatter infection_rate occupancy, ///</a:t>
            </a:r>
          </a:p>
          <a:p>
            <a:pPr algn="l">
              <a:lnSpc>
                <a:spcPct val="100000"/>
              </a:lnSpc>
              <a:spcBef>
                <a:spcPts val="0"/>
              </a:spcBef>
              <a:spcAft>
                <a:spcPts val="0"/>
              </a:spcAft>
            </a:pPr>
            <a:r>
              <a:rPr sz="1400">
                <a:solidFill>
                  <a:srgbClr val="1F2328"/>
                </a:solidFill>
                <a:latin typeface="Consolas"/>
              </a:rPr>
              <a:t>    title("Hospital Infection Rate by Occupancy") ///</a:t>
            </a:r>
          </a:p>
          <a:p>
            <a:pPr algn="l">
              <a:lnSpc>
                <a:spcPct val="100000"/>
              </a:lnSpc>
              <a:spcBef>
                <a:spcPts val="0"/>
              </a:spcBef>
              <a:spcAft>
                <a:spcPts val="0"/>
              </a:spcAft>
            </a:pPr>
            <a:r>
              <a:rPr sz="1400">
                <a:solidFill>
                  <a:srgbClr val="1F2328"/>
                </a:solidFill>
                <a:latin typeface="Consolas"/>
              </a:rPr>
              <a:t>    xtitle("Occupancy (%)") ///</a:t>
            </a:r>
          </a:p>
          <a:p>
            <a:pPr algn="l">
              <a:lnSpc>
                <a:spcPct val="100000"/>
              </a:lnSpc>
              <a:spcBef>
                <a:spcPts val="0"/>
              </a:spcBef>
              <a:spcAft>
                <a:spcPts val="0"/>
              </a:spcAft>
            </a:pPr>
            <a:r>
              <a:rPr sz="1400">
                <a:solidFill>
                  <a:srgbClr val="1F2328"/>
                </a:solidFill>
                <a:latin typeface="Consolas"/>
              </a:rPr>
              <a:t>    ytitle("Infection Rate (per 1000 patient-days)")</a:t>
            </a:r>
          </a:p>
        </p:txBody>
      </p:sp>
    </p:spTree>
    <p:extLst>
      <p:ext uri="{BB962C8B-B14F-4D97-AF65-F5344CB8AC3E}">
        <p14:creationId xmlns:p14="http://schemas.microsoft.com/office/powerpoint/2010/main" val="509859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 – Step-by-Step Hints</a:t>
            </a:r>
          </a:p>
        </p:txBody>
      </p:sp>
      <p:sp>
        <p:nvSpPr>
          <p:cNvPr id="4" name="Content Placeholder 3"/>
          <p:cNvSpPr>
            <a:spLocks noGrp="1"/>
          </p:cNvSpPr>
          <p:nvPr>
            <p:ph sz="half" idx="1"/>
          </p:nvPr>
        </p:nvSpPr>
        <p:spPr/>
        <p:txBody>
          <a:bodyPr/>
          <a:lstStyle/>
          <a:p>
            <a:pPr marL="0" indent="0">
              <a:buNone/>
            </a:pPr>
            <a:r>
              <a:rPr lang="en-US" b="1" dirty="0"/>
              <a:t>Hint 1 – Starting values</a:t>
            </a:r>
            <a:r>
              <a:rPr lang="en-US" b="1" dirty="0" smtClean="0"/>
              <a:t>:</a:t>
            </a:r>
          </a:p>
          <a:p>
            <a:pPr marL="0" indent="0">
              <a:buNone/>
            </a:pPr>
            <a:endParaRPr lang="en-US" dirty="0"/>
          </a:p>
          <a:p>
            <a:pPr marL="0" indent="0">
              <a:buNone/>
            </a:pPr>
            <a:r>
              <a:rPr lang="en-US" dirty="0"/>
              <a:t>Asymptote (max rate) ≈ 12 (look at plot)</a:t>
            </a:r>
          </a:p>
          <a:p>
            <a:pPr marL="0" indent="0">
              <a:buNone/>
            </a:pPr>
            <a:r>
              <a:rPr lang="en-US" dirty="0"/>
              <a:t>Growth rate ≈ 0.2-0.4 (positive for increasing function)</a:t>
            </a:r>
          </a:p>
          <a:p>
            <a:pPr marL="0" indent="0">
              <a:buNone/>
            </a:pPr>
            <a:r>
              <a:rPr lang="en-US" dirty="0"/>
              <a:t>Inflection point ≈ 75 (where rate increases fastest)</a:t>
            </a:r>
          </a:p>
        </p:txBody>
      </p:sp>
      <p:sp>
        <p:nvSpPr>
          <p:cNvPr id="6" name="Rectangle 1"/>
          <p:cNvSpPr>
            <a:spLocks noGrp="1" noChangeArrowheads="1"/>
          </p:cNvSpPr>
          <p:nvPr>
            <p:ph sz="half" idx="2"/>
          </p:nvPr>
        </p:nvSpPr>
        <p:spPr bwMode="auto">
          <a:xfrm>
            <a:off x="6518074" y="1690688"/>
            <a:ext cx="4835726" cy="400109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600">
                <a:solidFill>
                  <a:srgbClr val="1F2328"/>
                </a:solidFill>
                <a:latin typeface="Consolas"/>
              </a:rPr>
              <a:t>nl (infection_rate = {asym} / ///</a:t>
            </a:r>
            <a:endParaRPr kumimoji="0" lang="en-US" altLang="en-US" sz="2600" b="0" i="0" u="none" strike="noStrike" cap="none" normalizeH="0" baseline="0" dirty="0" smtClean="0">
              <a:ln>
                <a:noFill/>
              </a:ln>
              <a:solidFill>
                <a:schemeClr val="tx1"/>
              </a:solidFill>
              <a:effectLst/>
            </a:endParaRPr>
          </a:p>
          <a:p>
            <a:pPr algn="l">
              <a:lnSpc>
                <a:spcPct val="100000"/>
              </a:lnSpc>
              <a:spcBef>
                <a:spcPts val="0"/>
              </a:spcBef>
              <a:spcAft>
                <a:spcPts val="0"/>
              </a:spcAft>
            </a:pPr>
            <a:r>
              <a:rPr sz="1600">
                <a:solidFill>
                  <a:srgbClr val="1F2328"/>
                </a:solidFill>
                <a:latin typeface="Consolas"/>
              </a:rPr>
              <a:t>    (1 + exp({rate_g}*(occupancy-{inflect})))), ///</a:t>
            </a:r>
          </a:p>
          <a:p>
            <a:pPr algn="l">
              <a:lnSpc>
                <a:spcPct val="100000"/>
              </a:lnSpc>
              <a:spcBef>
                <a:spcPts val="0"/>
              </a:spcBef>
              <a:spcAft>
                <a:spcPts val="0"/>
              </a:spcAft>
            </a:pPr>
            <a:r>
              <a:rPr sz="1600">
                <a:solidFill>
                  <a:srgbClr val="1F2328"/>
                </a:solidFill>
                <a:latin typeface="Consolas"/>
              </a:rPr>
              <a:t>    initial(asym 12 rate_g 0.3 inflect 75)</a:t>
            </a:r>
          </a:p>
        </p:txBody>
      </p:sp>
    </p:spTree>
    <p:extLst>
      <p:ext uri="{BB962C8B-B14F-4D97-AF65-F5344CB8AC3E}">
        <p14:creationId xmlns:p14="http://schemas.microsoft.com/office/powerpoint/2010/main" val="467829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5496"/>
            <a:ext cx="10515600" cy="955192"/>
          </a:xfrm>
        </p:spPr>
        <p:txBody>
          <a:bodyPr>
            <a:normAutofit/>
          </a:bodyPr>
          <a:lstStyle/>
          <a:p>
            <a:pPr lvl="0" eaLnBrk="0" fontAlgn="base" hangingPunct="0">
              <a:lnSpc>
                <a:spcPct val="100000"/>
              </a:lnSpc>
              <a:spcAft>
                <a:spcPct val="0"/>
              </a:spcAft>
            </a:pPr>
            <a:r>
              <a:rPr lang="en-US" altLang="en-US" sz="3600" b="1" dirty="0">
                <a:solidFill>
                  <a:srgbClr val="0F1115"/>
                </a:solidFill>
                <a:latin typeface="quote-cjk-patch"/>
              </a:rPr>
              <a:t>Hint 3 – After fitting:</a:t>
            </a:r>
            <a:endParaRPr lang="en-US" altLang="en-US" sz="3600" dirty="0"/>
          </a:p>
        </p:txBody>
      </p:sp>
      <p:sp>
        <p:nvSpPr>
          <p:cNvPr id="4" name="Rectangle 1"/>
          <p:cNvSpPr>
            <a:spLocks noGrp="1" noChangeArrowheads="1"/>
          </p:cNvSpPr>
          <p:nvPr>
            <p:ph idx="1"/>
          </p:nvPr>
        </p:nvSpPr>
        <p:spPr bwMode="auto">
          <a:xfrm>
            <a:off x="1076738" y="1666036"/>
            <a:ext cx="9876183" cy="4431983"/>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700">
                <a:solidFill>
                  <a:srgbClr val="6A737D"/>
                </a:solidFill>
                <a:latin typeface="Consolas"/>
              </a:rPr>
              <a:t>* Predict fitted values and residuals</a:t>
            </a:r>
          </a:p>
          <a:p>
            <a:pPr algn="l">
              <a:lnSpc>
                <a:spcPct val="100000"/>
              </a:lnSpc>
              <a:spcBef>
                <a:spcPts val="0"/>
              </a:spcBef>
              <a:spcAft>
                <a:spcPts val="0"/>
              </a:spcAft>
            </a:pPr>
            <a:r>
              <a:rPr sz="1700">
                <a:solidFill>
                  <a:srgbClr val="1F2328"/>
                </a:solidFill>
                <a:latin typeface="Consolas"/>
              </a:rPr>
              <a:t>predict fitted_rate, yhat</a:t>
            </a:r>
          </a:p>
          <a:p>
            <a:pPr algn="l">
              <a:lnSpc>
                <a:spcPct val="100000"/>
              </a:lnSpc>
              <a:spcBef>
                <a:spcPts val="0"/>
              </a:spcBef>
              <a:spcAft>
                <a:spcPts val="0"/>
              </a:spcAft>
            </a:pPr>
            <a:r>
              <a:rPr sz="1700">
                <a:solidFill>
                  <a:srgbClr val="1F2328"/>
                </a:solidFill>
                <a:latin typeface="Consolas"/>
              </a:rPr>
              <a:t>predict resid_ex, resid</a:t>
            </a:r>
          </a:p>
          <a:p>
            <a:pPr algn="l">
              <a:lnSpc>
                <a:spcPct val="100000"/>
              </a:lnSpc>
              <a:spcBef>
                <a:spcPts val="0"/>
              </a:spcBef>
              <a:spcAft>
                <a:spcPts val="0"/>
              </a:spcAft>
            </a:pPr>
            <a:r>
              <a:rPr sz="1700">
                <a:solidFill>
                  <a:srgbClr val="1F2328"/>
                </a:solidFill>
                <a:latin typeface="Consolas"/>
              </a:rPr>
              <a:t/>
            </a:r>
          </a:p>
          <a:p>
            <a:pPr algn="l">
              <a:lnSpc>
                <a:spcPct val="100000"/>
              </a:lnSpc>
              <a:spcBef>
                <a:spcPts val="0"/>
              </a:spcBef>
              <a:spcAft>
                <a:spcPts val="0"/>
              </a:spcAft>
            </a:pPr>
            <a:r>
              <a:rPr sz="1700">
                <a:solidFill>
                  <a:srgbClr val="6A737D"/>
                </a:solidFill>
                <a:latin typeface="Consolas"/>
              </a:rPr>
              <a:t>* Plot actual vs predicted</a:t>
            </a:r>
          </a:p>
          <a:p>
            <a:pPr algn="l">
              <a:lnSpc>
                <a:spcPct val="100000"/>
              </a:lnSpc>
              <a:spcBef>
                <a:spcPts val="0"/>
              </a:spcBef>
              <a:spcAft>
                <a:spcPts val="0"/>
              </a:spcAft>
            </a:pPr>
            <a:r>
              <a:rPr sz="1700">
                <a:solidFill>
                  <a:srgbClr val="1F2328"/>
                </a:solidFill>
                <a:latin typeface="Consolas"/>
              </a:rPr>
              <a:t>twoway (scatter infection_rate occupancy) ///</a:t>
            </a:r>
          </a:p>
          <a:p>
            <a:pPr algn="l">
              <a:lnSpc>
                <a:spcPct val="100000"/>
              </a:lnSpc>
              <a:spcBef>
                <a:spcPts val="0"/>
              </a:spcBef>
              <a:spcAft>
                <a:spcPts val="0"/>
              </a:spcAft>
            </a:pPr>
            <a:r>
              <a:rPr sz="1700">
                <a:solidFill>
                  <a:srgbClr val="1F2328"/>
                </a:solidFill>
                <a:latin typeface="Consolas"/>
              </a:rPr>
              <a:t>       (line fitted_rate occupancy, lcolor(red)), ///</a:t>
            </a:r>
          </a:p>
          <a:p>
            <a:pPr algn="l">
              <a:lnSpc>
                <a:spcPct val="100000"/>
              </a:lnSpc>
              <a:spcBef>
                <a:spcPts val="0"/>
              </a:spcBef>
              <a:spcAft>
                <a:spcPts val="0"/>
              </a:spcAft>
            </a:pPr>
            <a:r>
              <a:rPr sz="1700">
                <a:solidFill>
                  <a:srgbClr val="1F2328"/>
                </a:solidFill>
                <a:latin typeface="Consolas"/>
              </a:rPr>
              <a:t>    title("Model Fit")</a:t>
            </a:r>
          </a:p>
        </p:txBody>
      </p:sp>
    </p:spTree>
    <p:extLst>
      <p:ext uri="{BB962C8B-B14F-4D97-AF65-F5344CB8AC3E}">
        <p14:creationId xmlns:p14="http://schemas.microsoft.com/office/powerpoint/2010/main" val="1653978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a:bodyPr>
          <a:lstStyle/>
          <a:p>
            <a:r>
              <a:rPr lang="en-US" sz="3600" b="1" dirty="0"/>
              <a:t>Exercise – Calculate EC50 (Occupancy at 50% Max)</a:t>
            </a:r>
          </a:p>
        </p:txBody>
      </p:sp>
      <p:sp>
        <p:nvSpPr>
          <p:cNvPr id="4" name="Rectangle 1"/>
          <p:cNvSpPr>
            <a:spLocks noGrp="1" noChangeArrowheads="1"/>
          </p:cNvSpPr>
          <p:nvPr>
            <p:ph idx="1"/>
          </p:nvPr>
        </p:nvSpPr>
        <p:spPr bwMode="auto">
          <a:xfrm>
            <a:off x="993911" y="1877702"/>
            <a:ext cx="10038524" cy="387798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600">
                <a:solidFill>
                  <a:srgbClr val="6A737D"/>
                </a:solidFill>
                <a:latin typeface="Consolas"/>
              </a:rPr>
              <a:t>* For a logistic model the inflection point IS the EC50.</a:t>
            </a:r>
            <a:endParaRPr kumimoji="0" lang="en-US" altLang="en-US" sz="2400" b="0" i="0" u="none" strike="noStrike" cap="none" normalizeH="0" baseline="0" dirty="0" smtClean="0">
              <a:ln>
                <a:noFill/>
              </a:ln>
              <a:solidFill>
                <a:schemeClr val="tx1"/>
              </a:solidFill>
              <a:effectLst/>
            </a:endParaRPr>
          </a:p>
          <a:p>
            <a:pPr algn="l">
              <a:lnSpc>
                <a:spcPct val="100000"/>
              </a:lnSpc>
              <a:spcBef>
                <a:spcPts val="0"/>
              </a:spcBef>
              <a:spcAft>
                <a:spcPts val="0"/>
              </a:spcAft>
            </a:pPr>
            <a:r>
              <a:rPr sz="1600">
                <a:solidFill>
                  <a:srgbClr val="6A737D"/>
                </a:solidFill>
                <a:latin typeface="Consolas"/>
              </a:rPr>
              <a:t>* Retrieve it after fitting:</a:t>
            </a:r>
          </a:p>
          <a:p>
            <a:pPr algn="l">
              <a:lnSpc>
                <a:spcPct val="100000"/>
              </a:lnSpc>
              <a:spcBef>
                <a:spcPts val="0"/>
              </a:spcBef>
              <a:spcAft>
                <a:spcPts val="0"/>
              </a:spcAft>
            </a:pPr>
            <a:r>
              <a:rPr sz="1600">
                <a:solidFill>
                  <a:srgbClr val="1F2328"/>
                </a:solidFill>
                <a:latin typeface="Consolas"/>
              </a:rPr>
              <a:t>nl (infection_rate = {asym} / ///</a:t>
            </a:r>
          </a:p>
          <a:p>
            <a:pPr algn="l">
              <a:lnSpc>
                <a:spcPct val="100000"/>
              </a:lnSpc>
              <a:spcBef>
                <a:spcPts val="0"/>
              </a:spcBef>
              <a:spcAft>
                <a:spcPts val="0"/>
              </a:spcAft>
            </a:pPr>
            <a:r>
              <a:rPr sz="1600">
                <a:solidFill>
                  <a:srgbClr val="1F2328"/>
                </a:solidFill>
                <a:latin typeface="Consolas"/>
              </a:rPr>
              <a:t>    (1 + exp({rate_g}*(occupancy-{inflect})))), ///</a:t>
            </a:r>
          </a:p>
          <a:p>
            <a:pPr algn="l">
              <a:lnSpc>
                <a:spcPct val="100000"/>
              </a:lnSpc>
              <a:spcBef>
                <a:spcPts val="0"/>
              </a:spcBef>
              <a:spcAft>
                <a:spcPts val="0"/>
              </a:spcAft>
            </a:pPr>
            <a:r>
              <a:rPr sz="1600">
                <a:solidFill>
                  <a:srgbClr val="1F2328"/>
                </a:solidFill>
                <a:latin typeface="Consolas"/>
              </a:rPr>
              <a:t>    initial(asym 12 rate_g 0.3 inflect 75)</a:t>
            </a:r>
          </a:p>
        </p:txBody>
      </p:sp>
    </p:spTree>
    <p:extLst>
      <p:ext uri="{BB962C8B-B14F-4D97-AF65-F5344CB8AC3E}">
        <p14:creationId xmlns:p14="http://schemas.microsoft.com/office/powerpoint/2010/main" val="4111741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993912" y="356840"/>
            <a:ext cx="10296940" cy="5816977"/>
          </a:xfrm>
          <a:prstGeom prst="rect">
            <a:avLst/>
          </a:prstGeom>
          <a:solidFill>
            <a:srgbClr val="F6F8FA"/>
          </a:solidFill>
          <a:ln w="12700">
            <a:solidFill>
              <a:srgbClr val="D0D7DE"/>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342900" marR="0" lvl="0" indent="-342900" algn="l" defTabSz="914400" rtl="0" eaLnBrk="0" fontAlgn="base" latinLnBrk="0" hangingPunct="0">
              <a:lnSpc>
                <a:spcPct val="100000"/>
              </a:lnSpc>
              <a:spcBef>
                <a:spcPts val="0"/>
              </a:spcBef>
              <a:spcAft>
                <a:spcPts val="0"/>
              </a:spcAft>
              <a:buClrTx/>
              <a:buSzTx/>
              <a:buFont typeface="Arial" panose="020B0604020202020204" pitchFamily="34" charset="0"/>
              <a:buChar char="•"/>
              <a:tabLst/>
            </a:pPr>
            <a:r>
              <a:rPr sz="1600">
                <a:solidFill>
                  <a:srgbClr val="6A737D"/>
                </a:solidFill>
                <a:latin typeface="Consolas"/>
              </a:rPr>
              <a:t>* Display the inflection point with a 95% CI</a:t>
            </a:r>
          </a:p>
          <a:p>
            <a:pPr algn="l">
              <a:lnSpc>
                <a:spcPct val="100000"/>
              </a:lnSpc>
              <a:spcBef>
                <a:spcPts val="0"/>
              </a:spcBef>
              <a:spcAft>
                <a:spcPts val="0"/>
              </a:spcAft>
            </a:pPr>
            <a:r>
              <a:rPr sz="1600">
                <a:solidFill>
                  <a:srgbClr val="1F2328"/>
                </a:solidFill>
                <a:latin typeface="Consolas"/>
              </a:rPr>
              <a:t>di "Occupancy at 50% max rate: " _b[/inflect] " (95% CI: " ///</a:t>
            </a:r>
          </a:p>
          <a:p>
            <a:pPr algn="l">
              <a:lnSpc>
                <a:spcPct val="100000"/>
              </a:lnSpc>
              <a:spcBef>
                <a:spcPts val="0"/>
              </a:spcBef>
              <a:spcAft>
                <a:spcPts val="0"/>
              </a:spcAft>
            </a:pPr>
            <a:r>
              <a:rPr sz="1600">
                <a:solidFill>
                  <a:srgbClr val="1F2328"/>
                </a:solidFill>
                <a:latin typeface="Consolas"/>
              </a:rPr>
              <a:t>   _b[/inflect] - 1.96*_se[/inflect] ", " ///</a:t>
            </a:r>
          </a:p>
          <a:p>
            <a:pPr algn="l">
              <a:lnSpc>
                <a:spcPct val="100000"/>
              </a:lnSpc>
              <a:spcBef>
                <a:spcPts val="0"/>
              </a:spcBef>
              <a:spcAft>
                <a:spcPts val="0"/>
              </a:spcAft>
            </a:pPr>
            <a:r>
              <a:rPr sz="1600">
                <a:solidFill>
                  <a:srgbClr val="1F2328"/>
                </a:solidFill>
                <a:latin typeface="Consolas"/>
              </a:rPr>
              <a:t>   _b[/inflect] + 1.96*_se[/inflect] ")"</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Alternative using nlcom</a:t>
            </a:r>
          </a:p>
          <a:p>
            <a:pPr algn="l">
              <a:lnSpc>
                <a:spcPct val="100000"/>
              </a:lnSpc>
              <a:spcBef>
                <a:spcPts val="0"/>
              </a:spcBef>
              <a:spcAft>
                <a:spcPts val="0"/>
              </a:spcAft>
            </a:pPr>
            <a:r>
              <a:rPr sz="1600">
                <a:solidFill>
                  <a:srgbClr val="1F2328"/>
                </a:solidFill>
                <a:latin typeface="Consolas"/>
              </a:rPr>
              <a:t>nlcom (ec50: _b[/inflect])</a:t>
            </a:r>
          </a:p>
          <a:p>
            <a:pPr algn="l">
              <a:lnSpc>
                <a:spcPct val="100000"/>
              </a:lnSpc>
              <a:spcBef>
                <a:spcPts val="0"/>
              </a:spcBef>
              <a:spcAft>
                <a:spcPts val="0"/>
              </a:spcAft>
            </a:pPr>
            <a:r>
              <a:rPr sz="1600">
                <a:solidFill>
                  <a:srgbClr val="1F2328"/>
                </a:solidFill>
                <a:latin typeface="Consolas"/>
              </a:rPr>
              <a:t/>
            </a:r>
          </a:p>
          <a:p>
            <a:pPr algn="l">
              <a:lnSpc>
                <a:spcPct val="100000"/>
              </a:lnSpc>
              <a:spcBef>
                <a:spcPts val="0"/>
              </a:spcBef>
              <a:spcAft>
                <a:spcPts val="0"/>
              </a:spcAft>
            </a:pPr>
            <a:r>
              <a:rPr sz="1600">
                <a:solidFill>
                  <a:srgbClr val="6A737D"/>
                </a:solidFill>
                <a:latin typeface="Consolas"/>
              </a:rPr>
              <a:t>* Interpretation: above this occupancy, the</a:t>
            </a:r>
          </a:p>
          <a:p>
            <a:pPr algn="l">
              <a:lnSpc>
                <a:spcPct val="100000"/>
              </a:lnSpc>
              <a:spcBef>
                <a:spcPts val="0"/>
              </a:spcBef>
              <a:spcAft>
                <a:spcPts val="0"/>
              </a:spcAft>
            </a:pPr>
            <a:r>
              <a:rPr sz="1600">
                <a:solidFill>
                  <a:srgbClr val="6A737D"/>
                </a:solidFill>
                <a:latin typeface="Consolas"/>
              </a:rPr>
              <a:t>* infection rate accelerates rapidly</a:t>
            </a:r>
          </a:p>
        </p:txBody>
      </p:sp>
    </p:spTree>
    <p:extLst>
      <p:ext uri="{BB962C8B-B14F-4D97-AF65-F5344CB8AC3E}">
        <p14:creationId xmlns:p14="http://schemas.microsoft.com/office/powerpoint/2010/main" val="3067794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 </a:t>
            </a:r>
          </a:p>
        </p:txBody>
      </p:sp>
      <p:sp>
        <p:nvSpPr>
          <p:cNvPr id="4" name="Rectangle 1"/>
          <p:cNvSpPr>
            <a:spLocks noGrp="1" noChangeArrowheads="1"/>
          </p:cNvSpPr>
          <p:nvPr>
            <p:ph idx="1"/>
          </p:nvPr>
        </p:nvSpPr>
        <p:spPr bwMode="auto">
          <a:xfrm>
            <a:off x="838200" y="1795446"/>
            <a:ext cx="9915939" cy="4401205"/>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L="0" marR="0" lvl="0" indent="0" algn="l" defTabSz="914400" rtl="0" eaLnBrk="0" fontAlgn="base" latinLnBrk="0" hangingPunct="0">
              <a:lnSpc>
                <a:spcPct val="100000"/>
              </a:lnSpc>
              <a:spcBef>
                <a:spcPts val="0"/>
              </a:spcBef>
              <a:spcAft>
                <a:spcPts val="0"/>
              </a:spcAft>
              <a:buClrTx/>
              <a:buSzTx/>
              <a:buFontTx/>
              <a:buNone/>
              <a:tabLst/>
            </a:pPr>
            <a:r>
              <a:rPr sz="1500">
                <a:solidFill>
                  <a:srgbClr val="6A737D"/>
                </a:solidFill>
                <a:latin typeface="Consolas"/>
              </a:rPr>
              <a:t>* ================================================</a:t>
            </a:r>
            <a:endParaRPr kumimoji="0" lang="en-US" altLang="en-US" sz="2200" b="1" i="1" u="none" strike="noStrike" cap="none" normalizeH="0" baseline="0" dirty="0" smtClean="0">
              <a:ln>
                <a:noFill/>
              </a:ln>
              <a:solidFill>
                <a:srgbClr val="A0A1A7"/>
              </a:solidFill>
              <a:effectLst/>
              <a:latin typeface="Menlo"/>
            </a:endParaRPr>
          </a:p>
          <a:p>
            <a:pPr algn="l">
              <a:lnSpc>
                <a:spcPct val="100000"/>
              </a:lnSpc>
              <a:spcBef>
                <a:spcPts val="0"/>
              </a:spcBef>
              <a:spcAft>
                <a:spcPts val="0"/>
              </a:spcAft>
            </a:pPr>
            <a:r>
              <a:rPr sz="1500">
                <a:solidFill>
                  <a:srgbClr val="6A737D"/>
                </a:solidFill>
                <a:latin typeface="Consolas"/>
              </a:rPr>
              <a:t>* EXERCISE SOLUTION</a:t>
            </a:r>
          </a:p>
          <a:p>
            <a:pPr algn="l">
              <a:lnSpc>
                <a:spcPct val="100000"/>
              </a:lnSpc>
              <a:spcBef>
                <a:spcPts val="0"/>
              </a:spcBef>
              <a:spcAft>
                <a:spcPts val="0"/>
              </a:spcAft>
            </a:pPr>
            <a:r>
              <a:rPr sz="1500">
                <a:solidFill>
                  <a:srgbClr val="6A737D"/>
                </a:solidFill>
                <a:latin typeface="Consolas"/>
              </a:rPr>
              <a:t>* ================================================</a:t>
            </a:r>
          </a:p>
          <a:p>
            <a:pPr algn="l">
              <a:lnSpc>
                <a:spcPct val="100000"/>
              </a:lnSpc>
              <a:spcBef>
                <a:spcPts val="0"/>
              </a:spcBef>
              <a:spcAft>
                <a:spcPts val="0"/>
              </a:spcAft>
            </a:pPr>
            <a:r>
              <a:rPr sz="1500">
                <a:solidFill>
                  <a:srgbClr val="6A737D"/>
                </a:solidFill>
                <a:latin typeface="Consolas"/>
              </a:rPr>
              <a:t>* Tasks 1-2: create and plot data (see earlier slides)</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Tasks 3-4: fit the logistic model</a:t>
            </a:r>
          </a:p>
          <a:p>
            <a:pPr algn="l">
              <a:lnSpc>
                <a:spcPct val="100000"/>
              </a:lnSpc>
              <a:spcBef>
                <a:spcPts val="0"/>
              </a:spcBef>
              <a:spcAft>
                <a:spcPts val="0"/>
              </a:spcAft>
            </a:pPr>
            <a:r>
              <a:rPr sz="1500">
                <a:solidFill>
                  <a:srgbClr val="1F2328"/>
                </a:solidFill>
                <a:latin typeface="Consolas"/>
              </a:rPr>
              <a:t>nl (infection_rate = {asym} / ///</a:t>
            </a:r>
          </a:p>
          <a:p>
            <a:pPr algn="l">
              <a:lnSpc>
                <a:spcPct val="100000"/>
              </a:lnSpc>
              <a:spcBef>
                <a:spcPts val="0"/>
              </a:spcBef>
              <a:spcAft>
                <a:spcPts val="0"/>
              </a:spcAft>
            </a:pPr>
            <a:r>
              <a:rPr sz="1500">
                <a:solidFill>
                  <a:srgbClr val="1F2328"/>
                </a:solidFill>
                <a:latin typeface="Consolas"/>
              </a:rPr>
              <a:t>    (1 + exp({rate_g}*(occupancy-{inflect})))), ///</a:t>
            </a:r>
          </a:p>
          <a:p>
            <a:pPr algn="l">
              <a:lnSpc>
                <a:spcPct val="100000"/>
              </a:lnSpc>
              <a:spcBef>
                <a:spcPts val="0"/>
              </a:spcBef>
              <a:spcAft>
                <a:spcPts val="0"/>
              </a:spcAft>
            </a:pPr>
            <a:r>
              <a:rPr sz="1500">
                <a:solidFill>
                  <a:srgbClr val="1F2328"/>
                </a:solidFill>
                <a:latin typeface="Consolas"/>
              </a:rPr>
              <a:t>    initial(asym 12 rate_g 0.3 inflect 75)</a:t>
            </a:r>
          </a:p>
          <a:p>
            <a:pPr algn="l">
              <a:lnSpc>
                <a:spcPct val="100000"/>
              </a:lnSpc>
              <a:spcBef>
                <a:spcPts val="0"/>
              </a:spcBef>
              <a:spcAft>
                <a:spcPts val="0"/>
              </a:spcAft>
            </a:pPr>
            <a:r>
              <a:rPr sz="1500">
                <a:solidFill>
                  <a:srgbClr val="1F2328"/>
                </a:solidFill>
                <a:latin typeface="Consolas"/>
              </a:rPr>
              <a:t/>
            </a:r>
          </a:p>
          <a:p>
            <a:pPr algn="l">
              <a:lnSpc>
                <a:spcPct val="100000"/>
              </a:lnSpc>
              <a:spcBef>
                <a:spcPts val="0"/>
              </a:spcBef>
              <a:spcAft>
                <a:spcPts val="0"/>
              </a:spcAft>
            </a:pPr>
            <a:r>
              <a:rPr sz="1500">
                <a:solidFill>
                  <a:srgbClr val="6A737D"/>
                </a:solidFill>
                <a:latin typeface="Consolas"/>
              </a:rPr>
              <a:t>* Task 5: interpret parameters</a:t>
            </a:r>
          </a:p>
          <a:p>
            <a:pPr algn="l">
              <a:lnSpc>
                <a:spcPct val="100000"/>
              </a:lnSpc>
              <a:spcBef>
                <a:spcPts val="0"/>
              </a:spcBef>
              <a:spcAft>
                <a:spcPts val="0"/>
              </a:spcAft>
            </a:pPr>
            <a:r>
              <a:rPr sz="1500">
                <a:solidFill>
                  <a:srgbClr val="6A737D"/>
                </a:solidFill>
                <a:latin typeface="Consolas"/>
              </a:rPr>
              <a:t>*   /asym    = maximum infection rate (ceiling)</a:t>
            </a:r>
          </a:p>
          <a:p>
            <a:pPr algn="l">
              <a:lnSpc>
                <a:spcPct val="100000"/>
              </a:lnSpc>
              <a:spcBef>
                <a:spcPts val="0"/>
              </a:spcBef>
              <a:spcAft>
                <a:spcPts val="0"/>
              </a:spcAft>
            </a:pPr>
            <a:r>
              <a:rPr sz="1500">
                <a:solidFill>
                  <a:srgbClr val="6A737D"/>
                </a:solidFill>
                <a:latin typeface="Consolas"/>
              </a:rPr>
              <a:t>*   /rate_g  = steepness of the rise</a:t>
            </a:r>
          </a:p>
          <a:p>
            <a:pPr algn="l">
              <a:lnSpc>
                <a:spcPct val="100000"/>
              </a:lnSpc>
              <a:spcBef>
                <a:spcPts val="0"/>
              </a:spcBef>
              <a:spcAft>
                <a:spcPts val="0"/>
              </a:spcAft>
            </a:pPr>
            <a:r>
              <a:rPr sz="1500">
                <a:solidFill>
                  <a:srgbClr val="6A737D"/>
                </a:solidFill>
                <a:latin typeface="Consolas"/>
              </a:rPr>
              <a:t>*   /inflect = occupancy at 50% of maximum</a:t>
            </a:r>
          </a:p>
        </p:txBody>
      </p:sp>
    </p:spTree>
    <p:extLst>
      <p:ext uri="{BB962C8B-B14F-4D97-AF65-F5344CB8AC3E}">
        <p14:creationId xmlns:p14="http://schemas.microsoft.com/office/powerpoint/2010/main" val="33248463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 </a:t>
            </a:r>
          </a:p>
        </p:txBody>
      </p:sp>
      <p:sp>
        <p:nvSpPr>
          <p:cNvPr id="4" name="Rectangle 1"/>
          <p:cNvSpPr>
            <a:spLocks noGrp="1" noChangeArrowheads="1"/>
          </p:cNvSpPr>
          <p:nvPr>
            <p:ph idx="1"/>
          </p:nvPr>
        </p:nvSpPr>
        <p:spPr bwMode="auto">
          <a:xfrm>
            <a:off x="838200" y="1456894"/>
            <a:ext cx="10515600" cy="5078313"/>
          </a:xfrm>
          <a:prstGeom prst="rect">
            <a:avLst/>
          </a:prstGeom>
          <a:solidFill>
            <a:srgbClr val="F6F8FA"/>
          </a:solidFill>
          <a:ln w="12700">
            <a:solidFill>
              <a:srgbClr val="D0D7DE"/>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p>
            <a:pPr marR="0" lvl="0" algn="l" defTabSz="914400" rtl="0" eaLnBrk="0" fontAlgn="base" latinLnBrk="0" hangingPunct="0">
              <a:lnSpc>
                <a:spcPct val="100000"/>
              </a:lnSpc>
              <a:spcBef>
                <a:spcPts val="0"/>
              </a:spcBef>
              <a:spcAft>
                <a:spcPts val="0"/>
              </a:spcAft>
              <a:buClrTx/>
              <a:buSzTx/>
              <a:tabLst/>
            </a:pPr>
            <a:r>
              <a:rPr sz="1400">
                <a:solidFill>
                  <a:srgbClr val="6A737D"/>
                </a:solidFill>
                <a:latin typeface="Consolas"/>
              </a:rPr>
              <a:t>* Task 6: predict and plot</a:t>
            </a:r>
          </a:p>
          <a:p>
            <a:pPr algn="l">
              <a:lnSpc>
                <a:spcPct val="100000"/>
              </a:lnSpc>
              <a:spcBef>
                <a:spcPts val="0"/>
              </a:spcBef>
              <a:spcAft>
                <a:spcPts val="0"/>
              </a:spcAft>
            </a:pPr>
            <a:r>
              <a:rPr sz="1400">
                <a:solidFill>
                  <a:srgbClr val="1F2328"/>
                </a:solidFill>
                <a:latin typeface="Consolas"/>
              </a:rPr>
              <a:t>predict fitted_rate, yhat</a:t>
            </a:r>
          </a:p>
          <a:p>
            <a:pPr algn="l">
              <a:lnSpc>
                <a:spcPct val="100000"/>
              </a:lnSpc>
              <a:spcBef>
                <a:spcPts val="0"/>
              </a:spcBef>
              <a:spcAft>
                <a:spcPts val="0"/>
              </a:spcAft>
            </a:pPr>
            <a:r>
              <a:rPr sz="1400">
                <a:solidFill>
                  <a:srgbClr val="1F2328"/>
                </a:solidFill>
                <a:latin typeface="Consolas"/>
              </a:rPr>
              <a:t>twoway (scatter infection_rate occupancy) ///</a:t>
            </a:r>
          </a:p>
          <a:p>
            <a:pPr algn="l">
              <a:lnSpc>
                <a:spcPct val="100000"/>
              </a:lnSpc>
              <a:spcBef>
                <a:spcPts val="0"/>
              </a:spcBef>
              <a:spcAft>
                <a:spcPts val="0"/>
              </a:spcAft>
            </a:pPr>
            <a:r>
              <a:rPr sz="1400">
                <a:solidFill>
                  <a:srgbClr val="1F2328"/>
                </a:solidFill>
                <a:latin typeface="Consolas"/>
              </a:rPr>
              <a:t>       (line fitted_rate occupancy, lcolor(red) lwidth(med)), ///</a:t>
            </a:r>
          </a:p>
          <a:p>
            <a:pPr algn="l">
              <a:lnSpc>
                <a:spcPct val="100000"/>
              </a:lnSpc>
              <a:spcBef>
                <a:spcPts val="0"/>
              </a:spcBef>
              <a:spcAft>
                <a:spcPts val="0"/>
              </a:spcAft>
            </a:pPr>
            <a:r>
              <a:rPr sz="1400">
                <a:solidFill>
                  <a:srgbClr val="1F2328"/>
                </a:solidFill>
                <a:latin typeface="Consolas"/>
              </a:rPr>
              <a:t>    title("Actual vs Predicted Infection Rate") ///</a:t>
            </a:r>
          </a:p>
          <a:p>
            <a:pPr algn="l">
              <a:lnSpc>
                <a:spcPct val="100000"/>
              </a:lnSpc>
              <a:spcBef>
                <a:spcPts val="0"/>
              </a:spcBef>
              <a:spcAft>
                <a:spcPts val="0"/>
              </a:spcAft>
            </a:pPr>
            <a:r>
              <a:rPr sz="1400">
                <a:solidFill>
                  <a:srgbClr val="1F2328"/>
                </a:solidFill>
                <a:latin typeface="Consolas"/>
              </a:rPr>
              <a:t>    xtitle("Occupancy (%)") ytitle("Infection Rate (per 1000)")</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Task 7: EC50 (= /inflect)</a:t>
            </a:r>
          </a:p>
          <a:p>
            <a:pPr algn="l">
              <a:lnSpc>
                <a:spcPct val="100000"/>
              </a:lnSpc>
              <a:spcBef>
                <a:spcPts val="0"/>
              </a:spcBef>
              <a:spcAft>
                <a:spcPts val="0"/>
              </a:spcAft>
            </a:pPr>
            <a:r>
              <a:rPr sz="1400">
                <a:solidFill>
                  <a:srgbClr val="1F2328"/>
                </a:solidFill>
                <a:latin typeface="Consolas"/>
              </a:rPr>
              <a:t>nlcom (occupancy_50pct: _b[/inflect])</a:t>
            </a:r>
          </a:p>
          <a:p>
            <a:pPr algn="l">
              <a:lnSpc>
                <a:spcPct val="100000"/>
              </a:lnSpc>
              <a:spcBef>
                <a:spcPts val="0"/>
              </a:spcBef>
              <a:spcAft>
                <a:spcPts val="0"/>
              </a:spcAft>
            </a:pPr>
            <a:r>
              <a:rPr sz="1400">
                <a:solidFill>
                  <a:srgbClr val="1F2328"/>
                </a:solidFill>
                <a:latin typeface="Consolas"/>
              </a:rPr>
              <a:t/>
            </a:r>
          </a:p>
          <a:p>
            <a:pPr algn="l">
              <a:lnSpc>
                <a:spcPct val="100000"/>
              </a:lnSpc>
              <a:spcBef>
                <a:spcPts val="0"/>
              </a:spcBef>
              <a:spcAft>
                <a:spcPts val="0"/>
              </a:spcAft>
            </a:pPr>
            <a:r>
              <a:rPr sz="1400">
                <a:solidFill>
                  <a:srgbClr val="6A737D"/>
                </a:solidFill>
                <a:latin typeface="Consolas"/>
              </a:rPr>
              <a:t>* Task 8: residual diagnostics</a:t>
            </a:r>
          </a:p>
          <a:p>
            <a:pPr algn="l">
              <a:lnSpc>
                <a:spcPct val="100000"/>
              </a:lnSpc>
              <a:spcBef>
                <a:spcPts val="0"/>
              </a:spcBef>
              <a:spcAft>
                <a:spcPts val="0"/>
              </a:spcAft>
            </a:pPr>
            <a:r>
              <a:rPr sz="1400">
                <a:solidFill>
                  <a:srgbClr val="1F2328"/>
                </a:solidFill>
                <a:latin typeface="Consolas"/>
              </a:rPr>
              <a:t>predict resid_ex, resid</a:t>
            </a:r>
          </a:p>
          <a:p>
            <a:pPr algn="l">
              <a:lnSpc>
                <a:spcPct val="100000"/>
              </a:lnSpc>
              <a:spcBef>
                <a:spcPts val="0"/>
              </a:spcBef>
              <a:spcAft>
                <a:spcPts val="0"/>
              </a:spcAft>
            </a:pPr>
            <a:r>
              <a:rPr sz="1400">
                <a:solidFill>
                  <a:srgbClr val="1F2328"/>
                </a:solidFill>
                <a:latin typeface="Consolas"/>
              </a:rPr>
              <a:t>qnorm resid_ex, title("Q-Q Plot of Residuals")</a:t>
            </a:r>
          </a:p>
          <a:p>
            <a:pPr algn="l">
              <a:lnSpc>
                <a:spcPct val="100000"/>
              </a:lnSpc>
              <a:spcBef>
                <a:spcPts val="0"/>
              </a:spcBef>
              <a:spcAft>
                <a:spcPts val="0"/>
              </a:spcAft>
            </a:pPr>
            <a:r>
              <a:rPr sz="1400">
                <a:solidFill>
                  <a:srgbClr val="1F2328"/>
                </a:solidFill>
                <a:latin typeface="Consolas"/>
              </a:rPr>
              <a:t>rvfplot, yline(0) title("Residuals vs Fitted")</a:t>
            </a:r>
          </a:p>
        </p:txBody>
      </p:sp>
    </p:spTree>
    <p:extLst>
      <p:ext uri="{BB962C8B-B14F-4D97-AF65-F5344CB8AC3E}">
        <p14:creationId xmlns:p14="http://schemas.microsoft.com/office/powerpoint/2010/main" val="1181601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Exercise – Expected Results</a:t>
            </a:r>
          </a:p>
        </p:txBody>
      </p:sp>
      <p:sp>
        <p:nvSpPr>
          <p:cNvPr id="4" name="Rectangle 1"/>
          <p:cNvSpPr>
            <a:spLocks noGrp="1" noChangeArrowheads="1"/>
          </p:cNvSpPr>
          <p:nvPr>
            <p:ph sz="half" idx="1"/>
          </p:nvPr>
        </p:nvSpPr>
        <p:spPr bwMode="auto">
          <a:xfrm>
            <a:off x="496957" y="1369075"/>
            <a:ext cx="10856843" cy="3323987"/>
          </a:xfrm>
          <a:prstGeom prst="rect">
            <a:avLst/>
          </a:prstGeom>
          <a:solidFill>
            <a:srgbClr val="FFF7E6"/>
          </a:solidFill>
          <a:ln w="12700">
            <a:solidFill>
              <a:srgbClr val="E6D2A8"/>
            </a:solid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0" tIns="101600" rIns="127000" bIns="10160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sz="1300">
                <a:solidFill>
                  <a:srgbClr val="1F2328"/>
                </a:solidFill>
                <a:latin typeface="Consolas"/>
              </a:rPr>
              <a:t>------------------------------------------------------------------</a:t>
            </a:r>
            <a:endParaRPr kumimoji="0" lang="en-US" altLang="en-US" sz="1800" b="0" i="0" u="none" strike="noStrike" cap="none" normalizeH="0" baseline="0" dirty="0" smtClean="0">
              <a:ln>
                <a:noFill/>
              </a:ln>
              <a:solidFill>
                <a:schemeClr val="tx1"/>
              </a:solidFill>
              <a:effectLst/>
            </a:endParaRPr>
          </a:p>
          <a:p>
            <a:pPr algn="l">
              <a:lnSpc>
                <a:spcPct val="100000"/>
              </a:lnSpc>
              <a:spcBef>
                <a:spcPts val="0"/>
              </a:spcBef>
              <a:spcAft>
                <a:spcPts val="0"/>
              </a:spcAft>
            </a:pPr>
            <a:r>
              <a:rPr sz="1300">
                <a:solidFill>
                  <a:srgbClr val="1F2328"/>
                </a:solidFill>
                <a:latin typeface="Consolas"/>
              </a:rPr>
              <a:t>infection_~e | Coefficient  Std. err.   t    P&gt;|t|  [95% conf. int.]</a:t>
            </a:r>
          </a:p>
          <a:p>
            <a:pPr algn="l">
              <a:lnSpc>
                <a:spcPct val="100000"/>
              </a:lnSpc>
              <a:spcBef>
                <a:spcPts val="0"/>
              </a:spcBef>
              <a:spcAft>
                <a:spcPts val="0"/>
              </a:spcAft>
            </a:pPr>
            <a:r>
              <a:rPr sz="1300">
                <a:solidFill>
                  <a:srgbClr val="1F2328"/>
                </a:solidFill>
                <a:latin typeface="Consolas"/>
              </a:rPr>
              <a:t>-------------+----------------------------------------------------</a:t>
            </a:r>
          </a:p>
          <a:p>
            <a:pPr algn="l">
              <a:lnSpc>
                <a:spcPct val="100000"/>
              </a:lnSpc>
              <a:spcBef>
                <a:spcPts val="0"/>
              </a:spcBef>
              <a:spcAft>
                <a:spcPts val="0"/>
              </a:spcAft>
            </a:pPr>
            <a:r>
              <a:rPr sz="1300">
                <a:solidFill>
                  <a:srgbClr val="1F2328"/>
                </a:solidFill>
                <a:latin typeface="Consolas"/>
              </a:rPr>
              <a:t>       /asym |   12.234     0.345   35.46  0.000   11.527  12.941</a:t>
            </a:r>
          </a:p>
          <a:p>
            <a:pPr algn="l">
              <a:lnSpc>
                <a:spcPct val="100000"/>
              </a:lnSpc>
              <a:spcBef>
                <a:spcPts val="0"/>
              </a:spcBef>
              <a:spcAft>
                <a:spcPts val="0"/>
              </a:spcAft>
            </a:pPr>
            <a:r>
              <a:rPr sz="1300">
                <a:solidFill>
                  <a:srgbClr val="1F2328"/>
                </a:solidFill>
                <a:latin typeface="Consolas"/>
              </a:rPr>
              <a:t>     /rate_g |    0.312     0.045    6.93  0.000    0.220   0.404</a:t>
            </a:r>
          </a:p>
          <a:p>
            <a:pPr algn="l">
              <a:lnSpc>
                <a:spcPct val="100000"/>
              </a:lnSpc>
              <a:spcBef>
                <a:spcPts val="0"/>
              </a:spcBef>
              <a:spcAft>
                <a:spcPts val="0"/>
              </a:spcAft>
            </a:pPr>
            <a:r>
              <a:rPr sz="1300">
                <a:solidFill>
                  <a:srgbClr val="1F2328"/>
                </a:solidFill>
                <a:latin typeface="Consolas"/>
              </a:rPr>
              <a:t>    /inflect |   75.123     0.876   85.76  0.000   73.345  76.901</a:t>
            </a:r>
          </a:p>
          <a:p>
            <a:pPr algn="l">
              <a:lnSpc>
                <a:spcPct val="100000"/>
              </a:lnSpc>
              <a:spcBef>
                <a:spcPts val="0"/>
              </a:spcBef>
              <a:spcAft>
                <a:spcPts val="0"/>
              </a:spcAft>
            </a:pPr>
            <a:r>
              <a:rPr sz="1300">
                <a:solidFill>
                  <a:srgbClr val="1F2328"/>
                </a:solidFill>
                <a:latin typeface="Consolas"/>
              </a:rPr>
              <a:t>------------------------------------------------------------------</a:t>
            </a:r>
          </a:p>
          <a:p>
            <a:pPr algn="l">
              <a:lnSpc>
                <a:spcPct val="100000"/>
              </a:lnSpc>
              <a:spcBef>
                <a:spcPts val="0"/>
              </a:spcBef>
              <a:spcAft>
                <a:spcPts val="0"/>
              </a:spcAft>
            </a:pPr>
            <a:r>
              <a:rPr sz="1300">
                <a:solidFill>
                  <a:srgbClr val="1F2328"/>
                </a:solidFill>
                <a:latin typeface="Consolas"/>
              </a:rPr>
              <a:t/>
            </a:r>
          </a:p>
          <a:p>
            <a:pPr algn="l">
              <a:lnSpc>
                <a:spcPct val="100000"/>
              </a:lnSpc>
              <a:spcBef>
                <a:spcPts val="0"/>
              </a:spcBef>
              <a:spcAft>
                <a:spcPts val="0"/>
              </a:spcAft>
            </a:pPr>
            <a:r>
              <a:rPr sz="1300">
                <a:solidFill>
                  <a:srgbClr val="1F2328"/>
                </a:solidFill>
                <a:latin typeface="Consolas"/>
              </a:rPr>
              <a:t>Occupancy at 50% max: 75.1% (95% CI: 73.3%, 76.9%)</a:t>
            </a:r>
          </a:p>
        </p:txBody>
      </p:sp>
      <p:sp>
        <p:nvSpPr>
          <p:cNvPr id="5" name="Content Placeholder 4"/>
          <p:cNvSpPr>
            <a:spLocks noGrp="1"/>
          </p:cNvSpPr>
          <p:nvPr>
            <p:ph sz="half" idx="2"/>
          </p:nvPr>
        </p:nvSpPr>
        <p:spPr>
          <a:xfrm>
            <a:off x="496957" y="5007553"/>
            <a:ext cx="10856843" cy="1293856"/>
          </a:xfrm>
        </p:spPr>
        <p:txBody>
          <a:bodyPr>
            <a:noAutofit/>
          </a:bodyPr>
          <a:lstStyle/>
          <a:p>
            <a:pPr marL="0" indent="0">
              <a:buNone/>
            </a:pPr>
            <a:r>
              <a:rPr lang="en-US" sz="1500" b="1" dirty="0"/>
              <a:t>Clinical interpretation:</a:t>
            </a:r>
            <a:endParaRPr lang="en-US" sz="1500" dirty="0"/>
          </a:p>
          <a:p>
            <a:pPr marL="0" indent="0">
              <a:buNone/>
            </a:pPr>
            <a:r>
              <a:rPr lang="en-US" sz="1500" dirty="0"/>
              <a:t>Maximum infection rate: 12.2 per 1000 patient-days</a:t>
            </a:r>
          </a:p>
          <a:p>
            <a:pPr marL="0" indent="0">
              <a:buNone/>
            </a:pPr>
            <a:r>
              <a:rPr lang="en-US" sz="1500" dirty="0"/>
              <a:t>Infection rates remain low until occupancy reaches ~75%</a:t>
            </a:r>
          </a:p>
          <a:p>
            <a:pPr marL="0" indent="0">
              <a:buNone/>
            </a:pPr>
            <a:r>
              <a:rPr lang="en-US" sz="1500" dirty="0"/>
              <a:t>After 75%, infection rate increases rapidly with each percentage point increase in occupancy</a:t>
            </a:r>
          </a:p>
        </p:txBody>
      </p:sp>
    </p:spTree>
    <p:extLst>
      <p:ext uri="{BB962C8B-B14F-4D97-AF65-F5344CB8AC3E}">
        <p14:creationId xmlns:p14="http://schemas.microsoft.com/office/powerpoint/2010/main" val="35020049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4278"/>
            <a:ext cx="10515600" cy="756410"/>
          </a:xfrm>
        </p:spPr>
        <p:txBody>
          <a:bodyPr/>
          <a:lstStyle/>
          <a:p>
            <a:r>
              <a:rPr lang="en-US" b="1" dirty="0"/>
              <a:t>Exercise – Discussion Questions</a:t>
            </a:r>
          </a:p>
        </p:txBody>
      </p:sp>
      <p:sp>
        <p:nvSpPr>
          <p:cNvPr id="4" name="Rectangle 1"/>
          <p:cNvSpPr>
            <a:spLocks noGrp="1" noChangeArrowheads="1"/>
          </p:cNvSpPr>
          <p:nvPr>
            <p:ph idx="1"/>
          </p:nvPr>
        </p:nvSpPr>
        <p:spPr bwMode="auto">
          <a:xfrm>
            <a:off x="838200" y="1787872"/>
            <a:ext cx="9896061" cy="4426845"/>
          </a:xfrm>
          <a:prstGeom prst="rect">
            <a:avLst/>
          </a:prstGeom>
          <a:solidFill>
            <a:srgbClr val="EBEE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smtClean="0">
                <a:ln>
                  <a:noFill/>
                </a:ln>
                <a:solidFill>
                  <a:srgbClr val="0F1115"/>
                </a:solidFill>
                <a:effectLst/>
                <a:latin typeface="quote-cjk-patch"/>
              </a:rPr>
              <a:t>After completing the exercise, discuss:</a:t>
            </a:r>
            <a:endParaRPr kumimoji="0" lang="en-US" altLang="en-US" sz="2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smtClean="0">
                <a:ln>
                  <a:noFill/>
                </a:ln>
                <a:solidFill>
                  <a:srgbClr val="0F1115"/>
                </a:solidFill>
                <a:effectLst/>
                <a:latin typeface="quote-cjk-patch"/>
              </a:rPr>
              <a:t>Why logistic rather than linear?</a:t>
            </a:r>
            <a:endParaRPr kumimoji="0" lang="en-US" altLang="en-US" sz="2200" b="0" i="0" u="none" strike="noStrike" cap="none" normalizeH="0" baseline="0" smtClean="0">
              <a:ln>
                <a:noFill/>
              </a:ln>
              <a:solidFill>
                <a:srgbClr val="0F1115"/>
              </a:solidFill>
              <a:effectLst/>
              <a:latin typeface="quote-cjk-patch"/>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smtClean="0">
                <a:ln>
                  <a:noFill/>
                </a:ln>
                <a:solidFill>
                  <a:srgbClr val="0F1115"/>
                </a:solidFill>
                <a:effectLst/>
                <a:latin typeface="quote-cjk-patch"/>
              </a:rPr>
              <a:t>Linear would assume constant increase; logistic captures the threshold effect (S-shape)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smtClean="0">
                <a:ln>
                  <a:noFill/>
                </a:ln>
                <a:solidFill>
                  <a:srgbClr val="0F1115"/>
                </a:solidFill>
                <a:effectLst/>
                <a:latin typeface="quote-cjk-patch"/>
              </a:rPr>
              <a:t>What does the inflection point (75%) tell hospital administrators?</a:t>
            </a:r>
            <a:endParaRPr kumimoji="0" lang="en-US" altLang="en-US" sz="2200" b="0" i="0" u="none" strike="noStrike" cap="none" normalizeH="0" baseline="0" smtClean="0">
              <a:ln>
                <a:noFill/>
              </a:ln>
              <a:solidFill>
                <a:srgbClr val="0F1115"/>
              </a:solidFill>
              <a:effectLst/>
              <a:latin typeface="quote-cjk-patch"/>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smtClean="0">
                <a:ln>
                  <a:noFill/>
                </a:ln>
                <a:solidFill>
                  <a:srgbClr val="0F1115"/>
                </a:solidFill>
                <a:effectLst/>
                <a:latin typeface="quote-cjk-patch"/>
              </a:rPr>
              <a:t>Keep occupancy below 75% to prevent rapid infection rate increases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u="none" strike="noStrike" cap="none" normalizeH="0" baseline="0" smtClean="0">
                <a:ln>
                  <a:noFill/>
                </a:ln>
                <a:solidFill>
                  <a:srgbClr val="0F1115"/>
                </a:solidFill>
                <a:effectLst/>
                <a:latin typeface="quote-cjk-patch"/>
              </a:rPr>
              <a:t>How would you report this to a clinical audience?</a:t>
            </a:r>
            <a:endParaRPr kumimoji="0" lang="en-US" altLang="en-US" sz="2200" b="0" i="0" u="none" strike="noStrike" cap="none" normalizeH="0" baseline="0" smtClean="0">
              <a:ln>
                <a:noFill/>
              </a:ln>
              <a:solidFill>
                <a:srgbClr val="0F1115"/>
              </a:solidFill>
              <a:effectLst/>
              <a:latin typeface="quote-cjk-patch"/>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smtClean="0">
                <a:ln>
                  <a:noFill/>
                </a:ln>
                <a:solidFill>
                  <a:srgbClr val="0F1115"/>
                </a:solidFill>
                <a:effectLst/>
                <a:latin typeface="quote-cjk-patch"/>
              </a:rPr>
              <a:t>*"Infection rates remain stable below 75% occupancy but increase sharply above this threshold, reaching a maximum of 12 infections per 1000 patient-days."*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u="none" strike="noStrike" cap="none" normalizeH="0" baseline="0" smtClean="0">
                <a:ln>
                  <a:noFill/>
                </a:ln>
                <a:solidFill>
                  <a:srgbClr val="0F1115"/>
                </a:solidFill>
                <a:effectLst/>
                <a:latin typeface="quote-cjk-patch"/>
              </a:rPr>
              <a:t>What if the model didn't converge?</a:t>
            </a:r>
            <a:endParaRPr kumimoji="0" lang="en-US" altLang="en-US" sz="2200" b="0" i="0" u="none" strike="noStrike" cap="none" normalizeH="0" baseline="0" smtClean="0">
              <a:ln>
                <a:noFill/>
              </a:ln>
              <a:solidFill>
                <a:srgbClr val="0F1115"/>
              </a:solidFill>
              <a:effectLst/>
              <a:latin typeface="quote-cjk-patch"/>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smtClean="0">
                <a:ln>
                  <a:noFill/>
                </a:ln>
                <a:solidFill>
                  <a:srgbClr val="0F1115"/>
                </a:solidFill>
                <a:effectLst/>
                <a:latin typeface="quote-cjk-patch"/>
              </a:rPr>
              <a:t>Adjust starting values, try </a:t>
            </a:r>
            <a:r>
              <a:rPr kumimoji="0" lang="en-US" altLang="en-US" sz="2200" b="0" i="0" u="none" strike="noStrike" cap="none" normalizeH="0" baseline="0" smtClean="0">
                <a:ln>
                  <a:noFill/>
                </a:ln>
                <a:solidFill>
                  <a:srgbClr val="0F1115"/>
                </a:solidFill>
                <a:effectLst/>
                <a:latin typeface="Menlo"/>
              </a:rPr>
              <a:t>trace</a:t>
            </a:r>
            <a:r>
              <a:rPr kumimoji="0" lang="en-US" altLang="en-US" sz="2200" b="0" i="0" u="none" strike="noStrike" cap="none" normalizeH="0" baseline="0" smtClean="0">
                <a:ln>
                  <a:noFill/>
                </a:ln>
                <a:solidFill>
                  <a:srgbClr val="0F1115"/>
                </a:solidFill>
                <a:effectLst/>
                <a:latin typeface="quote-cjk-patch"/>
              </a:rPr>
              <a:t> to see iterations, or simplify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74846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5252"/>
            <a:ext cx="10515600" cy="915436"/>
          </a:xfrm>
        </p:spPr>
        <p:txBody>
          <a:bodyPr/>
          <a:lstStyle/>
          <a:p>
            <a:r>
              <a:rPr lang="en-US" b="1" dirty="0"/>
              <a:t>Applied Stata Commands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5567029"/>
              </p:ext>
            </p:extLst>
          </p:nvPr>
        </p:nvGraphicFramePr>
        <p:xfrm>
          <a:off x="993912" y="1666841"/>
          <a:ext cx="10137914" cy="3938830"/>
        </p:xfrm>
        <a:graphic>
          <a:graphicData uri="http://schemas.openxmlformats.org/drawingml/2006/table">
            <a:tbl>
              <a:tblPr/>
              <a:tblGrid>
                <a:gridCol w="2961862">
                  <a:extLst>
                    <a:ext uri="{9D8B030D-6E8A-4147-A177-3AD203B41FA5}">
                      <a16:colId xmlns:a16="http://schemas.microsoft.com/office/drawing/2014/main" val="3923567927"/>
                    </a:ext>
                  </a:extLst>
                </a:gridCol>
                <a:gridCol w="7176052">
                  <a:extLst>
                    <a:ext uri="{9D8B030D-6E8A-4147-A177-3AD203B41FA5}">
                      <a16:colId xmlns:a16="http://schemas.microsoft.com/office/drawing/2014/main" val="3717497486"/>
                    </a:ext>
                  </a:extLst>
                </a:gridCol>
              </a:tblGrid>
              <a:tr h="546948">
                <a:tc>
                  <a:txBody>
                    <a:bodyPr/>
                    <a:lstStyle/>
                    <a:p>
                      <a:pPr algn="l"/>
                      <a:r>
                        <a:rPr lang="en-US" sz="2200" b="1">
                          <a:effectLst/>
                          <a:latin typeface="quote-cjk-patch"/>
                        </a:rPr>
                        <a:t>Task</a:t>
                      </a:r>
                    </a:p>
                  </a:txBody>
                  <a:tcPr marL="53500" marR="71333" marT="44583" marB="44583" anchor="ctr">
                    <a:lnL>
                      <a:noFill/>
                    </a:lnL>
                    <a:lnR>
                      <a:noFill/>
                    </a:lnR>
                    <a:lnT>
                      <a:noFill/>
                    </a:lnT>
                    <a:lnB>
                      <a:noFill/>
                    </a:lnB>
                    <a:solidFill>
                      <a:srgbClr val="FFFFFF"/>
                    </a:solidFill>
                  </a:tcPr>
                </a:tc>
                <a:tc>
                  <a:txBody>
                    <a:bodyPr/>
                    <a:lstStyle/>
                    <a:p>
                      <a:pPr algn="l"/>
                      <a:r>
                        <a:rPr lang="en-US" sz="2200" b="1" dirty="0">
                          <a:effectLst/>
                          <a:latin typeface="quote-cjk-patch"/>
                        </a:rPr>
                        <a:t>Command</a:t>
                      </a:r>
                    </a:p>
                  </a:txBody>
                  <a:tcPr marL="71333" marR="71333" marT="44583" marB="44583" anchor="ctr">
                    <a:lnL>
                      <a:noFill/>
                    </a:lnL>
                    <a:lnR>
                      <a:noFill/>
                    </a:lnR>
                    <a:lnT>
                      <a:noFill/>
                    </a:lnT>
                    <a:lnB>
                      <a:noFill/>
                    </a:lnB>
                    <a:solidFill>
                      <a:srgbClr val="FFFFFF"/>
                    </a:solidFill>
                  </a:tcPr>
                </a:tc>
                <a:extLst>
                  <a:ext uri="{0D108BD9-81ED-4DB2-BD59-A6C34878D82A}">
                    <a16:rowId xmlns:a16="http://schemas.microsoft.com/office/drawing/2014/main" val="1872344297"/>
                  </a:ext>
                </a:extLst>
              </a:tr>
              <a:tr h="569440">
                <a:tc>
                  <a:txBody>
                    <a:bodyPr/>
                    <a:lstStyle/>
                    <a:p>
                      <a:r>
                        <a:rPr lang="en-US" sz="2200" b="0">
                          <a:effectLst/>
                          <a:latin typeface="quote-cjk-patch"/>
                        </a:rPr>
                        <a:t>Exponential decay</a:t>
                      </a:r>
                    </a:p>
                  </a:txBody>
                  <a:tcPr marL="53500" marR="71333" marT="44583" marB="44583" anchor="ctr">
                    <a:lnL>
                      <a:noFill/>
                    </a:lnL>
                    <a:lnR>
                      <a:noFill/>
                    </a:lnR>
                    <a:lnT>
                      <a:noFill/>
                    </a:lnT>
                    <a:lnB>
                      <a:noFill/>
                    </a:lnB>
                    <a:solidFill>
                      <a:srgbClr val="FFFFFF"/>
                    </a:solidFill>
                  </a:tcPr>
                </a:tc>
                <a:tc>
                  <a:txBody>
                    <a:bodyPr/>
                    <a:lstStyle/>
                    <a:p>
                      <a:r>
                        <a:rPr lang="es-ES" sz="2200" b="0">
                          <a:effectLst/>
                          <a:latin typeface="quote-cjk-patch"/>
                        </a:rPr>
                        <a:t>nl (y = {a} * exp({b} * x)), initial(a 10 b -0.1)</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2052071061"/>
                  </a:ext>
                </a:extLst>
              </a:tr>
              <a:tr h="792264">
                <a:tc>
                  <a:txBody>
                    <a:bodyPr/>
                    <a:lstStyle/>
                    <a:p>
                      <a:r>
                        <a:rPr lang="en-US" sz="2200" b="0">
                          <a:effectLst/>
                          <a:latin typeface="quote-cjk-patch"/>
                        </a:rPr>
                        <a:t>Exponential growth</a:t>
                      </a:r>
                    </a:p>
                  </a:txBody>
                  <a:tcPr marL="53500" marR="71333" marT="44583" marB="44583" anchor="ctr">
                    <a:lnL>
                      <a:noFill/>
                    </a:lnL>
                    <a:lnR>
                      <a:noFill/>
                    </a:lnR>
                    <a:lnT>
                      <a:noFill/>
                    </a:lnT>
                    <a:lnB>
                      <a:noFill/>
                    </a:lnB>
                    <a:solidFill>
                      <a:srgbClr val="FFFFFF"/>
                    </a:solidFill>
                  </a:tcPr>
                </a:tc>
                <a:tc>
                  <a:txBody>
                    <a:bodyPr/>
                    <a:lstStyle/>
                    <a:p>
                      <a:r>
                        <a:rPr lang="es-ES" sz="2200" b="0">
                          <a:effectLst/>
                          <a:latin typeface="quote-cjk-patch"/>
                        </a:rPr>
                        <a:t>nl (y = {a} * (1 - exp({b} * x))), initial(a 100 b 0.1)</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3572411270"/>
                  </a:ext>
                </a:extLst>
              </a:tr>
              <a:tr h="792264">
                <a:tc>
                  <a:txBody>
                    <a:bodyPr/>
                    <a:lstStyle/>
                    <a:p>
                      <a:r>
                        <a:rPr lang="en-US" sz="2200" b="0">
                          <a:effectLst/>
                          <a:latin typeface="quote-cjk-patch"/>
                        </a:rPr>
                        <a:t>Michaelis-Menten</a:t>
                      </a:r>
                    </a:p>
                  </a:txBody>
                  <a:tcPr marL="53500" marR="71333" marT="44583" marB="44583" anchor="ctr">
                    <a:lnL>
                      <a:noFill/>
                    </a:lnL>
                    <a:lnR>
                      <a:noFill/>
                    </a:lnR>
                    <a:lnT>
                      <a:noFill/>
                    </a:lnT>
                    <a:lnB>
                      <a:noFill/>
                    </a:lnB>
                    <a:solidFill>
                      <a:srgbClr val="FFFFFF"/>
                    </a:solidFill>
                  </a:tcPr>
                </a:tc>
                <a:tc>
                  <a:txBody>
                    <a:bodyPr/>
                    <a:lstStyle/>
                    <a:p>
                      <a:r>
                        <a:rPr lang="en-US" sz="2200" b="0">
                          <a:effectLst/>
                          <a:latin typeface="quote-cjk-patch"/>
                        </a:rPr>
                        <a:t>nl (y = {vmax} * x / ({km} + x)), initial(vmax 100 km 25)</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1298293359"/>
                  </a:ext>
                </a:extLst>
              </a:tr>
              <a:tr h="1237914">
                <a:tc>
                  <a:txBody>
                    <a:bodyPr/>
                    <a:lstStyle/>
                    <a:p>
                      <a:r>
                        <a:rPr lang="en-US" sz="2200" b="0">
                          <a:effectLst/>
                          <a:latin typeface="quote-cjk-patch"/>
                        </a:rPr>
                        <a:t>Logistic (sigmoid)</a:t>
                      </a:r>
                    </a:p>
                  </a:txBody>
                  <a:tcPr marL="53500" marR="71333" marT="44583" marB="44583" anchor="ctr">
                    <a:lnL>
                      <a:noFill/>
                    </a:lnL>
                    <a:lnR>
                      <a:noFill/>
                    </a:lnR>
                    <a:lnT>
                      <a:noFill/>
                    </a:lnT>
                    <a:lnB>
                      <a:noFill/>
                    </a:lnB>
                    <a:solidFill>
                      <a:srgbClr val="FFFFFF"/>
                    </a:solidFill>
                  </a:tcPr>
                </a:tc>
                <a:tc>
                  <a:txBody>
                    <a:bodyPr/>
                    <a:lstStyle/>
                    <a:p>
                      <a:r>
                        <a:rPr lang="en-US" sz="2200" b="0" dirty="0" err="1">
                          <a:effectLst/>
                          <a:latin typeface="quote-cjk-patch"/>
                        </a:rPr>
                        <a:t>nl</a:t>
                      </a:r>
                      <a:r>
                        <a:rPr lang="en-US" sz="2200" b="0" dirty="0">
                          <a:effectLst/>
                          <a:latin typeface="quote-cjk-patch"/>
                        </a:rPr>
                        <a:t> (y = {</a:t>
                      </a:r>
                      <a:r>
                        <a:rPr lang="en-US" sz="2200" b="0" dirty="0" err="1">
                          <a:effectLst/>
                          <a:latin typeface="quote-cjk-patch"/>
                        </a:rPr>
                        <a:t>asym</a:t>
                      </a:r>
                      <a:r>
                        <a:rPr lang="en-US" sz="2200" b="0" dirty="0">
                          <a:effectLst/>
                          <a:latin typeface="quote-cjk-patch"/>
                        </a:rPr>
                        <a:t>} / (1 + </a:t>
                      </a:r>
                      <a:r>
                        <a:rPr lang="en-US" sz="2200" b="0" dirty="0" err="1">
                          <a:effectLst/>
                          <a:latin typeface="quote-cjk-patch"/>
                        </a:rPr>
                        <a:t>exp</a:t>
                      </a:r>
                      <a:r>
                        <a:rPr lang="en-US" sz="2200" b="0" dirty="0">
                          <a:effectLst/>
                          <a:latin typeface="quote-cjk-patch"/>
                        </a:rPr>
                        <a:t>({rate}*(x-{inflect})))), initial(</a:t>
                      </a:r>
                      <a:r>
                        <a:rPr lang="en-US" sz="2200" b="0" dirty="0" err="1">
                          <a:effectLst/>
                          <a:latin typeface="quote-cjk-patch"/>
                        </a:rPr>
                        <a:t>asym</a:t>
                      </a:r>
                      <a:r>
                        <a:rPr lang="en-US" sz="2200" b="0" dirty="0">
                          <a:effectLst/>
                          <a:latin typeface="quote-cjk-patch"/>
                        </a:rPr>
                        <a:t> 80 rate -0.1 inflect 1950)</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2937914017"/>
                  </a:ext>
                </a:extLst>
              </a:tr>
            </a:tbl>
          </a:graphicData>
        </a:graphic>
      </p:graphicFrame>
    </p:spTree>
    <p:extLst>
      <p:ext uri="{BB962C8B-B14F-4D97-AF65-F5344CB8AC3E}">
        <p14:creationId xmlns:p14="http://schemas.microsoft.com/office/powerpoint/2010/main" val="15216196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5252"/>
            <a:ext cx="10515600" cy="915436"/>
          </a:xfrm>
        </p:spPr>
        <p:txBody>
          <a:bodyPr/>
          <a:lstStyle/>
          <a:p>
            <a:r>
              <a:rPr lang="en-US" b="1" dirty="0"/>
              <a:t>Applied Stata Commands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22362860"/>
              </p:ext>
            </p:extLst>
          </p:nvPr>
        </p:nvGraphicFramePr>
        <p:xfrm>
          <a:off x="993912" y="1666840"/>
          <a:ext cx="10137914" cy="4157489"/>
        </p:xfrm>
        <a:graphic>
          <a:graphicData uri="http://schemas.openxmlformats.org/drawingml/2006/table">
            <a:tbl>
              <a:tblPr/>
              <a:tblGrid>
                <a:gridCol w="2961862">
                  <a:extLst>
                    <a:ext uri="{9D8B030D-6E8A-4147-A177-3AD203B41FA5}">
                      <a16:colId xmlns:a16="http://schemas.microsoft.com/office/drawing/2014/main" val="3923567927"/>
                    </a:ext>
                  </a:extLst>
                </a:gridCol>
                <a:gridCol w="7176052">
                  <a:extLst>
                    <a:ext uri="{9D8B030D-6E8A-4147-A177-3AD203B41FA5}">
                      <a16:colId xmlns:a16="http://schemas.microsoft.com/office/drawing/2014/main" val="3717497486"/>
                    </a:ext>
                  </a:extLst>
                </a:gridCol>
              </a:tblGrid>
              <a:tr h="593927">
                <a:tc>
                  <a:txBody>
                    <a:bodyPr/>
                    <a:lstStyle/>
                    <a:p>
                      <a:pPr algn="l"/>
                      <a:r>
                        <a:rPr lang="en-US" sz="2400" b="1">
                          <a:effectLst/>
                          <a:latin typeface="quote-cjk-patch"/>
                        </a:rPr>
                        <a:t>Task</a:t>
                      </a:r>
                    </a:p>
                  </a:txBody>
                  <a:tcPr marL="53500" marR="71333" marT="44583" marB="44583" anchor="ctr">
                    <a:lnL>
                      <a:noFill/>
                    </a:lnL>
                    <a:lnR>
                      <a:noFill/>
                    </a:lnR>
                    <a:lnT>
                      <a:noFill/>
                    </a:lnT>
                    <a:lnB>
                      <a:noFill/>
                    </a:lnB>
                    <a:solidFill>
                      <a:srgbClr val="FFFFFF"/>
                    </a:solidFill>
                  </a:tcPr>
                </a:tc>
                <a:tc>
                  <a:txBody>
                    <a:bodyPr/>
                    <a:lstStyle/>
                    <a:p>
                      <a:pPr algn="l"/>
                      <a:r>
                        <a:rPr lang="en-US" sz="2400" b="1" dirty="0">
                          <a:effectLst/>
                          <a:latin typeface="quote-cjk-patch"/>
                        </a:rPr>
                        <a:t>Command</a:t>
                      </a:r>
                    </a:p>
                  </a:txBody>
                  <a:tcPr marL="71333" marR="71333" marT="44583" marB="44583" anchor="ctr">
                    <a:lnL>
                      <a:noFill/>
                    </a:lnL>
                    <a:lnR>
                      <a:noFill/>
                    </a:lnR>
                    <a:lnT>
                      <a:noFill/>
                    </a:lnT>
                    <a:lnB>
                      <a:noFill/>
                    </a:lnB>
                    <a:solidFill>
                      <a:srgbClr val="FFFFFF"/>
                    </a:solidFill>
                  </a:tcPr>
                </a:tc>
                <a:extLst>
                  <a:ext uri="{0D108BD9-81ED-4DB2-BD59-A6C34878D82A}">
                    <a16:rowId xmlns:a16="http://schemas.microsoft.com/office/drawing/2014/main" val="1872344297"/>
                  </a:ext>
                </a:extLst>
              </a:tr>
              <a:tr h="593927">
                <a:tc>
                  <a:txBody>
                    <a:bodyPr/>
                    <a:lstStyle/>
                    <a:p>
                      <a:r>
                        <a:rPr lang="en-US" sz="2400" b="0" dirty="0">
                          <a:effectLst/>
                          <a:latin typeface="quote-cjk-patch"/>
                        </a:rPr>
                        <a:t>Predict fitted</a:t>
                      </a:r>
                    </a:p>
                  </a:txBody>
                  <a:tcPr marL="53500" marR="71333" marT="44583" marB="44583" anchor="ctr">
                    <a:lnL>
                      <a:noFill/>
                    </a:lnL>
                    <a:lnR>
                      <a:noFill/>
                    </a:lnR>
                    <a:lnT>
                      <a:noFill/>
                    </a:lnT>
                    <a:lnB>
                      <a:noFill/>
                    </a:lnB>
                    <a:solidFill>
                      <a:srgbClr val="FFFFFF"/>
                    </a:solidFill>
                  </a:tcPr>
                </a:tc>
                <a:tc>
                  <a:txBody>
                    <a:bodyPr/>
                    <a:lstStyle/>
                    <a:p>
                      <a:r>
                        <a:rPr lang="en-US" sz="2400" b="0">
                          <a:effectLst/>
                          <a:latin typeface="quote-cjk-patch"/>
                        </a:rPr>
                        <a:t>predict yhat, yhat</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3595184041"/>
                  </a:ext>
                </a:extLst>
              </a:tr>
              <a:tr h="593927">
                <a:tc>
                  <a:txBody>
                    <a:bodyPr/>
                    <a:lstStyle/>
                    <a:p>
                      <a:r>
                        <a:rPr lang="en-US" sz="2400" b="0">
                          <a:effectLst/>
                          <a:latin typeface="quote-cjk-patch"/>
                        </a:rPr>
                        <a:t>Predict residuals</a:t>
                      </a:r>
                    </a:p>
                  </a:txBody>
                  <a:tcPr marL="53500" marR="71333" marT="44583" marB="44583" anchor="ctr">
                    <a:lnL>
                      <a:noFill/>
                    </a:lnL>
                    <a:lnR>
                      <a:noFill/>
                    </a:lnR>
                    <a:lnT>
                      <a:noFill/>
                    </a:lnT>
                    <a:lnB>
                      <a:noFill/>
                    </a:lnB>
                    <a:solidFill>
                      <a:srgbClr val="FFFFFF"/>
                    </a:solidFill>
                  </a:tcPr>
                </a:tc>
                <a:tc>
                  <a:txBody>
                    <a:bodyPr/>
                    <a:lstStyle/>
                    <a:p>
                      <a:r>
                        <a:rPr lang="en-US" sz="2400" b="0">
                          <a:effectLst/>
                          <a:latin typeface="quote-cjk-patch"/>
                        </a:rPr>
                        <a:t>predict resid, resid</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58707811"/>
                  </a:ext>
                </a:extLst>
              </a:tr>
              <a:tr h="593927">
                <a:tc>
                  <a:txBody>
                    <a:bodyPr/>
                    <a:lstStyle/>
                    <a:p>
                      <a:r>
                        <a:rPr lang="en-US" sz="2400" b="0">
                          <a:effectLst/>
                          <a:latin typeface="quote-cjk-patch"/>
                        </a:rPr>
                        <a:t>Residual plot</a:t>
                      </a:r>
                    </a:p>
                  </a:txBody>
                  <a:tcPr marL="53500" marR="71333" marT="44583" marB="44583" anchor="ctr">
                    <a:lnL>
                      <a:noFill/>
                    </a:lnL>
                    <a:lnR>
                      <a:noFill/>
                    </a:lnR>
                    <a:lnT>
                      <a:noFill/>
                    </a:lnT>
                    <a:lnB>
                      <a:noFill/>
                    </a:lnB>
                    <a:solidFill>
                      <a:srgbClr val="FFFFFF"/>
                    </a:solidFill>
                  </a:tcPr>
                </a:tc>
                <a:tc>
                  <a:txBody>
                    <a:bodyPr/>
                    <a:lstStyle/>
                    <a:p>
                      <a:r>
                        <a:rPr lang="en-US" sz="2400" b="0">
                          <a:effectLst/>
                          <a:latin typeface="quote-cjk-patch"/>
                        </a:rPr>
                        <a:t>rvfplot, yline(0)</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1329266418"/>
                  </a:ext>
                </a:extLst>
              </a:tr>
              <a:tr h="593927">
                <a:tc>
                  <a:txBody>
                    <a:bodyPr/>
                    <a:lstStyle/>
                    <a:p>
                      <a:r>
                        <a:rPr lang="en-US" sz="2400" b="0">
                          <a:effectLst/>
                          <a:latin typeface="quote-cjk-patch"/>
                        </a:rPr>
                        <a:t>Q-Q plot</a:t>
                      </a:r>
                    </a:p>
                  </a:txBody>
                  <a:tcPr marL="53500" marR="71333" marT="44583" marB="44583" anchor="ctr">
                    <a:lnL>
                      <a:noFill/>
                    </a:lnL>
                    <a:lnR>
                      <a:noFill/>
                    </a:lnR>
                    <a:lnT>
                      <a:noFill/>
                    </a:lnT>
                    <a:lnB>
                      <a:noFill/>
                    </a:lnB>
                    <a:solidFill>
                      <a:srgbClr val="FFFFFF"/>
                    </a:solidFill>
                  </a:tcPr>
                </a:tc>
                <a:tc>
                  <a:txBody>
                    <a:bodyPr/>
                    <a:lstStyle/>
                    <a:p>
                      <a:r>
                        <a:rPr lang="en-US" sz="2400" b="0">
                          <a:effectLst/>
                          <a:latin typeface="quote-cjk-patch"/>
                        </a:rPr>
                        <a:t>qnorm resid</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3553181705"/>
                  </a:ext>
                </a:extLst>
              </a:tr>
              <a:tr h="593927">
                <a:tc>
                  <a:txBody>
                    <a:bodyPr/>
                    <a:lstStyle/>
                    <a:p>
                      <a:r>
                        <a:rPr lang="en-US" sz="2400" b="0">
                          <a:effectLst/>
                          <a:latin typeface="quote-cjk-patch"/>
                        </a:rPr>
                        <a:t>Derived parameter</a:t>
                      </a:r>
                    </a:p>
                  </a:txBody>
                  <a:tcPr marL="53500" marR="71333" marT="44583" marB="44583" anchor="ctr">
                    <a:lnL>
                      <a:noFill/>
                    </a:lnL>
                    <a:lnR>
                      <a:noFill/>
                    </a:lnR>
                    <a:lnT>
                      <a:noFill/>
                    </a:lnT>
                    <a:lnB>
                      <a:noFill/>
                    </a:lnB>
                    <a:solidFill>
                      <a:srgbClr val="FFFFFF"/>
                    </a:solidFill>
                  </a:tcPr>
                </a:tc>
                <a:tc>
                  <a:txBody>
                    <a:bodyPr/>
                    <a:lstStyle/>
                    <a:p>
                      <a:r>
                        <a:rPr lang="en-US" sz="2400" b="0">
                          <a:effectLst/>
                          <a:latin typeface="quote-cjk-patch"/>
                        </a:rPr>
                        <a:t>nlcom (name: expression)</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2530649534"/>
                  </a:ext>
                </a:extLst>
              </a:tr>
              <a:tr h="593927">
                <a:tc>
                  <a:txBody>
                    <a:bodyPr/>
                    <a:lstStyle/>
                    <a:p>
                      <a:r>
                        <a:rPr lang="en-US" sz="2400" b="0">
                          <a:effectLst/>
                          <a:latin typeface="quote-cjk-patch"/>
                        </a:rPr>
                        <a:t>Check convergence</a:t>
                      </a:r>
                    </a:p>
                  </a:txBody>
                  <a:tcPr marL="53500" marR="71333" marT="44583" marB="44583" anchor="ctr">
                    <a:lnL>
                      <a:noFill/>
                    </a:lnL>
                    <a:lnR>
                      <a:noFill/>
                    </a:lnR>
                    <a:lnT>
                      <a:noFill/>
                    </a:lnT>
                    <a:lnB>
                      <a:noFill/>
                    </a:lnB>
                    <a:solidFill>
                      <a:srgbClr val="FFFFFF"/>
                    </a:solidFill>
                  </a:tcPr>
                </a:tc>
                <a:tc>
                  <a:txBody>
                    <a:bodyPr/>
                    <a:lstStyle/>
                    <a:p>
                      <a:r>
                        <a:rPr lang="en-US" sz="2400" b="0" dirty="0">
                          <a:effectLst/>
                          <a:latin typeface="quote-cjk-patch"/>
                        </a:rPr>
                        <a:t>di e(converged)</a:t>
                      </a:r>
                    </a:p>
                  </a:txBody>
                  <a:tcPr marL="71333" marR="53500" marT="44583" marB="44583" anchor="ctr">
                    <a:lnL>
                      <a:noFill/>
                    </a:lnL>
                    <a:lnR>
                      <a:noFill/>
                    </a:lnR>
                    <a:lnT>
                      <a:noFill/>
                    </a:lnT>
                    <a:lnB>
                      <a:noFill/>
                    </a:lnB>
                    <a:solidFill>
                      <a:srgbClr val="FFFFFF"/>
                    </a:solidFill>
                  </a:tcPr>
                </a:tc>
                <a:extLst>
                  <a:ext uri="{0D108BD9-81ED-4DB2-BD59-A6C34878D82A}">
                    <a16:rowId xmlns:a16="http://schemas.microsoft.com/office/drawing/2014/main" val="1339444142"/>
                  </a:ext>
                </a:extLst>
              </a:tr>
            </a:tbl>
          </a:graphicData>
        </a:graphic>
      </p:graphicFrame>
    </p:spTree>
    <p:extLst>
      <p:ext uri="{BB962C8B-B14F-4D97-AF65-F5344CB8AC3E}">
        <p14:creationId xmlns:p14="http://schemas.microsoft.com/office/powerpoint/2010/main" val="25921060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4" name="Rectangle 1"/>
          <p:cNvSpPr>
            <a:spLocks noGrp="1" noChangeArrowheads="1"/>
          </p:cNvSpPr>
          <p:nvPr>
            <p:ph idx="1"/>
          </p:nvPr>
        </p:nvSpPr>
        <p:spPr bwMode="auto">
          <a:xfrm>
            <a:off x="659296" y="1356853"/>
            <a:ext cx="9677400"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Non-linear regression models biological processes with clinically meaningful parameters</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Always plot first – the pattern tells you which model to use</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Starting values matter – guess from the plot, then refine</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Check convergence – </a:t>
            </a:r>
            <a:r>
              <a:rPr kumimoji="0" lang="en-US" altLang="en-US" sz="2400" i="0" u="none" strike="noStrike" cap="none" normalizeH="0" baseline="0" dirty="0" smtClean="0">
                <a:ln>
                  <a:noFill/>
                </a:ln>
                <a:solidFill>
                  <a:srgbClr val="0F1115"/>
                </a:solidFill>
                <a:effectLst/>
                <a:latin typeface="Menlo"/>
              </a:rPr>
              <a:t>e(converged)</a:t>
            </a:r>
            <a:r>
              <a:rPr kumimoji="0" lang="en-US" altLang="en-US" sz="2400" i="0" u="none" strike="noStrike" cap="none" normalizeH="0" baseline="0" dirty="0" smtClean="0">
                <a:ln>
                  <a:noFill/>
                </a:ln>
                <a:solidFill>
                  <a:srgbClr val="0F1115"/>
                </a:solidFill>
                <a:effectLst/>
                <a:latin typeface="quote-cjk-patch"/>
              </a:rPr>
              <a:t> should be 1</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Diagnose residuals – </a:t>
            </a:r>
            <a:r>
              <a:rPr kumimoji="0" lang="en-US" altLang="en-US" sz="2400" i="0" u="none" strike="noStrike" cap="none" normalizeH="0" baseline="0" dirty="0" err="1" smtClean="0">
                <a:ln>
                  <a:noFill/>
                </a:ln>
                <a:solidFill>
                  <a:srgbClr val="0F1115"/>
                </a:solidFill>
                <a:effectLst/>
                <a:latin typeface="quote-cjk-patch"/>
              </a:rPr>
              <a:t>rvfplot</a:t>
            </a:r>
            <a:r>
              <a:rPr kumimoji="0" lang="en-US" altLang="en-US" sz="2400" i="0" u="none" strike="noStrike" cap="none" normalizeH="0" baseline="0" dirty="0" smtClean="0">
                <a:ln>
                  <a:noFill/>
                </a:ln>
                <a:solidFill>
                  <a:srgbClr val="0F1115"/>
                </a:solidFill>
                <a:effectLst/>
                <a:latin typeface="quote-cjk-patch"/>
              </a:rPr>
              <a:t>, </a:t>
            </a:r>
            <a:r>
              <a:rPr kumimoji="0" lang="en-US" altLang="en-US" sz="2400" i="0" u="none" strike="noStrike" cap="none" normalizeH="0" baseline="0" dirty="0" err="1" smtClean="0">
                <a:ln>
                  <a:noFill/>
                </a:ln>
                <a:solidFill>
                  <a:srgbClr val="0F1115"/>
                </a:solidFill>
                <a:effectLst/>
                <a:latin typeface="quote-cjk-patch"/>
              </a:rPr>
              <a:t>qnorm</a:t>
            </a:r>
            <a:r>
              <a:rPr kumimoji="0" lang="en-US" altLang="en-US" sz="2400" i="0" u="none" strike="noStrike" cap="none" normalizeH="0" baseline="0" dirty="0" smtClean="0">
                <a:ln>
                  <a:noFill/>
                </a:ln>
                <a:solidFill>
                  <a:srgbClr val="0F1115"/>
                </a:solidFill>
                <a:effectLst/>
                <a:latin typeface="quote-cjk-patch"/>
              </a:rPr>
              <a:t>, Cook's D</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Report parameters with interpretation – not just numbers</a:t>
            </a:r>
            <a:endParaRPr kumimoji="0" lang="en-US" altLang="en-US" sz="2400" i="0" u="none" strike="noStrike" cap="none" normalizeH="0" baseline="0" dirty="0" smtClean="0">
              <a:ln>
                <a:noFill/>
              </a:ln>
              <a:solidFill>
                <a:schemeClr val="tx1"/>
              </a:solidFill>
              <a:effectLst/>
            </a:endParaRPr>
          </a:p>
          <a:p>
            <a:pPr>
              <a:lnSpc>
                <a:spcPct val="100000"/>
              </a:lnSpc>
              <a:spcAft>
                <a:spcPts val="1800"/>
              </a:spcAft>
            </a:pPr>
            <a:r>
              <a:rPr kumimoji="0" lang="en-US" altLang="en-US" sz="2400" i="0" u="none" strike="noStrike" cap="none" normalizeH="0" baseline="0" dirty="0" smtClean="0">
                <a:ln>
                  <a:noFill/>
                </a:ln>
                <a:solidFill>
                  <a:srgbClr val="0F1115"/>
                </a:solidFill>
                <a:effectLst/>
                <a:latin typeface="quote-cjk-patch"/>
              </a:rPr>
              <a:t>Four go-to models: Exponential decay, Exponential growth, </a:t>
            </a:r>
            <a:r>
              <a:rPr kumimoji="0" lang="en-US" altLang="en-US" sz="2400" i="0" u="none" strike="noStrike" cap="none" normalizeH="0" baseline="0" dirty="0" err="1" smtClean="0">
                <a:ln>
                  <a:noFill/>
                </a:ln>
                <a:solidFill>
                  <a:srgbClr val="0F1115"/>
                </a:solidFill>
                <a:effectLst/>
                <a:latin typeface="quote-cjk-patch"/>
              </a:rPr>
              <a:t>Michaelis-Menten</a:t>
            </a:r>
            <a:r>
              <a:rPr kumimoji="0" lang="en-US" altLang="en-US" sz="2400" i="0" u="none" strike="noStrike" cap="none" normalizeH="0" baseline="0" dirty="0" smtClean="0">
                <a:ln>
                  <a:noFill/>
                </a:ln>
                <a:solidFill>
                  <a:srgbClr val="0F1115"/>
                </a:solidFill>
                <a:effectLst/>
                <a:latin typeface="quote-cjk-patch"/>
              </a:rPr>
              <a:t>, Logistic</a:t>
            </a:r>
            <a:endParaRPr kumimoji="0" lang="en-US" altLang="en-US" sz="240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920143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 &amp; Resources</a:t>
            </a:r>
          </a:p>
        </p:txBody>
      </p:sp>
      <p:sp>
        <p:nvSpPr>
          <p:cNvPr id="3" name="Content Placeholder 2"/>
          <p:cNvSpPr>
            <a:spLocks noGrp="1"/>
          </p:cNvSpPr>
          <p:nvPr>
            <p:ph idx="1"/>
          </p:nvPr>
        </p:nvSpPr>
        <p:spPr/>
        <p:txBody>
          <a:bodyPr/>
          <a:lstStyle/>
          <a:p>
            <a:pPr marL="0" indent="0">
              <a:buNone/>
            </a:pPr>
            <a:r>
              <a:rPr lang="en-US" b="1" dirty="0"/>
              <a:t>Recommended reading:</a:t>
            </a:r>
            <a:endParaRPr lang="en-US" dirty="0"/>
          </a:p>
          <a:p>
            <a:r>
              <a:rPr lang="en-US" dirty="0" err="1"/>
              <a:t>Motulsky</a:t>
            </a:r>
            <a:r>
              <a:rPr lang="en-US" dirty="0"/>
              <a:t> H, </a:t>
            </a:r>
            <a:r>
              <a:rPr lang="en-US" dirty="0" err="1"/>
              <a:t>Christopoulos</a:t>
            </a:r>
            <a:r>
              <a:rPr lang="en-US" dirty="0"/>
              <a:t> A. </a:t>
            </a:r>
            <a:r>
              <a:rPr lang="en-US" i="1" dirty="0"/>
              <a:t>Fitting Models to Biological Data using Nonlinear Regression</a:t>
            </a:r>
            <a:r>
              <a:rPr lang="en-US" dirty="0"/>
              <a:t>. </a:t>
            </a:r>
            <a:r>
              <a:rPr lang="en-US" dirty="0" err="1"/>
              <a:t>GraphPad</a:t>
            </a:r>
            <a:r>
              <a:rPr lang="en-US" dirty="0"/>
              <a:t> Software; 2003</a:t>
            </a:r>
            <a:r>
              <a:rPr lang="en-US" dirty="0" smtClean="0"/>
              <a:t>.</a:t>
            </a:r>
          </a:p>
          <a:p>
            <a:r>
              <a:rPr lang="pt-BR"/>
              <a:t>Stata User Manual: [R] nl</a:t>
            </a:r>
          </a:p>
          <a:p>
            <a:endParaRPr lang="en-US" dirty="0"/>
          </a:p>
        </p:txBody>
      </p:sp>
    </p:spTree>
    <p:extLst>
      <p:ext uri="{BB962C8B-B14F-4D97-AF65-F5344CB8AC3E}">
        <p14:creationId xmlns:p14="http://schemas.microsoft.com/office/powerpoint/2010/main" val="32447736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08472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1686</TotalTime>
  <Words>2839</Words>
  <Application>Microsoft Office PowerPoint</Application>
  <PresentationFormat>Widescreen</PresentationFormat>
  <Paragraphs>584</Paragraphs>
  <Slides>50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Calibri Light</vt:lpstr>
      <vt:lpstr>Cambria Math</vt:lpstr>
      <vt:lpstr>Menlo</vt:lpstr>
      <vt:lpstr>quote-cjk-patch</vt:lpstr>
      <vt:lpstr>Times New Roman</vt:lpstr>
      <vt:lpstr>Office Theme</vt:lpstr>
      <vt:lpstr>Applied Non-Linear Regression for clinical Research</vt:lpstr>
      <vt:lpstr>What You Will Do Today:</vt:lpstr>
      <vt:lpstr>Learning Objectives By the end of this session, you will be able to run these Stata commands: </vt:lpstr>
      <vt:lpstr>Four Clinical Models You Will Learn</vt:lpstr>
      <vt:lpstr>Dataset 1 – Auto (Exponential Decay)</vt:lpstr>
      <vt:lpstr>Applied Example 1 – Exponential Decay Model</vt:lpstr>
      <vt:lpstr>Fit the Model</vt:lpstr>
      <vt:lpstr>Output Interpretation</vt:lpstr>
      <vt:lpstr>Clinical translation:</vt:lpstr>
      <vt:lpstr>Predict and Diagnose</vt:lpstr>
      <vt:lpstr>Calculate Half-Life (Derived Parameter)</vt:lpstr>
      <vt:lpstr>2 – US Life Expectancy (Logistic Growth)</vt:lpstr>
      <vt:lpstr>Logistic Growth Model</vt:lpstr>
      <vt:lpstr>Step 1 – Plot:</vt:lpstr>
      <vt:lpstr>Step 2 – Starting values (visual guess):</vt:lpstr>
      <vt:lpstr>Fit Logistic Model</vt:lpstr>
      <vt:lpstr>Output: </vt:lpstr>
      <vt:lpstr>Predict and Plot</vt:lpstr>
      <vt:lpstr>3. Simulated Dose-Response (Michaelis-Menten)</vt:lpstr>
      <vt:lpstr>Michaelis-Menten Model</vt:lpstr>
      <vt:lpstr>PowerPoint Presentation</vt:lpstr>
      <vt:lpstr>Output Interpretation</vt:lpstr>
      <vt:lpstr>Clinical translation:</vt:lpstr>
      <vt:lpstr>Visual Diagnostics</vt:lpstr>
      <vt:lpstr>PowerPoint Presentation</vt:lpstr>
      <vt:lpstr>4. Exponential Growth (Viral Load)</vt:lpstr>
      <vt:lpstr>Fit Exponential Growth</vt:lpstr>
      <vt:lpstr>Comparing Models – Linear vs Non-linear</vt:lpstr>
      <vt:lpstr>Typical results:</vt:lpstr>
      <vt:lpstr>Diagnostic Checklist for Non-linear Models</vt:lpstr>
      <vt:lpstr>PowerPoint Presentation</vt:lpstr>
      <vt:lpstr>Common Stata Errors and Fixes</vt:lpstr>
      <vt:lpstr>Debugging tools:</vt:lpstr>
      <vt:lpstr>Hands-on Exercise</vt:lpstr>
      <vt:lpstr>PowerPoint Presentation</vt:lpstr>
      <vt:lpstr>Exercise – Data Creation Code</vt:lpstr>
      <vt:lpstr>Exercise – Data Creation Code</vt:lpstr>
      <vt:lpstr>Exercise – Step-by-Step Hints</vt:lpstr>
      <vt:lpstr>Hint 3 – After fitting:</vt:lpstr>
      <vt:lpstr>Exercise – Calculate EC50 (Occupancy at 50% Max)</vt:lpstr>
      <vt:lpstr>PowerPoint Presentation</vt:lpstr>
      <vt:lpstr>Exercise </vt:lpstr>
      <vt:lpstr>Exercise </vt:lpstr>
      <vt:lpstr>Exercise – Expected Results</vt:lpstr>
      <vt:lpstr>Exercise – Discussion Questions</vt:lpstr>
      <vt:lpstr>Applied Stata Commands</vt:lpstr>
      <vt:lpstr>Applied Stata Commands</vt:lpstr>
      <vt:lpstr>Summary</vt:lpstr>
      <vt:lpstr>References &amp; Resources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38</cp:revision>
  <dcterms:created xsi:type="dcterms:W3CDTF">2026-04-13T06:29:27Z</dcterms:created>
  <dcterms:modified xsi:type="dcterms:W3CDTF">2026-05-26T18:56:10Z</dcterms:modified>
</cp:coreProperties>
</file>