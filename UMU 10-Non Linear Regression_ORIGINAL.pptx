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7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7" r:id="rId29"/>
    <p:sldId id="288" r:id="rId30"/>
    <p:sldId id="286" r:id="rId31"/>
    <p:sldId id="285" r:id="rId32"/>
    <p:sldId id="289" r:id="rId33"/>
    <p:sldId id="290" r:id="rId34"/>
    <p:sldId id="291" r:id="rId35"/>
    <p:sldId id="292" r:id="rId36"/>
    <p:sldId id="293" r:id="rId37"/>
    <p:sldId id="295" r:id="rId38"/>
    <p:sldId id="297" r:id="rId39"/>
    <p:sldId id="296" r:id="rId40"/>
    <p:sldId id="298" r:id="rId41"/>
    <p:sldId id="299" r:id="rId42"/>
    <p:sldId id="300" r:id="rId43"/>
    <p:sldId id="303" r:id="rId44"/>
    <p:sldId id="301" r:id="rId45"/>
    <p:sldId id="302" r:id="rId46"/>
    <p:sldId id="304" r:id="rId47"/>
    <p:sldId id="307" r:id="rId48"/>
    <p:sldId id="305" r:id="rId49"/>
    <p:sldId id="306" r:id="rId50"/>
    <p:sldId id="294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5" autoAdjust="0"/>
    <p:restoredTop sz="64783" autoAdjust="0"/>
  </p:normalViewPr>
  <p:slideViewPr>
    <p:cSldViewPr snapToGrid="0">
      <p:cViewPr varScale="1">
        <p:scale>
          <a:sx n="39" d="100"/>
          <a:sy n="39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56964-4522-46CB-BD27-EAD27BE7FAB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09FF0-B3CB-4DA5-9F3C-AD9C396AA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55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*Notes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to look for: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Residuals randomly scattered around zero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Q-Q points along the diagonal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 roughly bell-shaped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09FF0-B3CB-4DA5-9F3C-AD9C396AA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91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*"Viral load doubles every 2.2 days (95% CI: 1.7-2.7 days) during early infection."*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09FF0-B3CB-4DA5-9F3C-AD9C396AAD5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0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Twoway</a:t>
            </a:r>
            <a:r>
              <a:rPr lang="en-US" dirty="0" smtClean="0"/>
              <a:t> scatter X1 X2 works without the </a:t>
            </a:r>
            <a:r>
              <a:rPr lang="en-US" dirty="0" err="1" smtClean="0"/>
              <a:t>titiles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09FF0-B3CB-4DA5-9F3C-AD9C396AAD5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54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4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8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3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9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5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3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2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3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1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4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7DA54-8421-428B-ACC9-7BCA801F053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BF568-0278-4AF5-A4F9-D1B9D2169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8382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Applied Non-Linear Regression for clinical Research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8469" y="3657601"/>
            <a:ext cx="9515061" cy="221642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Beyond </a:t>
            </a:r>
            <a:r>
              <a:rPr lang="en-US" dirty="0"/>
              <a:t>straight lines: Modeling complex dose-response dynamics, growth trajectories, and </a:t>
            </a:r>
            <a:r>
              <a:rPr lang="en-US" dirty="0" err="1"/>
              <a:t>pharmacodynamic</a:t>
            </a:r>
            <a:r>
              <a:rPr lang="en-US" dirty="0"/>
              <a:t> relationships requires moving beyond traditional linear assumptions. In biological systems, structural limits, saturation points, and decay rates are the norm</a:t>
            </a:r>
            <a:r>
              <a:rPr lang="en-US" dirty="0" smtClean="0"/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Presenter:</a:t>
            </a:r>
            <a:r>
              <a:rPr lang="en-US" dirty="0"/>
              <a:t> </a:t>
            </a:r>
            <a:r>
              <a:rPr lang="en-US" dirty="0" smtClean="0"/>
              <a:t>Dr. Christine Atuhairwe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 smtClean="0"/>
              <a:t>Department:</a:t>
            </a:r>
            <a:r>
              <a:rPr lang="en-US" dirty="0"/>
              <a:t> </a:t>
            </a:r>
            <a:r>
              <a:rPr lang="en-US" dirty="0" smtClean="0"/>
              <a:t>Faculty of Health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219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6347"/>
            <a:ext cx="10515600" cy="816045"/>
          </a:xfrm>
        </p:spPr>
        <p:txBody>
          <a:bodyPr>
            <a:normAutofit/>
          </a:bodyPr>
          <a:lstStyle/>
          <a:p>
            <a:r>
              <a:rPr lang="en-US" sz="3600" b="1" dirty="0"/>
              <a:t>What You Will Do Today: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19588"/>
              </p:ext>
            </p:extLst>
          </p:nvPr>
        </p:nvGraphicFramePr>
        <p:xfrm>
          <a:off x="1053547" y="1412392"/>
          <a:ext cx="10300253" cy="512064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993914">
                  <a:extLst>
                    <a:ext uri="{9D8B030D-6E8A-4147-A177-3AD203B41FA5}">
                      <a16:colId xmlns:a16="http://schemas.microsoft.com/office/drawing/2014/main" val="2247942487"/>
                    </a:ext>
                  </a:extLst>
                </a:gridCol>
                <a:gridCol w="9306339">
                  <a:extLst>
                    <a:ext uri="{9D8B030D-6E8A-4147-A177-3AD203B41FA5}">
                      <a16:colId xmlns:a16="http://schemas.microsoft.com/office/drawing/2014/main" val="3436845931"/>
                    </a:ext>
                  </a:extLst>
                </a:gridCol>
              </a:tblGrid>
              <a:tr h="50178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Step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Activity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4240994"/>
                  </a:ext>
                </a:extLst>
              </a:tr>
              <a:tr h="5517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Understand </a:t>
                      </a:r>
                      <a:r>
                        <a:rPr lang="en-US" sz="2400" dirty="0">
                          <a:effectLst/>
                        </a:rPr>
                        <a:t>when to use non-linear regression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6556517"/>
                  </a:ext>
                </a:extLst>
              </a:tr>
              <a:tr h="50178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Learn </a:t>
                      </a:r>
                      <a:r>
                        <a:rPr lang="en-US" sz="2400" dirty="0">
                          <a:effectLst/>
                        </a:rPr>
                        <a:t>4 clinical models with Stata code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411470"/>
                  </a:ext>
                </a:extLst>
              </a:tr>
              <a:tr h="50178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Run </a:t>
                      </a:r>
                      <a:r>
                        <a:rPr lang="en-US" sz="2400" dirty="0">
                          <a:effectLst/>
                        </a:rPr>
                        <a:t>3 live examples using built-in data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6048927"/>
                  </a:ext>
                </a:extLst>
              </a:tr>
              <a:tr h="50178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Diagnostic </a:t>
                      </a:r>
                      <a:r>
                        <a:rPr lang="en-US" sz="2400" dirty="0">
                          <a:effectLst/>
                        </a:rPr>
                        <a:t>testing in Stata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8915392"/>
                  </a:ext>
                </a:extLst>
              </a:tr>
              <a:tr h="50178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Hands-on </a:t>
                      </a:r>
                      <a:r>
                        <a:rPr lang="en-US" sz="2400" dirty="0">
                          <a:effectLst/>
                        </a:rPr>
                        <a:t>exercise (you run the code)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9204697"/>
                  </a:ext>
                </a:extLst>
              </a:tr>
              <a:tr h="50178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4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Review </a:t>
                      </a:r>
                      <a:r>
                        <a:rPr lang="en-US" sz="2400" dirty="0">
                          <a:effectLst/>
                        </a:rPr>
                        <a:t>solutions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1469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92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439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Learning Objectives</a:t>
            </a:r>
            <a:br>
              <a:rPr lang="en-US" sz="3600" b="1" dirty="0" smtClean="0"/>
            </a:br>
            <a:r>
              <a:rPr lang="en-US" sz="3600" dirty="0"/>
              <a:t>By the end of this session, you will be able to </a:t>
            </a:r>
            <a:r>
              <a:rPr lang="en-US" sz="3600" b="1" dirty="0"/>
              <a:t>run</a:t>
            </a:r>
            <a:r>
              <a:rPr lang="en-US" sz="3600" dirty="0"/>
              <a:t> these Stata commands</a:t>
            </a:r>
            <a:r>
              <a:rPr lang="en-US" sz="3600" dirty="0" smtClean="0"/>
              <a:t>:</a:t>
            </a:r>
            <a:r>
              <a:rPr lang="en-US" sz="3600" b="1" dirty="0" smtClean="0"/>
              <a:t>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06487"/>
            <a:ext cx="5181600" cy="3970476"/>
          </a:xfrm>
        </p:spPr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b="1" dirty="0" err="1" smtClean="0">
                <a:solidFill>
                  <a:srgbClr val="FF0000"/>
                </a:solidFill>
              </a:rPr>
              <a:t>nl</a:t>
            </a:r>
            <a:r>
              <a:rPr lang="en-US" dirty="0"/>
              <a:t> – Non-linear least squares estimation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predict</a:t>
            </a:r>
            <a:r>
              <a:rPr lang="en-US" dirty="0"/>
              <a:t> – Generate fitted values and residuals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 err="1">
                <a:solidFill>
                  <a:srgbClr val="FF0000"/>
                </a:solidFill>
              </a:rPr>
              <a:t>rvfplot</a:t>
            </a:r>
            <a:r>
              <a:rPr lang="en-US" dirty="0"/>
              <a:t> – Residual vs fitted plots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 err="1">
                <a:solidFill>
                  <a:srgbClr val="FF0000"/>
                </a:solidFill>
              </a:rPr>
              <a:t>qnorm</a:t>
            </a:r>
            <a:r>
              <a:rPr lang="en-US" dirty="0"/>
              <a:t> – Normality checks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 err="1">
                <a:solidFill>
                  <a:srgbClr val="FF0000"/>
                </a:solidFill>
              </a:rPr>
              <a:t>nlcom</a:t>
            </a:r>
            <a:r>
              <a:rPr lang="en-US" b="1" dirty="0">
                <a:solidFill>
                  <a:srgbClr val="FF0000"/>
                </a:solidFill>
              </a:rPr>
              <a:t> </a:t>
            </a:r>
            <a:r>
              <a:rPr lang="en-US" dirty="0"/>
              <a:t>– Calculate derived parameters (e.g., half-life)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06487"/>
            <a:ext cx="5181600" cy="39704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Clinical skills:</a:t>
            </a:r>
            <a:endParaRPr lang="en-US" dirty="0"/>
          </a:p>
          <a:p>
            <a:r>
              <a:rPr lang="en-US" dirty="0"/>
              <a:t>Choose the right non-linear function for your data</a:t>
            </a:r>
          </a:p>
          <a:p>
            <a:r>
              <a:rPr lang="en-US" dirty="0"/>
              <a:t>Interpret EC50, </a:t>
            </a:r>
            <a:r>
              <a:rPr lang="en-US" dirty="0" err="1"/>
              <a:t>Vmax</a:t>
            </a:r>
            <a:r>
              <a:rPr lang="en-US" dirty="0"/>
              <a:t>, half-life, and asymptote</a:t>
            </a:r>
          </a:p>
          <a:p>
            <a:r>
              <a:rPr lang="en-US" dirty="0"/>
              <a:t>Diagnose convergence failures</a:t>
            </a:r>
          </a:p>
        </p:txBody>
      </p:sp>
    </p:spTree>
    <p:extLst>
      <p:ext uri="{BB962C8B-B14F-4D97-AF65-F5344CB8AC3E}">
        <p14:creationId xmlns:p14="http://schemas.microsoft.com/office/powerpoint/2010/main" val="1759373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4765"/>
            <a:ext cx="10515600" cy="835923"/>
          </a:xfrm>
        </p:spPr>
        <p:txBody>
          <a:bodyPr>
            <a:normAutofit/>
          </a:bodyPr>
          <a:lstStyle/>
          <a:p>
            <a:r>
              <a:rPr lang="en-US" sz="3600" b="1" dirty="0"/>
              <a:t>Four Clinical Models You Will Learn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032158"/>
              </p:ext>
            </p:extLst>
          </p:nvPr>
        </p:nvGraphicFramePr>
        <p:xfrm>
          <a:off x="699052" y="1690688"/>
          <a:ext cx="10515600" cy="431928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911087">
                  <a:extLst>
                    <a:ext uri="{9D8B030D-6E8A-4147-A177-3AD203B41FA5}">
                      <a16:colId xmlns:a16="http://schemas.microsoft.com/office/drawing/2014/main" val="1892582495"/>
                    </a:ext>
                  </a:extLst>
                </a:gridCol>
                <a:gridCol w="2226365">
                  <a:extLst>
                    <a:ext uri="{9D8B030D-6E8A-4147-A177-3AD203B41FA5}">
                      <a16:colId xmlns:a16="http://schemas.microsoft.com/office/drawing/2014/main" val="3019984710"/>
                    </a:ext>
                  </a:extLst>
                </a:gridCol>
                <a:gridCol w="4393096">
                  <a:extLst>
                    <a:ext uri="{9D8B030D-6E8A-4147-A177-3AD203B41FA5}">
                      <a16:colId xmlns:a16="http://schemas.microsoft.com/office/drawing/2014/main" val="391741457"/>
                    </a:ext>
                  </a:extLst>
                </a:gridCol>
                <a:gridCol w="2985052">
                  <a:extLst>
                    <a:ext uri="{9D8B030D-6E8A-4147-A177-3AD203B41FA5}">
                      <a16:colId xmlns:a16="http://schemas.microsoft.com/office/drawing/2014/main" val="4163529935"/>
                    </a:ext>
                  </a:extLst>
                </a:gridCol>
              </a:tblGrid>
              <a:tr h="41397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#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Model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Stata </a:t>
                      </a:r>
                      <a:r>
                        <a:rPr lang="en-US" sz="2800" dirty="0">
                          <a:effectLst/>
                        </a:rPr>
                        <a:t>Syntax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Clinical </a:t>
                      </a:r>
                      <a:r>
                        <a:rPr lang="en-US" sz="2800" dirty="0">
                          <a:effectLst/>
                        </a:rPr>
                        <a:t>Use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6643852"/>
                  </a:ext>
                </a:extLst>
              </a:tr>
              <a:tr h="7774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1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Exponential </a:t>
                      </a:r>
                      <a:r>
                        <a:rPr lang="en-US" sz="2800" dirty="0">
                          <a:effectLst/>
                        </a:rPr>
                        <a:t>decay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 smtClean="0">
                          <a:effectLst/>
                        </a:rPr>
                        <a:t>nl</a:t>
                      </a:r>
                      <a:r>
                        <a:rPr lang="en-US" sz="2800" dirty="0" smtClean="0">
                          <a:effectLst/>
                        </a:rPr>
                        <a:t> </a:t>
                      </a:r>
                      <a:r>
                        <a:rPr lang="en-US" sz="2800" dirty="0">
                          <a:effectLst/>
                        </a:rPr>
                        <a:t>(y = {a} * </a:t>
                      </a:r>
                      <a:r>
                        <a:rPr lang="en-US" sz="2800" dirty="0" err="1">
                          <a:effectLst/>
                        </a:rPr>
                        <a:t>exp</a:t>
                      </a:r>
                      <a:r>
                        <a:rPr lang="en-US" sz="2800" dirty="0">
                          <a:effectLst/>
                        </a:rPr>
                        <a:t>({b} * x))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Drug </a:t>
                      </a:r>
                      <a:r>
                        <a:rPr lang="en-US" sz="2800" dirty="0">
                          <a:effectLst/>
                        </a:rPr>
                        <a:t>clearance, pain resolution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149477"/>
                  </a:ext>
                </a:extLst>
              </a:tr>
              <a:tr h="114090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2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Exponential </a:t>
                      </a:r>
                      <a:r>
                        <a:rPr lang="en-US" sz="2800" dirty="0">
                          <a:effectLst/>
                        </a:rPr>
                        <a:t>growth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 smtClean="0">
                          <a:effectLst/>
                        </a:rPr>
                        <a:t>nl</a:t>
                      </a:r>
                      <a:r>
                        <a:rPr lang="en-US" sz="2800" dirty="0" smtClean="0">
                          <a:effectLst/>
                        </a:rPr>
                        <a:t> </a:t>
                      </a:r>
                      <a:r>
                        <a:rPr lang="en-US" sz="2800" dirty="0">
                          <a:effectLst/>
                        </a:rPr>
                        <a:t>(y = {a} * (1 - </a:t>
                      </a:r>
                      <a:r>
                        <a:rPr lang="en-US" sz="2800" dirty="0" err="1">
                          <a:effectLst/>
                        </a:rPr>
                        <a:t>exp</a:t>
                      </a:r>
                      <a:r>
                        <a:rPr lang="en-US" sz="2800" dirty="0">
                          <a:effectLst/>
                        </a:rPr>
                        <a:t>({b} * x)))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Viral </a:t>
                      </a:r>
                      <a:r>
                        <a:rPr lang="en-US" sz="2800" dirty="0">
                          <a:effectLst/>
                        </a:rPr>
                        <a:t>load increase, tumor growth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7258277"/>
                  </a:ext>
                </a:extLst>
              </a:tr>
              <a:tr h="7774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3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 smtClean="0">
                          <a:effectLst/>
                        </a:rPr>
                        <a:t>Michaelis-Menten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 smtClean="0">
                          <a:effectLst/>
                        </a:rPr>
                        <a:t>nl</a:t>
                      </a:r>
                      <a:r>
                        <a:rPr lang="en-US" sz="2800" dirty="0" smtClean="0">
                          <a:effectLst/>
                        </a:rPr>
                        <a:t> </a:t>
                      </a:r>
                      <a:r>
                        <a:rPr lang="en-US" sz="2800" dirty="0">
                          <a:effectLst/>
                        </a:rPr>
                        <a:t>(y = {</a:t>
                      </a:r>
                      <a:r>
                        <a:rPr lang="en-US" sz="2800" dirty="0" err="1">
                          <a:effectLst/>
                        </a:rPr>
                        <a:t>vmax</a:t>
                      </a:r>
                      <a:r>
                        <a:rPr lang="en-US" sz="2800" dirty="0">
                          <a:effectLst/>
                        </a:rPr>
                        <a:t>} * x / ({km} + x))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Dose-response</a:t>
                      </a:r>
                      <a:r>
                        <a:rPr lang="en-US" sz="2800" dirty="0">
                          <a:effectLst/>
                        </a:rPr>
                        <a:t>, receptor binding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8165933"/>
                  </a:ext>
                </a:extLst>
              </a:tr>
              <a:tr h="114090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4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Logistic </a:t>
                      </a:r>
                      <a:r>
                        <a:rPr lang="en-US" sz="2800" dirty="0">
                          <a:effectLst/>
                        </a:rPr>
                        <a:t>(sigmoid)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 smtClean="0">
                          <a:effectLst/>
                        </a:rPr>
                        <a:t>nl</a:t>
                      </a:r>
                      <a:r>
                        <a:rPr lang="en-US" sz="2800" dirty="0" smtClean="0">
                          <a:effectLst/>
                        </a:rPr>
                        <a:t> </a:t>
                      </a:r>
                      <a:r>
                        <a:rPr lang="en-US" sz="2800" dirty="0">
                          <a:effectLst/>
                        </a:rPr>
                        <a:t>(y = {</a:t>
                      </a:r>
                      <a:r>
                        <a:rPr lang="en-US" sz="2800" dirty="0" err="1">
                          <a:effectLst/>
                        </a:rPr>
                        <a:t>asym</a:t>
                      </a:r>
                      <a:r>
                        <a:rPr lang="en-US" sz="2800" dirty="0">
                          <a:effectLst/>
                        </a:rPr>
                        <a:t>} / (1 + </a:t>
                      </a:r>
                      <a:r>
                        <a:rPr lang="en-US" sz="2800" dirty="0" err="1">
                          <a:effectLst/>
                        </a:rPr>
                        <a:t>exp</a:t>
                      </a:r>
                      <a:r>
                        <a:rPr lang="en-US" sz="2800" dirty="0">
                          <a:effectLst/>
                        </a:rPr>
                        <a:t>({rate} * (x - {inflect}))))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800" dirty="0" smtClean="0">
                        <a:effectLst/>
                      </a:endParaRPr>
                    </a:p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</a:rPr>
                        <a:t>Growth </a:t>
                      </a:r>
                      <a:r>
                        <a:rPr lang="en-US" sz="2800" dirty="0">
                          <a:effectLst/>
                        </a:rPr>
                        <a:t>curves, cognitive decline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24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33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Dataset 1 – Auto (Exponential Decay)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Clinical analogy:</a:t>
            </a:r>
            <a:r>
              <a:rPr lang="en-US" dirty="0"/>
              <a:t> Drug concentration over time after IV bolus</a:t>
            </a:r>
          </a:p>
          <a:p>
            <a:pPr marL="0" indent="0">
              <a:buNone/>
            </a:pPr>
            <a:r>
              <a:rPr lang="en-US" dirty="0" err="1"/>
              <a:t>stata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* Load the data</a:t>
            </a:r>
            <a:endParaRPr lang="en-US" dirty="0"/>
          </a:p>
          <a:p>
            <a:pPr marL="0" indent="0" latinLnBrk="1">
              <a:buNone/>
            </a:pPr>
            <a:r>
              <a:rPr lang="en-US" b="1" dirty="0" err="1">
                <a:solidFill>
                  <a:srgbClr val="FF0000"/>
                </a:solidFill>
              </a:rPr>
              <a:t>sysuse</a:t>
            </a:r>
            <a:r>
              <a:rPr lang="en-US" b="1" dirty="0">
                <a:solidFill>
                  <a:srgbClr val="FF0000"/>
                </a:solidFill>
              </a:rPr>
              <a:t> auto, clear</a:t>
            </a:r>
          </a:p>
          <a:p>
            <a:pPr marL="0" indent="0" latinLnBrk="1">
              <a:buNone/>
            </a:pPr>
            <a:r>
              <a:rPr lang="en-US" dirty="0"/>
              <a:t> </a:t>
            </a:r>
          </a:p>
          <a:p>
            <a:pPr marL="0" indent="0" latinLnBrk="1">
              <a:buNone/>
            </a:pPr>
            <a:r>
              <a:rPr lang="en-US" i="1" dirty="0"/>
              <a:t>* Explore</a:t>
            </a:r>
            <a:endParaRPr lang="en-US" dirty="0"/>
          </a:p>
          <a:p>
            <a:pPr marL="0" indent="0" latinLnBrk="1">
              <a:buNone/>
            </a:pPr>
            <a:r>
              <a:rPr lang="en-US" b="1" dirty="0">
                <a:solidFill>
                  <a:srgbClr val="FF0000"/>
                </a:solidFill>
              </a:rPr>
              <a:t>describe</a:t>
            </a:r>
          </a:p>
          <a:p>
            <a:pPr marL="0" indent="0" latinLnBrk="1">
              <a:buNone/>
            </a:pPr>
            <a:r>
              <a:rPr lang="en-US" b="1" dirty="0">
                <a:solidFill>
                  <a:srgbClr val="FF0000"/>
                </a:solidFill>
              </a:rPr>
              <a:t>list mpg weight in </a:t>
            </a:r>
            <a:r>
              <a:rPr lang="en-US" b="1" dirty="0" smtClean="0">
                <a:solidFill>
                  <a:srgbClr val="FF0000"/>
                </a:solidFill>
              </a:rPr>
              <a:t>1/5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 latinLnBrk="1">
              <a:buNone/>
            </a:pPr>
            <a:r>
              <a:rPr lang="en-US" i="1" dirty="0"/>
              <a:t>* Variables: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* - mpg = Miles per gallon (outcome)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* - weight = Vehicle weight in </a:t>
            </a:r>
            <a:r>
              <a:rPr lang="en-US" i="1" dirty="0" err="1"/>
              <a:t>lbs</a:t>
            </a:r>
            <a:r>
              <a:rPr lang="en-US" i="1" dirty="0"/>
              <a:t> (predictor)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 </a:t>
            </a:r>
          </a:p>
          <a:p>
            <a:pPr marL="0" indent="0" latinLnBrk="1">
              <a:buNone/>
            </a:pPr>
            <a:r>
              <a:rPr lang="en-US" i="1" dirty="0"/>
              <a:t>* Clinical parallel:</a:t>
            </a:r>
            <a:endParaRPr lang="en-US" dirty="0"/>
          </a:p>
          <a:p>
            <a:pPr marL="0" indent="0" latinLnBrk="1">
              <a:buNone/>
            </a:pPr>
            <a:r>
              <a:rPr lang="en-US" i="1" dirty="0"/>
              <a:t>* Drug concentration (mpg) decays as body mass (weight) increases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Applied Example 1 – Exponential Decay Model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2893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Model:</a:t>
            </a: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MPG=</a:t>
            </a:r>
            <a:r>
              <a:rPr lang="en-US" b="1" dirty="0" err="1" smtClean="0">
                <a:solidFill>
                  <a:srgbClr val="FF0000"/>
                </a:solidFill>
              </a:rPr>
              <a:t>a×e</a:t>
            </a:r>
            <a:r>
              <a:rPr lang="en-US" b="1" baseline="30000" dirty="0" err="1" smtClean="0">
                <a:solidFill>
                  <a:srgbClr val="FF0000"/>
                </a:solidFill>
              </a:rPr>
              <a:t>b×Weight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Where: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a = MPG at zero weight (maximum theoretical MPG)</a:t>
            </a:r>
          </a:p>
          <a:p>
            <a:pPr marL="0" lvl="0" indent="0">
              <a:buNone/>
            </a:pPr>
            <a:r>
              <a:rPr lang="en-US" dirty="0" smtClean="0"/>
              <a:t>b = Decay rate (negative = MPG decreases with weight)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7130" y="1825625"/>
            <a:ext cx="598667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1 – Plot the data: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stata</a:t>
            </a:r>
            <a:endParaRPr lang="en-US" dirty="0"/>
          </a:p>
          <a:p>
            <a:pPr marL="0" indent="0" latinLnBrk="1">
              <a:buNone/>
            </a:pPr>
            <a:r>
              <a:rPr lang="en-US" b="1" dirty="0" err="1">
                <a:solidFill>
                  <a:srgbClr val="FF0000"/>
                </a:solidFill>
              </a:rPr>
              <a:t>sysuse</a:t>
            </a:r>
            <a:r>
              <a:rPr lang="en-US" b="1" dirty="0">
                <a:solidFill>
                  <a:srgbClr val="FF0000"/>
                </a:solidFill>
              </a:rPr>
              <a:t> auto, clear</a:t>
            </a:r>
          </a:p>
          <a:p>
            <a:pPr marL="0" indent="0" latinLnBrk="1">
              <a:buNone/>
            </a:pPr>
            <a:r>
              <a:rPr lang="en-US" dirty="0"/>
              <a:t> </a:t>
            </a:r>
          </a:p>
          <a:p>
            <a:pPr marL="0" indent="0" latinLnBrk="1">
              <a:buNone/>
            </a:pPr>
            <a:r>
              <a:rPr lang="en-US" dirty="0" err="1"/>
              <a:t>twoway</a:t>
            </a:r>
            <a:r>
              <a:rPr lang="en-US" dirty="0"/>
              <a:t> scatter mpg weight, </a:t>
            </a:r>
            <a:r>
              <a:rPr lang="en-US" i="1" dirty="0"/>
              <a:t>///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title("MPG vs Vehicle Weight") </a:t>
            </a:r>
            <a:r>
              <a:rPr lang="en-US" i="1" dirty="0"/>
              <a:t>///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xtitle</a:t>
            </a:r>
            <a:r>
              <a:rPr lang="en-US" dirty="0"/>
              <a:t>("Weight (</a:t>
            </a:r>
            <a:r>
              <a:rPr lang="en-US" dirty="0" err="1"/>
              <a:t>lbs</a:t>
            </a:r>
            <a:r>
              <a:rPr lang="en-US" dirty="0"/>
              <a:t>)") </a:t>
            </a:r>
            <a:r>
              <a:rPr lang="en-US" i="1" dirty="0"/>
              <a:t>///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</a:t>
            </a:r>
            <a:r>
              <a:rPr lang="en-US" dirty="0" err="1"/>
              <a:t>ytitle</a:t>
            </a:r>
            <a:r>
              <a:rPr lang="en-US" dirty="0"/>
              <a:t>("Miles per Gallon") </a:t>
            </a:r>
            <a:r>
              <a:rPr lang="en-US" i="1" dirty="0"/>
              <a:t>///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    scheme(s2color)</a:t>
            </a:r>
          </a:p>
        </p:txBody>
      </p:sp>
    </p:spTree>
    <p:extLst>
      <p:ext uri="{BB962C8B-B14F-4D97-AF65-F5344CB8AC3E}">
        <p14:creationId xmlns:p14="http://schemas.microsoft.com/office/powerpoint/2010/main" val="117810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5861"/>
            <a:ext cx="10515600" cy="716653"/>
          </a:xfrm>
        </p:spPr>
        <p:txBody>
          <a:bodyPr>
            <a:normAutofit/>
          </a:bodyPr>
          <a:lstStyle/>
          <a:p>
            <a:r>
              <a:rPr lang="en-US" sz="3600" b="1" dirty="0"/>
              <a:t>Fit the Model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3913" y="1392514"/>
            <a:ext cx="10078278" cy="4739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Step 2 – Choose starting values: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Look at plot: Max MPG ≈ 40 →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= 40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Decay rate small negative →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 = -0.0005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Step 3 – Run non-linear regression: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Fit exponential decay model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mpg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weight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0.0005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solidFill>
                <a:srgbClr val="0F1115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Same model with IRR-style interpretation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mpg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weight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0.0005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vce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robust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50797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6226"/>
            <a:ext cx="10515600" cy="915436"/>
          </a:xfrm>
        </p:spPr>
        <p:txBody>
          <a:bodyPr>
            <a:normAutofit/>
          </a:bodyPr>
          <a:lstStyle/>
          <a:p>
            <a:r>
              <a:rPr lang="en-US" sz="3600" b="1" dirty="0"/>
              <a:t>Output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-------------------------------------------------------------------------------------------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mpg | Coefficient  Std. err.      t    </a:t>
            </a:r>
            <a:r>
              <a:rPr lang="en-US" dirty="0" smtClean="0"/>
              <a:t>    P</a:t>
            </a:r>
            <a:r>
              <a:rPr lang="en-US" dirty="0"/>
              <a:t>&gt;|t|     [95% conf. interval]</a:t>
            </a:r>
          </a:p>
          <a:p>
            <a:pPr marL="0" indent="0">
              <a:buNone/>
            </a:pPr>
            <a:r>
              <a:rPr lang="en-US" dirty="0" smtClean="0"/>
              <a:t>---------+--------------------------------------------------------------------------------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/a |   41.23456      2.345    </a:t>
            </a:r>
            <a:r>
              <a:rPr lang="en-US" dirty="0" smtClean="0"/>
              <a:t>   17.58   </a:t>
            </a:r>
            <a:r>
              <a:rPr lang="en-US" dirty="0"/>
              <a:t>0.000       36.567       </a:t>
            </a:r>
            <a:r>
              <a:rPr lang="en-US" dirty="0" smtClean="0"/>
              <a:t> 45.902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/b |  -0.000478     0.00007   -6.83   </a:t>
            </a:r>
            <a:r>
              <a:rPr lang="en-US" dirty="0" smtClean="0"/>
              <a:t> 0.000      </a:t>
            </a:r>
            <a:r>
              <a:rPr lang="en-US" dirty="0"/>
              <a:t>-0.00062     -0.00034</a:t>
            </a:r>
          </a:p>
          <a:p>
            <a:pPr marL="0" indent="0">
              <a:buNone/>
            </a:pPr>
            <a:r>
              <a:rPr lang="en-US" dirty="0" smtClean="0"/>
              <a:t>-------------------------------------------------------------------------------------------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2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6104"/>
            <a:ext cx="10515600" cy="816045"/>
          </a:xfrm>
        </p:spPr>
        <p:txBody>
          <a:bodyPr>
            <a:normAutofit/>
          </a:bodyPr>
          <a:lstStyle/>
          <a:p>
            <a:r>
              <a:rPr lang="en-US" sz="3600" b="1" dirty="0"/>
              <a:t>Clinical translation: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Clinical </a:t>
            </a:r>
            <a:r>
              <a:rPr lang="en-US" b="1" dirty="0"/>
              <a:t>statement: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*"A 1000 </a:t>
            </a:r>
            <a:r>
              <a:rPr lang="en-US" dirty="0" err="1"/>
              <a:t>lb</a:t>
            </a:r>
            <a:r>
              <a:rPr lang="en-US" dirty="0"/>
              <a:t> increase in weight is associated with a 38% reduction in MPG (IRR = 0.62)."*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747590"/>
              </p:ext>
            </p:extLst>
          </p:nvPr>
        </p:nvGraphicFramePr>
        <p:xfrm>
          <a:off x="699052" y="1675537"/>
          <a:ext cx="10515600" cy="2995854"/>
        </p:xfrm>
        <a:graphic>
          <a:graphicData uri="http://schemas.openxmlformats.org/drawingml/2006/table">
            <a:tbl>
              <a:tblPr/>
              <a:tblGrid>
                <a:gridCol w="1805609">
                  <a:extLst>
                    <a:ext uri="{9D8B030D-6E8A-4147-A177-3AD203B41FA5}">
                      <a16:colId xmlns:a16="http://schemas.microsoft.com/office/drawing/2014/main" val="1585224144"/>
                    </a:ext>
                  </a:extLst>
                </a:gridCol>
                <a:gridCol w="1967948">
                  <a:extLst>
                    <a:ext uri="{9D8B030D-6E8A-4147-A177-3AD203B41FA5}">
                      <a16:colId xmlns:a16="http://schemas.microsoft.com/office/drawing/2014/main" val="3930572537"/>
                    </a:ext>
                  </a:extLst>
                </a:gridCol>
                <a:gridCol w="3160643">
                  <a:extLst>
                    <a:ext uri="{9D8B030D-6E8A-4147-A177-3AD203B41FA5}">
                      <a16:colId xmlns:a16="http://schemas.microsoft.com/office/drawing/2014/main" val="711236984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613600234"/>
                    </a:ext>
                  </a:extLst>
                </a:gridCol>
              </a:tblGrid>
              <a:tr h="679060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  <a:latin typeface="quote-cjk-patch"/>
                        </a:rPr>
                        <a:t>Estimate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  <a:latin typeface="quote-cjk-patch"/>
                        </a:rPr>
                        <a:t>95% CI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  <a:latin typeface="quote-cjk-patch"/>
                        </a:rPr>
                        <a:t>Meaning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348053"/>
                  </a:ext>
                </a:extLst>
              </a:tr>
              <a:tr h="1158397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quote-cjk-patch"/>
                        </a:rPr>
                        <a:t>a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41.2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(36.6, 45.9)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Maximum MPG at zero weight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394341"/>
                  </a:ext>
                </a:extLst>
              </a:tr>
              <a:tr h="1158397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quote-cjk-patch"/>
                        </a:rPr>
                        <a:t>b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-0.00048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(-0.00062, -0.00034)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quote-cjk-patch"/>
                        </a:rPr>
                        <a:t>Each </a:t>
                      </a:r>
                      <a:r>
                        <a:rPr lang="en-US" sz="2400" b="0" dirty="0" err="1">
                          <a:effectLst/>
                          <a:latin typeface="quote-cjk-patch"/>
                        </a:rPr>
                        <a:t>lb</a:t>
                      </a:r>
                      <a:r>
                        <a:rPr lang="en-US" sz="2400" b="0" dirty="0">
                          <a:effectLst/>
                          <a:latin typeface="quote-cjk-patch"/>
                        </a:rPr>
                        <a:t> reduces MPG by 0.048%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58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663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Predict and Diagnose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50504"/>
            <a:ext cx="5181600" cy="4626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* Predict fitted values and residuals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predict </a:t>
            </a:r>
            <a:r>
              <a:rPr lang="en-US" b="1" dirty="0" err="1">
                <a:solidFill>
                  <a:srgbClr val="FF0000"/>
                </a:solidFill>
              </a:rPr>
              <a:t>fitted_exp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yhat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predict </a:t>
            </a:r>
            <a:r>
              <a:rPr lang="en-US" b="1" dirty="0" err="1">
                <a:solidFill>
                  <a:srgbClr val="FF0000"/>
                </a:solidFill>
              </a:rPr>
              <a:t>resid_exp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resid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Diagnostic plot 1: Residuals vs fitted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rvfplot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yline</a:t>
            </a:r>
            <a:r>
              <a:rPr lang="en-US" b="1" dirty="0">
                <a:solidFill>
                  <a:srgbClr val="FF0000"/>
                </a:solidFill>
              </a:rPr>
              <a:t>(0) ///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title("Residuals vs Fitted - Exponential Model")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* Diagnostic plot 2: Normality of residuals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qnorm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resid_exp</a:t>
            </a:r>
            <a:r>
              <a:rPr lang="en-US" b="1" dirty="0">
                <a:solidFill>
                  <a:srgbClr val="FF0000"/>
                </a:solidFill>
              </a:rPr>
              <a:t>, ///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title("Q-Q Plot of Residuals")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Diagnostic plot 3: Histogram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histogram</a:t>
            </a:r>
            <a:r>
              <a:rPr lang="en-US" dirty="0"/>
              <a:t> </a:t>
            </a:r>
            <a:r>
              <a:rPr lang="en-US" dirty="0" err="1"/>
              <a:t>resid_exp</a:t>
            </a:r>
            <a:r>
              <a:rPr lang="en-US" dirty="0"/>
              <a:t>, normal ///</a:t>
            </a:r>
          </a:p>
          <a:p>
            <a:pPr marL="0" indent="0">
              <a:buNone/>
            </a:pPr>
            <a:r>
              <a:rPr lang="en-US" dirty="0"/>
              <a:t>    title("Distribution of Residuals")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51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5252"/>
            <a:ext cx="10515600" cy="915436"/>
          </a:xfrm>
        </p:spPr>
        <p:txBody>
          <a:bodyPr>
            <a:normAutofit/>
          </a:bodyPr>
          <a:lstStyle/>
          <a:p>
            <a:r>
              <a:rPr lang="en-US" sz="3600" b="1" dirty="0"/>
              <a:t>Calculate Half-Life (Derived Parameter)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6618" y="1690689"/>
                <a:ext cx="10515600" cy="1390442"/>
              </a:xfrm>
            </p:spPr>
            <p:txBody>
              <a:bodyPr/>
              <a:lstStyle/>
              <a:p>
                <a:r>
                  <a:rPr lang="en-US" b="1" dirty="0" smtClean="0"/>
                  <a:t>Half-life formula for exponential decay: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⁡(2)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618" y="1690689"/>
                <a:ext cx="10515600" cy="1390442"/>
              </a:xfrm>
              <a:blipFill>
                <a:blip r:embed="rId2"/>
                <a:stretch>
                  <a:fillRect l="-1043" t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3081131"/>
            <a:ext cx="10055086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Stata command: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After fitting the model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mpg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weight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initial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0.0005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Calculate half-life (weight change to halve MPG)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nlcom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half_life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_b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Output: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half_life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 = 1450 </a:t>
            </a:r>
            <a:r>
              <a:rPr kumimoji="0" lang="en-US" altLang="en-US" sz="22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lbs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 (95% CI: 1100, 1800)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Interpretation: Every 1450 </a:t>
            </a:r>
            <a:r>
              <a:rPr kumimoji="0" lang="en-US" altLang="en-US" sz="22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lb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 increase halves MPG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3577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5255"/>
            <a:ext cx="10515600" cy="9144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2 </a:t>
            </a:r>
            <a:r>
              <a:rPr lang="en-US" sz="3600" b="1" dirty="0"/>
              <a:t>– US Life Expectancy (Logistic Growth</a:t>
            </a:r>
            <a:r>
              <a:rPr lang="en-US" sz="3600" b="1" dirty="0" smtClean="0"/>
              <a:t>)</a:t>
            </a:r>
            <a:endParaRPr lang="en-US" sz="36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49655"/>
            <a:ext cx="9621078" cy="4739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Dataset: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uslifeexp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(US life expectancy 1900-2000)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Clinical analogy: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Tumor growth, CD4 recovery, cognitive decline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Load the data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sysuse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uslifeexp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clear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Keep only US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keep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if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region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"US"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Explore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list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year le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Variables: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- year = Calendar year (predictor)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- le = Life expectancy in years (outcome)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891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Logistic Growth Model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76601"/>
              </a:xfrm>
            </p:spPr>
            <p:txBody>
              <a:bodyPr/>
              <a:lstStyle/>
              <a:p>
                <a:r>
                  <a:rPr lang="en-US" dirty="0" smtClean="0"/>
                  <a:t>Model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𝐴𝑠𝑦𝑚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𝑅𝑎𝑡𝑒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𝑌𝑒𝑎𝑟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𝐼𝑛𝑓𝑙𝑒𝑐𝑡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76601"/>
              </a:xfrm>
              <a:blipFill>
                <a:blip r:embed="rId2"/>
                <a:stretch>
                  <a:fillRect l="-1043" t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38200" y="3935897"/>
            <a:ext cx="966083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Where</a:t>
            </a:r>
            <a:r>
              <a:rPr lang="en-US" sz="2600" b="1" dirty="0"/>
              <a:t>:</a:t>
            </a:r>
            <a:endParaRPr lang="en-US" sz="2600" dirty="0"/>
          </a:p>
          <a:p>
            <a:pPr lvl="0"/>
            <a:r>
              <a:rPr lang="en-US" sz="2600" dirty="0" err="1"/>
              <a:t>Asym</a:t>
            </a:r>
            <a:r>
              <a:rPr lang="en-US" sz="2600" dirty="0"/>
              <a:t> = Upper asymptote (maximum life expectancy)</a:t>
            </a:r>
          </a:p>
          <a:p>
            <a:pPr lvl="0"/>
            <a:r>
              <a:rPr lang="en-US" sz="2600" dirty="0"/>
              <a:t>Rate = Growth rate (negative = increasing function)</a:t>
            </a:r>
          </a:p>
          <a:p>
            <a:pPr lvl="0"/>
            <a:r>
              <a:rPr lang="en-US" sz="2600" dirty="0"/>
              <a:t>Inflect = Year of fastest growth (inflection point)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88514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 – Plot: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576856" cy="316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A626A4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scatter le year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"US Life Expectancy Over Time"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xtitle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"Year"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ytitle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"Life Expectancy (years)"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875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5496"/>
            <a:ext cx="10515600" cy="955192"/>
          </a:xfrm>
        </p:spPr>
        <p:txBody>
          <a:bodyPr>
            <a:normAutofit/>
          </a:bodyPr>
          <a:lstStyle/>
          <a:p>
            <a:r>
              <a:rPr lang="en-US" sz="3600" b="1" dirty="0"/>
              <a:t>Step 2 – Starting values (visual guess):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Asymptote ≈ 80 → </a:t>
            </a:r>
            <a:r>
              <a:rPr lang="en-US" dirty="0" err="1"/>
              <a:t>asym</a:t>
            </a:r>
            <a:r>
              <a:rPr lang="en-US" dirty="0"/>
              <a:t> = 80</a:t>
            </a:r>
          </a:p>
          <a:p>
            <a:pPr lvl="0"/>
            <a:r>
              <a:rPr lang="en-US" dirty="0"/>
              <a:t>Rate negative, moderate → rate = -0.1</a:t>
            </a:r>
          </a:p>
          <a:p>
            <a:pPr lvl="0"/>
            <a:r>
              <a:rPr lang="en-US" dirty="0"/>
              <a:t>Inflection point around 1950 → inflect = 1950</a:t>
            </a:r>
          </a:p>
        </p:txBody>
      </p:sp>
    </p:spTree>
    <p:extLst>
      <p:ext uri="{BB962C8B-B14F-4D97-AF65-F5344CB8AC3E}">
        <p14:creationId xmlns:p14="http://schemas.microsoft.com/office/powerpoint/2010/main" val="93216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Fit Logistic Model</a:t>
            </a:r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038522" cy="38779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Fit logistic growth model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year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})))),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solidFill>
                <a:srgbClr val="0F1115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80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rate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0.1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inflect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1950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Store results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estimates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store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logistic_model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346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59734"/>
            <a:ext cx="10515600" cy="2300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Clinical </a:t>
            </a:r>
            <a:r>
              <a:rPr lang="en-US" b="1" dirty="0"/>
              <a:t>interpretation: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Asym</a:t>
            </a:r>
            <a:r>
              <a:rPr lang="en-US" b="1" dirty="0"/>
              <a:t> (79.2 years):</a:t>
            </a:r>
            <a:r>
              <a:rPr lang="en-US" dirty="0"/>
              <a:t> Maximum achievable life expectancy</a:t>
            </a:r>
          </a:p>
          <a:p>
            <a:pPr marL="0" indent="0">
              <a:buNone/>
            </a:pPr>
            <a:r>
              <a:rPr lang="en-US" b="1" dirty="0"/>
              <a:t>Inflect (1958):</a:t>
            </a:r>
            <a:r>
              <a:rPr lang="en-US" dirty="0"/>
              <a:t> Year when growth was fastest</a:t>
            </a:r>
          </a:p>
          <a:p>
            <a:pPr marL="0" indent="0">
              <a:buNone/>
            </a:pPr>
            <a:r>
              <a:rPr lang="en-US" b="1" dirty="0"/>
              <a:t>Rate (-0.095):</a:t>
            </a:r>
            <a:r>
              <a:rPr lang="en-US" dirty="0"/>
              <a:t> Steepness of the growth </a:t>
            </a:r>
            <a:r>
              <a:rPr lang="en-US" dirty="0" smtClean="0"/>
              <a:t>curve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14072"/>
            <a:ext cx="105156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1" u="none" strike="noStrike" cap="none" normalizeH="0" baseline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Output:</a:t>
            </a:r>
            <a:r>
              <a:rPr kumimoji="0" lang="en-US" altLang="en-US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38200" y="1183404"/>
            <a:ext cx="997888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--------------------------------------------------------------------------------------------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   Coefficient  Std. err.     t       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&gt;|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% conf. interval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---------+--------------------------------------------------------------------------------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79.234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1.234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64.21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76.745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81.723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0.095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0.011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8.64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0.117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0.073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1958.45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2.101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931.78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1954.222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1962.678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smtClean="0">
                <a:solidFill>
                  <a:srgbClr val="0F1115"/>
                </a:solidFill>
                <a:latin typeface="Menlo"/>
              </a:rPr>
              <a:t>-----------------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---------------------------------------------------------------------------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8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3999"/>
            <a:ext cx="10515600" cy="796166"/>
          </a:xfrm>
        </p:spPr>
        <p:txBody>
          <a:bodyPr>
            <a:normAutofit/>
          </a:bodyPr>
          <a:lstStyle/>
          <a:p>
            <a:r>
              <a:rPr lang="en-US" sz="3600" b="1" dirty="0"/>
              <a:t>Predict and Plot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9058" y="1520165"/>
            <a:ext cx="10273884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endParaRPr kumimoji="0" lang="en-US" altLang="en-US" sz="2200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Predict fitted values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fitted_log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yhat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resid_log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Actual vs predicted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scatter le year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line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fitted_log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year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lpattern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dash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lcolor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lwidth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"Actual vs Predicted Life Expectancy"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legend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label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"Actual"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label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"Predicted"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Predict for year 2020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local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local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rate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local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inflect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display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"Predicted LE 2020: 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`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asym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'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`rate'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2020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`inflect'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Residuals over time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scatter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resid_log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year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yline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"Residuals Over Time"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99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5130"/>
            <a:ext cx="10515600" cy="895558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3. Simulated </a:t>
            </a:r>
            <a:r>
              <a:rPr lang="en-US" sz="3600" b="1" dirty="0"/>
              <a:t>Dose-Response (</a:t>
            </a:r>
            <a:r>
              <a:rPr lang="en-US" sz="3600" b="1" dirty="0" err="1"/>
              <a:t>Michaelis-Menten</a:t>
            </a:r>
            <a:r>
              <a:rPr lang="en-US" sz="3600" b="1" dirty="0"/>
              <a:t>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03368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Creating realistic clinical data: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endParaRPr kumimoji="0" lang="en-US" altLang="en-US" sz="22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Simulate dose-response study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clear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   set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seed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12345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200" dirty="0" smtClean="0">
                <a:solidFill>
                  <a:srgbClr val="0F1115"/>
                </a:solidFill>
                <a:latin typeface="Menlo"/>
              </a:rPr>
              <a:t>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obs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Dose levels (0 to 100 mg/kg)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gen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_n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39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True parameters: </a:t>
            </a:r>
            <a:r>
              <a:rPr kumimoji="0" lang="en-US" altLang="en-US" sz="22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Vmax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 = 90%, Km (EC50) = 25 mg/kg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Response = (90 * dose) / (25 + dose) + random error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gen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response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25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rnormal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Plot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scatter response dose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"Dose-Response Curve"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xtitle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"Dose (mg/kg)"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ytitle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"Response (%)"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ylabel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24644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5861"/>
            <a:ext cx="10515600" cy="855801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Michaelis-Menten</a:t>
            </a:r>
            <a:r>
              <a:rPr lang="en-US" sz="3600" b="1"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Model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𝑹𝒆𝒔𝒑𝒐𝒏𝒔𝒆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𝑫𝒐𝒔𝒆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𝑫𝒐𝒔𝒆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 smtClean="0"/>
              </a:p>
              <a:p>
                <a:pPr marL="0" indent="0">
                  <a:buNone/>
                </a:pPr>
                <a:r>
                  <a:rPr lang="en-US" b="1" dirty="0" smtClean="0"/>
                  <a:t>Where</a:t>
                </a:r>
                <a:r>
                  <a:rPr lang="en-US" b="1" dirty="0"/>
                  <a:t>: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lang="en-US" dirty="0" err="1"/>
                  <a:t>V</a:t>
                </a:r>
                <a:r>
                  <a:rPr lang="en-US" baseline="-25000" dirty="0" err="1"/>
                  <a:t>max</a:t>
                </a:r>
                <a:r>
                  <a:rPr lang="en-US" baseline="-25000" dirty="0"/>
                  <a:t> </a:t>
                </a:r>
                <a:r>
                  <a:rPr lang="en-US" dirty="0"/>
                  <a:t>= Maximum response (asymptote)</a:t>
                </a:r>
              </a:p>
              <a:p>
                <a:pPr marL="0" lvl="0" indent="0">
                  <a:buNone/>
                </a:pPr>
                <a:r>
                  <a:rPr lang="en-US" dirty="0"/>
                  <a:t>Km = Dose at 50% of </a:t>
                </a:r>
                <a:r>
                  <a:rPr lang="en-US" dirty="0" err="1"/>
                  <a:t>Vmax</a:t>
                </a:r>
                <a:r>
                  <a:rPr lang="en-US" dirty="0"/>
                  <a:t> (EC50</a:t>
                </a:r>
                <a:r>
                  <a:rPr lang="en-US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b="1" dirty="0"/>
                  <a:t>Starting values: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Vmax</a:t>
                </a:r>
                <a:r>
                  <a:rPr lang="en-US" dirty="0"/>
                  <a:t> ≈ 90 (from plot)</a:t>
                </a:r>
              </a:p>
              <a:p>
                <a:pPr marL="0" indent="0">
                  <a:buNone/>
                </a:pPr>
                <a:r>
                  <a:rPr lang="en-US" dirty="0"/>
                  <a:t>Km ≈ 25 (dose at half max response</a:t>
                </a:r>
                <a:r>
                  <a:rPr lang="en-US" dirty="0" smtClean="0"/>
                  <a:t>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040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94522" y="1057513"/>
            <a:ext cx="9620083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endParaRPr kumimoji="0" lang="en-US" altLang="en-US" sz="2800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Fit </a:t>
            </a:r>
            <a:r>
              <a:rPr kumimoji="0" lang="en-US" altLang="en-US" sz="28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Michaelis-Menten</a:t>
            </a:r>
            <a:endParaRPr kumimoji="0" lang="en-US" altLang="en-US" sz="28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response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vmax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km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800" dirty="0" smtClean="0">
                <a:solidFill>
                  <a:srgbClr val="0F1115"/>
                </a:solidFill>
                <a:latin typeface="Menlo"/>
              </a:rPr>
              <a:t>  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vmax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km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25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With robust standard errors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800" dirty="0" smtClean="0">
                <a:solidFill>
                  <a:srgbClr val="0F1115"/>
                </a:solidFill>
                <a:latin typeface="Menlo"/>
              </a:rPr>
              <a:t>  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response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vmax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km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                   </a:t>
            </a:r>
            <a:r>
              <a:rPr lang="en-US" altLang="en-US" sz="2800" dirty="0" smtClean="0">
                <a:solidFill>
                  <a:srgbClr val="0F1115"/>
                </a:solidFill>
                <a:latin typeface="Menlo"/>
              </a:rPr>
              <a:t>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vmax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km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25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vce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robust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794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------------------------------------------------------------------------------------------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response | Coefficient  Std. err.      t    P&gt;|t|     [95% conf. interval]</a:t>
            </a:r>
          </a:p>
          <a:p>
            <a:pPr marL="0" indent="0">
              <a:buNone/>
            </a:pPr>
            <a:r>
              <a:rPr lang="en-US" dirty="0" smtClean="0"/>
              <a:t>---------+--------------------------------------------------------------------------------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</a:t>
            </a:r>
            <a:r>
              <a:rPr lang="en-US" dirty="0" err="1"/>
              <a:t>vmax</a:t>
            </a:r>
            <a:r>
              <a:rPr lang="en-US" dirty="0"/>
              <a:t> |   89.456      </a:t>
            </a:r>
            <a:r>
              <a:rPr lang="en-US" dirty="0" smtClean="0"/>
              <a:t>    2.345     </a:t>
            </a:r>
            <a:r>
              <a:rPr lang="en-US" dirty="0"/>
              <a:t>38.15   0.000       84.712       94.200</a:t>
            </a:r>
          </a:p>
          <a:p>
            <a:pPr marL="0" indent="0">
              <a:buNone/>
            </a:pPr>
            <a:r>
              <a:rPr lang="en-US" dirty="0"/>
              <a:t>      /km |   24.876      </a:t>
            </a:r>
            <a:r>
              <a:rPr lang="en-US" dirty="0" smtClean="0"/>
              <a:t>     2.123     </a:t>
            </a:r>
            <a:r>
              <a:rPr lang="en-US" dirty="0"/>
              <a:t>11.72   0.000       20.578       29.174</a:t>
            </a:r>
          </a:p>
          <a:p>
            <a:pPr marL="0" indent="0">
              <a:buNone/>
            </a:pPr>
            <a:r>
              <a:rPr lang="en-US" dirty="0" smtClean="0"/>
              <a:t>-------------------------------------------------------------------------------------------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48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Clinical translation: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135873"/>
              </p:ext>
            </p:extLst>
          </p:nvPr>
        </p:nvGraphicFramePr>
        <p:xfrm>
          <a:off x="520148" y="1690688"/>
          <a:ext cx="10515600" cy="2702409"/>
        </p:xfrm>
        <a:graphic>
          <a:graphicData uri="http://schemas.openxmlformats.org/drawingml/2006/table">
            <a:tbl>
              <a:tblPr/>
              <a:tblGrid>
                <a:gridCol w="1765852">
                  <a:extLst>
                    <a:ext uri="{9D8B030D-6E8A-4147-A177-3AD203B41FA5}">
                      <a16:colId xmlns:a16="http://schemas.microsoft.com/office/drawing/2014/main" val="370076683"/>
                    </a:ext>
                  </a:extLst>
                </a:gridCol>
                <a:gridCol w="2107096">
                  <a:extLst>
                    <a:ext uri="{9D8B030D-6E8A-4147-A177-3AD203B41FA5}">
                      <a16:colId xmlns:a16="http://schemas.microsoft.com/office/drawing/2014/main" val="1449607051"/>
                    </a:ext>
                  </a:extLst>
                </a:gridCol>
                <a:gridCol w="2365513">
                  <a:extLst>
                    <a:ext uri="{9D8B030D-6E8A-4147-A177-3AD203B41FA5}">
                      <a16:colId xmlns:a16="http://schemas.microsoft.com/office/drawing/2014/main" val="490513835"/>
                    </a:ext>
                  </a:extLst>
                </a:gridCol>
                <a:gridCol w="4277139">
                  <a:extLst>
                    <a:ext uri="{9D8B030D-6E8A-4147-A177-3AD203B41FA5}">
                      <a16:colId xmlns:a16="http://schemas.microsoft.com/office/drawing/2014/main" val="3392180689"/>
                    </a:ext>
                  </a:extLst>
                </a:gridCol>
              </a:tblGrid>
              <a:tr h="900803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effectLst/>
                          <a:latin typeface="quote-cjk-patch"/>
                        </a:rPr>
                        <a:t>Parameter</a:t>
                      </a:r>
                      <a:endParaRPr lang="en-US" sz="2400" b="1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  <a:latin typeface="quote-cjk-patch"/>
                        </a:rPr>
                        <a:t>Estimate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  <a:latin typeface="quote-cjk-patch"/>
                        </a:rPr>
                        <a:t>95% CI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  <a:latin typeface="quote-cjk-patch"/>
                        </a:rPr>
                        <a:t>Clinical Meaning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295245"/>
                  </a:ext>
                </a:extLst>
              </a:tr>
              <a:tr h="900803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quote-cjk-patch"/>
                        </a:rPr>
                        <a:t>Vmax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89.5%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(84.7, 94.2)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Maximum achievable response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913092"/>
                  </a:ext>
                </a:extLst>
              </a:tr>
              <a:tr h="900803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quote-cjk-patch"/>
                        </a:rPr>
                        <a:t>Km (EC50)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24.9 mg/kg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(20.6, 29.2)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quote-cjk-patch"/>
                        </a:rPr>
                        <a:t>Dose for 50% of max effect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5387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0148" y="4701050"/>
            <a:ext cx="9922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Clinical statement: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*"The estimated EC50 is 24.9 mg/kg (95% CI: 20.6-29.2), meaning half the maximum response is achieved at this dose."*</a:t>
            </a:r>
          </a:p>
        </p:txBody>
      </p:sp>
    </p:spTree>
    <p:extLst>
      <p:ext uri="{BB962C8B-B14F-4D97-AF65-F5344CB8AC3E}">
        <p14:creationId xmlns:p14="http://schemas.microsoft.com/office/powerpoint/2010/main" val="345330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 Diagnostics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00270"/>
            <a:ext cx="9760156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Predict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fitted_mm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yhat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resid_mm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Plot fitted curve with data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scatter response dose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400" dirty="0" smtClean="0">
                <a:solidFill>
                  <a:srgbClr val="0F1115"/>
                </a:solidFill>
                <a:latin typeface="Menlo"/>
              </a:rPr>
              <a:t>    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line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fitted_mm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dose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lcolor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lwidth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400" dirty="0" smtClean="0">
                <a:solidFill>
                  <a:srgbClr val="0F1115"/>
                </a:solidFill>
                <a:latin typeface="Menlo"/>
              </a:rPr>
              <a:t>    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Michaelis-Menten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 Fit"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400" dirty="0" smtClean="0">
                <a:solidFill>
                  <a:srgbClr val="0F1115"/>
                </a:solidFill>
                <a:latin typeface="Menlo"/>
              </a:rPr>
              <a:t>           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xtitle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"Dose (mg/kg)"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ytitle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"Response (%)"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518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95131" y="996737"/>
            <a:ext cx="10065026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Residual diagnostics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rvfplot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yline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title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"Residuals vs Fitted"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dirty="0">
              <a:solidFill>
                <a:srgbClr val="0F1115"/>
              </a:solidFill>
              <a:latin typeface="Menlo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Cook's distance for influential points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    predict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cooksd_mm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cooksd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600" dirty="0" smtClean="0">
                <a:solidFill>
                  <a:srgbClr val="0F1115"/>
                </a:solidFill>
                <a:latin typeface="Menlo"/>
              </a:rPr>
              <a:t>  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scatter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cooksd_mm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_n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title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"Cook's Distance"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yline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010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6236"/>
            <a:ext cx="10515600" cy="994949"/>
          </a:xfrm>
        </p:spPr>
        <p:txBody>
          <a:bodyPr/>
          <a:lstStyle/>
          <a:p>
            <a:r>
              <a:rPr lang="en-US" b="1" dirty="0" smtClean="0"/>
              <a:t>4. </a:t>
            </a:r>
            <a:r>
              <a:rPr lang="en-US" sz="3600" b="1" dirty="0" smtClean="0"/>
              <a:t>Exponential </a:t>
            </a:r>
            <a:r>
              <a:rPr lang="en-US" sz="3600" b="1" dirty="0"/>
              <a:t>Growth (Viral Load)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421185"/>
            <a:ext cx="10073720" cy="4739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Simulating viral load 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Simulate viral load over time after infection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clear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seed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67890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obs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Days after infection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gen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day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True parameters: initial = 100, growth rate = 0.3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Viral load = 100 * </a:t>
            </a:r>
            <a:r>
              <a:rPr kumimoji="0" lang="en-US" altLang="en-US" sz="22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exp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(0.3 * day) + error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gen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viral_load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0.3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rnormal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200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Plot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scatter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viral_load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"Viral Load Over Time"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xtitle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"Days Post-Infection"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ytitle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"Viral Load (copies/mL)"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32692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Fit Exponential Growth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65125"/>
            <a:ext cx="10442649" cy="59093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Starting values: a = 100, b = 0.3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viral_load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day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Output: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--------------------------------------------------------------------------------------------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viral_load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Coefficient   Std. err.     t         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&gt;|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% conf. interval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-----------+-------------------------------------------------------------------------------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98.456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12.34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7.98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73.456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123.456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 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|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0.312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0.045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6.93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0.218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0.406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----------------------------------------------------------------------------</a:t>
            </a:r>
            <a:r>
              <a:rPr lang="en-US" altLang="en-US" sz="2400" dirty="0" smtClean="0"/>
              <a:t>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*calculate doubling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 smtClean="0">
                <a:latin typeface="Arial" panose="020B0604020202020204" pitchFamily="34" charset="0"/>
              </a:rPr>
              <a:t>  </a:t>
            </a:r>
            <a:r>
              <a:rPr lang="en-US" altLang="en-US" sz="2400" dirty="0" err="1" smtClean="0">
                <a:latin typeface="Arial" panose="020B0604020202020204" pitchFamily="34" charset="0"/>
              </a:rPr>
              <a:t>nlcom</a:t>
            </a:r>
            <a:r>
              <a:rPr lang="en-US" altLang="en-US" sz="2400" dirty="0" smtClean="0">
                <a:latin typeface="Arial" panose="020B0604020202020204" pitchFamily="34" charset="0"/>
              </a:rPr>
              <a:t> (</a:t>
            </a:r>
            <a:r>
              <a:rPr lang="en-US" altLang="en-US" sz="2400" dirty="0" err="1" smtClean="0">
                <a:latin typeface="Arial" panose="020B0604020202020204" pitchFamily="34" charset="0"/>
              </a:rPr>
              <a:t>doubling_time</a:t>
            </a:r>
            <a:r>
              <a:rPr lang="en-US" altLang="en-US" sz="2400" dirty="0" smtClean="0">
                <a:latin typeface="Arial" panose="020B0604020202020204" pitchFamily="34" charset="0"/>
              </a:rPr>
              <a:t> : ln(2) /_b[/b])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 smtClean="0">
                <a:latin typeface="Arial" panose="020B0604020202020204" pitchFamily="34" charset="0"/>
              </a:rPr>
              <a:t>*Doubling time = 2.22 days (95% CI: 1.71-, 2.73)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357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5374"/>
            <a:ext cx="10515600" cy="935314"/>
          </a:xfrm>
        </p:spPr>
        <p:txBody>
          <a:bodyPr>
            <a:normAutofit/>
          </a:bodyPr>
          <a:lstStyle/>
          <a:p>
            <a:r>
              <a:rPr lang="en-US" sz="3600" b="1" dirty="0"/>
              <a:t>Comparing Models – Linear vs Non-linear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334" y="1690688"/>
            <a:ext cx="9734253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endParaRPr kumimoji="0" lang="en-US" altLang="en-US" sz="22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Linear model on raw data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200" dirty="0" smtClean="0">
                <a:solidFill>
                  <a:srgbClr val="0F1115"/>
                </a:solidFill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regress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mpg weight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200" dirty="0" smtClean="0">
                <a:solidFill>
                  <a:srgbClr val="0F1115"/>
                </a:solidFill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estimates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store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linear_model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Non-linear model (exponential decay)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200" dirty="0" smtClean="0">
                <a:solidFill>
                  <a:srgbClr val="0F1115"/>
                </a:solidFill>
                <a:latin typeface="Menlo"/>
              </a:rPr>
              <a:t> 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mpg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weight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initial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0.0005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200" dirty="0" smtClean="0">
                <a:solidFill>
                  <a:srgbClr val="0F1115"/>
                </a:solidFill>
                <a:latin typeface="Menlo"/>
              </a:rPr>
              <a:t>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estimates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store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nl_model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200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Compare AIC/BIC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200" dirty="0" smtClean="0">
                <a:solidFill>
                  <a:srgbClr val="0F1115"/>
                </a:solidFill>
                <a:latin typeface="Menlo"/>
              </a:rPr>
              <a:t>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estimates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stats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linear_model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nl_model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Compare residuals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i="1" dirty="0">
                <a:solidFill>
                  <a:srgbClr val="A0A1A7"/>
                </a:solidFill>
                <a:latin typeface="Menlo"/>
              </a:rPr>
              <a:t> </a:t>
            </a:r>
            <a:r>
              <a:rPr lang="en-US" altLang="en-US" sz="2200" i="1" dirty="0" smtClean="0">
                <a:solidFill>
                  <a:srgbClr val="A0A1A7"/>
                </a:solidFill>
                <a:latin typeface="Menlo"/>
              </a:rPr>
              <a:t>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resid_linear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sz="2200" dirty="0" smtClean="0">
                <a:solidFill>
                  <a:srgbClr val="0F1115"/>
                </a:solidFill>
                <a:latin typeface="Menlo"/>
              </a:rPr>
              <a:t> 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summarize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resid_linear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879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results: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Conclusion:</a:t>
            </a:r>
            <a:r>
              <a:rPr lang="en-US" dirty="0"/>
              <a:t> Non-linear offers modest improvement; choose based on clinical interpretability.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762424"/>
              </p:ext>
            </p:extLst>
          </p:nvPr>
        </p:nvGraphicFramePr>
        <p:xfrm>
          <a:off x="1448463" y="3222066"/>
          <a:ext cx="8649693" cy="2582385"/>
        </p:xfrm>
        <a:graphic>
          <a:graphicData uri="http://schemas.openxmlformats.org/drawingml/2006/table">
            <a:tbl>
              <a:tblPr/>
              <a:tblGrid>
                <a:gridCol w="2883231">
                  <a:extLst>
                    <a:ext uri="{9D8B030D-6E8A-4147-A177-3AD203B41FA5}">
                      <a16:colId xmlns:a16="http://schemas.microsoft.com/office/drawing/2014/main" val="4204236157"/>
                    </a:ext>
                  </a:extLst>
                </a:gridCol>
                <a:gridCol w="2883231">
                  <a:extLst>
                    <a:ext uri="{9D8B030D-6E8A-4147-A177-3AD203B41FA5}">
                      <a16:colId xmlns:a16="http://schemas.microsoft.com/office/drawing/2014/main" val="3324421695"/>
                    </a:ext>
                  </a:extLst>
                </a:gridCol>
                <a:gridCol w="2883231">
                  <a:extLst>
                    <a:ext uri="{9D8B030D-6E8A-4147-A177-3AD203B41FA5}">
                      <a16:colId xmlns:a16="http://schemas.microsoft.com/office/drawing/2014/main" val="1831936048"/>
                    </a:ext>
                  </a:extLst>
                </a:gridCol>
              </a:tblGrid>
              <a:tr h="860795">
                <a:tc>
                  <a:txBody>
                    <a:bodyPr/>
                    <a:lstStyle/>
                    <a:p>
                      <a:pPr algn="l"/>
                      <a:r>
                        <a:rPr lang="en-US" sz="2800" b="0"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>
                          <a:effectLst/>
                          <a:latin typeface="quote-cjk-patch"/>
                        </a:rPr>
                        <a:t>AIC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>
                          <a:effectLst/>
                          <a:latin typeface="quote-cjk-patch"/>
                        </a:rPr>
                        <a:t>Residual SD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832164"/>
                  </a:ext>
                </a:extLst>
              </a:tr>
              <a:tr h="860795"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Linear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342.5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4.23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53383"/>
                  </a:ext>
                </a:extLst>
              </a:tr>
              <a:tr h="860795"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Non-linear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338.2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  <a:latin typeface="quote-cjk-patch"/>
                        </a:rPr>
                        <a:t>4.01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78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209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5009"/>
            <a:ext cx="10515600" cy="875679"/>
          </a:xfrm>
        </p:spPr>
        <p:txBody>
          <a:bodyPr>
            <a:normAutofit/>
          </a:bodyPr>
          <a:lstStyle/>
          <a:p>
            <a:r>
              <a:rPr lang="en-US" sz="3800" b="1" dirty="0"/>
              <a:t>Diagnostic Checklist for Non-linear Models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999206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Run this checklist after EVERY non-linear regression: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1. Check convergence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di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converged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Should be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B76B01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2. Residual vs fitted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rvfplot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yline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3. Normality of residuals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qnorm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swilk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Shapiro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Wilk test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normal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2334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13791" y="619566"/>
            <a:ext cx="9939131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3. Normality of residuals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qnorm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swilk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Shapiro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Wilk test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0.05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normal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dirty="0">
              <a:solidFill>
                <a:srgbClr val="383A42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4. Influential points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cooksd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cooksd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summarize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cooksd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detail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dirty="0">
              <a:solidFill>
                <a:srgbClr val="0F1115"/>
              </a:solidFill>
              <a:latin typeface="Menlo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5. Check parameter plausibility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Do estimates make clinical sense?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dirty="0">
              <a:solidFill>
                <a:srgbClr val="0F1115"/>
              </a:solidFill>
              <a:latin typeface="Menlo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6. Profile likelihood CIs (more accurate for small samples)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x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initial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0.1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level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95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488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735496"/>
            <a:ext cx="10515600" cy="655983"/>
          </a:xfrm>
        </p:spPr>
        <p:txBody>
          <a:bodyPr>
            <a:normAutofit/>
          </a:bodyPr>
          <a:lstStyle/>
          <a:p>
            <a:r>
              <a:rPr lang="en-US" sz="3600" b="1" dirty="0"/>
              <a:t>Common Stata Errors and Fixes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170978"/>
              </p:ext>
            </p:extLst>
          </p:nvPr>
        </p:nvGraphicFramePr>
        <p:xfrm>
          <a:off x="838200" y="1391479"/>
          <a:ext cx="10515601" cy="48785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74697">
                  <a:extLst>
                    <a:ext uri="{9D8B030D-6E8A-4147-A177-3AD203B41FA5}">
                      <a16:colId xmlns:a16="http://schemas.microsoft.com/office/drawing/2014/main" val="3647771733"/>
                    </a:ext>
                  </a:extLst>
                </a:gridCol>
                <a:gridCol w="3614845">
                  <a:extLst>
                    <a:ext uri="{9D8B030D-6E8A-4147-A177-3AD203B41FA5}">
                      <a16:colId xmlns:a16="http://schemas.microsoft.com/office/drawing/2014/main" val="1441492991"/>
                    </a:ext>
                  </a:extLst>
                </a:gridCol>
                <a:gridCol w="3826059">
                  <a:extLst>
                    <a:ext uri="{9D8B030D-6E8A-4147-A177-3AD203B41FA5}">
                      <a16:colId xmlns:a16="http://schemas.microsoft.com/office/drawing/2014/main" val="1835192526"/>
                    </a:ext>
                  </a:extLst>
                </a:gridCol>
              </a:tblGrid>
              <a:tr h="446165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Error Message</a:t>
                      </a:r>
                      <a:endParaRPr lang="en-US" sz="2400" b="1">
                        <a:effectLst/>
                        <a:latin typeface="quote-cjk-patch"/>
                      </a:endParaRPr>
                    </a:p>
                  </a:txBody>
                  <a:tcPr marL="62162" marR="82883" marT="51802" marB="518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Cause</a:t>
                      </a:r>
                      <a:endParaRPr lang="en-US" sz="2400" b="1" dirty="0">
                        <a:effectLst/>
                        <a:latin typeface="quote-cjk-patch"/>
                      </a:endParaRPr>
                    </a:p>
                  </a:txBody>
                  <a:tcPr marL="82883" marR="82883" marT="51802" marB="518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Solution</a:t>
                      </a:r>
                      <a:endParaRPr lang="en-US" sz="2400" b="1" dirty="0">
                        <a:effectLst/>
                        <a:latin typeface="quote-cjk-patch"/>
                      </a:endParaRPr>
                    </a:p>
                  </a:txBody>
                  <a:tcPr marL="82883" marR="82883" marT="51802" marB="51802" anchor="ctr"/>
                </a:tc>
                <a:extLst>
                  <a:ext uri="{0D108BD9-81ED-4DB2-BD59-A6C34878D82A}">
                    <a16:rowId xmlns:a16="http://schemas.microsoft.com/office/drawing/2014/main" val="3713391896"/>
                  </a:ext>
                </a:extLst>
              </a:tr>
              <a:tr h="793846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"could not calculate numerical derivatives"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2162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Poor starting values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Adjust initials, use trace to debug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62162" marT="51802" marB="51802" anchor="ctr"/>
                </a:tc>
                <a:extLst>
                  <a:ext uri="{0D108BD9-81ED-4DB2-BD59-A6C34878D82A}">
                    <a16:rowId xmlns:a16="http://schemas.microsoft.com/office/drawing/2014/main" val="3695508617"/>
                  </a:ext>
                </a:extLst>
              </a:tr>
              <a:tr h="793846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"region of estimates is not feasible"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2162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Parameter constraints violated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Use constraints() to bound parameters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62162" marT="51802" marB="51802" anchor="ctr"/>
                </a:tc>
                <a:extLst>
                  <a:ext uri="{0D108BD9-81ED-4DB2-BD59-A6C34878D82A}">
                    <a16:rowId xmlns:a16="http://schemas.microsoft.com/office/drawing/2014/main" val="1580858"/>
                  </a:ext>
                </a:extLst>
              </a:tr>
              <a:tr h="793846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"convergence not achieved"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2162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Iteration limit reached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Increase iterate(#) or improve initials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62162" marT="51802" marB="51802" anchor="ctr"/>
                </a:tc>
                <a:extLst>
                  <a:ext uri="{0D108BD9-81ED-4DB2-BD59-A6C34878D82A}">
                    <a16:rowId xmlns:a16="http://schemas.microsoft.com/office/drawing/2014/main" val="3934126593"/>
                  </a:ext>
                </a:extLst>
              </a:tr>
              <a:tr h="793846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"singular matrix"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2162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Model overparameterized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Simplify model or get more data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82883" marR="62162" marT="51802" marB="51802" anchor="ctr"/>
                </a:tc>
                <a:extLst>
                  <a:ext uri="{0D108BD9-81ED-4DB2-BD59-A6C34878D82A}">
                    <a16:rowId xmlns:a16="http://schemas.microsoft.com/office/drawing/2014/main" val="3897380345"/>
                  </a:ext>
                </a:extLst>
              </a:tr>
              <a:tr h="1068685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"variance matrix is nonsymmetric"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2162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Hessian issues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82883" marR="82883" marT="51802" marB="51802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Try </a:t>
                      </a:r>
                      <a:r>
                        <a:rPr lang="en-US" sz="2400" dirty="0" err="1">
                          <a:effectLst/>
                        </a:rPr>
                        <a:t>vce</a:t>
                      </a:r>
                      <a:r>
                        <a:rPr lang="en-US" sz="2400" dirty="0">
                          <a:effectLst/>
                        </a:rPr>
                        <a:t>(robust) or different technique()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82883" marR="62162" marT="51802" marB="51802" anchor="ctr"/>
                </a:tc>
                <a:extLst>
                  <a:ext uri="{0D108BD9-81ED-4DB2-BD59-A6C34878D82A}">
                    <a16:rowId xmlns:a16="http://schemas.microsoft.com/office/drawing/2014/main" val="3716623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400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5618"/>
            <a:ext cx="10515600" cy="855801"/>
          </a:xfrm>
        </p:spPr>
        <p:txBody>
          <a:bodyPr/>
          <a:lstStyle/>
          <a:p>
            <a:r>
              <a:rPr lang="en-US" sz="3600" b="1" dirty="0"/>
              <a:t>Debugging tools</a:t>
            </a:r>
            <a:r>
              <a:rPr lang="en-US" b="1" dirty="0"/>
              <a:t>: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71419"/>
            <a:ext cx="10233991" cy="430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Trace iterations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initial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0.0005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trace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Increase iterations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initial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0.0005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iterate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Try different algorithm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initial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b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0.0005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technique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685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4887"/>
            <a:ext cx="10515600" cy="855801"/>
          </a:xfrm>
        </p:spPr>
        <p:txBody>
          <a:bodyPr>
            <a:normAutofit/>
          </a:bodyPr>
          <a:lstStyle/>
          <a:p>
            <a:r>
              <a:rPr lang="en-US" sz="3600" b="1" dirty="0"/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are a clinical epidemiologist studying the relationship between hospital bed occupancy (%) and infection rate (per 1000 patient-days) 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relationship follows a logistic sigmoid pattern – infections remain low until occupancy exceeds a threshold, then rise rapidly to a maximum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 smtClean="0"/>
              <a:t>DatasetL</a:t>
            </a:r>
            <a:r>
              <a:rPr lang="en-US" dirty="0" smtClean="0"/>
              <a:t> use inbuilt data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142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13183" y="945662"/>
            <a:ext cx="9998765" cy="5006434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Your tasks (complete in Stata):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Load/create the data (code provided)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Plot infection rate vs occupancy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Fit a logistic growth model: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 = {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} / (1 +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exp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({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} * (occupancy - {inflect})))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Provide reasonable starting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Interpret the three 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Predict fitted values and plot actual vs predicted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Calculate the occupancy level at 50% of maximum infection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Check residuals (Q-Q plot and residual vs fitted)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819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6591"/>
            <a:ext cx="10515600" cy="6758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Exercise – Data Creation Code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038285"/>
            <a:ext cx="10515599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endParaRPr kumimoji="0" lang="en-US" altLang="en-US" sz="2400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============================================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============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EXERCISE: Hospital Infection Rate Data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Create this dataset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============================================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===========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clear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seed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999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set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obs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30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Hospital occupancy (%)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gen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occupancy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_n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95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40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29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True logistic parameters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Asymptote (max infection rate) = 12 per 1000 patient-days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Inflection point = 75% occupancy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6696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Exercise – Data Creation Code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843346"/>
            <a:ext cx="10515599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endParaRPr kumimoji="0" lang="en-US" altLang="en-US" sz="2000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Growth rate = 0.3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0F1115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gen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occupancy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75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rnormal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0.5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Round for realism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replace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round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Label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label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variable occupancy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"Hospital Bed Occupancy (%)“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label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variable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"Infection Rate (per 1000 patient-days)“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50A14F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View data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list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10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Plot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scatter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occupancy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"Hospital Infection Rate by Occupancy"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xtitle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"Occupancy (%)"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ytitle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"Infection Rate (per 1000 patient-days)"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859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– Step-by-Step Hints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Hint 1 – Starting values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Asymptote (max rate) ≈ 12 (look at plot)</a:t>
            </a:r>
          </a:p>
          <a:p>
            <a:pPr marL="0" indent="0">
              <a:buNone/>
            </a:pPr>
            <a:r>
              <a:rPr lang="en-US" dirty="0"/>
              <a:t>Growth rate ≈ 0.2-0.4 (positive for increasing function)</a:t>
            </a:r>
          </a:p>
          <a:p>
            <a:pPr marL="0" indent="0">
              <a:buNone/>
            </a:pPr>
            <a:r>
              <a:rPr lang="en-US" dirty="0"/>
              <a:t>Inflection point ≈ 75 (where rate increases fastest)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6518074" y="1690688"/>
            <a:ext cx="4835726" cy="40010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Hint 2 – Stata command structure: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rgbClr val="A626A4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rgbClr val="A626A4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dirty="0">
              <a:solidFill>
                <a:srgbClr val="A626A4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occupancy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})))),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0.3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inflect 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75</a:t>
            </a: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7829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5496"/>
            <a:ext cx="10515600" cy="95519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600" b="1" dirty="0">
                <a:solidFill>
                  <a:srgbClr val="0F1115"/>
                </a:solidFill>
                <a:latin typeface="quote-cjk-patch"/>
              </a:rPr>
              <a:t>Hint 3 – After fitting:</a:t>
            </a:r>
            <a:endParaRPr lang="en-US" altLang="en-US" sz="36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76738" y="1666036"/>
            <a:ext cx="9876183" cy="44319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Predict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fitted_rate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yhat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resid_ex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0F1115"/>
              </a:solidFill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Plot actual vs predicted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scatter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occupancy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line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fitted_rate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occupancy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lcolor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"Model Fit"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3978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</p:spPr>
        <p:txBody>
          <a:bodyPr>
            <a:normAutofit/>
          </a:bodyPr>
          <a:lstStyle/>
          <a:p>
            <a:r>
              <a:rPr lang="en-US" sz="3600" b="1" dirty="0"/>
              <a:t>Exercise – Calculate EC50 (Occupancy at 50% Max)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3911" y="1877702"/>
            <a:ext cx="10038524" cy="38779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For logistic model, the inflection point IS the EC50!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The inflection parameter directly gives occupancy at 50% max rate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*Retrieve it after fitting: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occupancy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})))),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inflect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75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17419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93912" y="356840"/>
            <a:ext cx="10296940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Display inflection point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"Occupancy at 50% max infection rate: 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 (95% CI: 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1.96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_se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", 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1.96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_se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")"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Alternative using </a:t>
            </a:r>
            <a:r>
              <a:rPr kumimoji="0" lang="en-US" altLang="en-US" sz="28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nlcom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nlcom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ec50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 smtClean="0">
                <a:latin typeface="Arial" panose="020B0604020202020204" pitchFamily="34" charset="0"/>
              </a:rPr>
              <a:t>Clinical interpretation</a:t>
            </a:r>
            <a:r>
              <a:rPr lang="en-US" altLang="en-US" sz="2800" dirty="0" smtClean="0">
                <a:latin typeface="Arial" panose="020B0604020202020204" pitchFamily="34" charset="0"/>
              </a:rPr>
              <a:t>: When occupancy exceeds X%, infection rate </a:t>
            </a:r>
            <a:r>
              <a:rPr lang="en-US" altLang="en-US" sz="2800" dirty="0" err="1" smtClean="0">
                <a:latin typeface="Arial" panose="020B0604020202020204" pitchFamily="34" charset="0"/>
              </a:rPr>
              <a:t>accerates</a:t>
            </a:r>
            <a:r>
              <a:rPr lang="en-US" altLang="en-US" sz="2800" dirty="0" smtClean="0">
                <a:latin typeface="Arial" panose="020B0604020202020204" pitchFamily="34" charset="0"/>
              </a:rPr>
              <a:t> rapidly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794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 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95446"/>
            <a:ext cx="9915939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Stata command</a:t>
            </a:r>
            <a:endParaRPr kumimoji="0" lang="en-US" altLang="en-US" sz="2200" b="1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============================================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EXERCISE SOLUTION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============================================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Task 1-2: Create and plot data (as above)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Task 3-4: Fit logistic model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200" dirty="0">
              <a:solidFill>
                <a:srgbClr val="0F1115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exp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({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*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occupancy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-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})))),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initial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12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0.3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inflect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75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 Task 5: Interpret 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/</a:t>
            </a:r>
            <a:r>
              <a:rPr kumimoji="0" lang="en-US" altLang="en-US" sz="22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asym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 = maximum infection rate (ceiling)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</a:t>
            </a:r>
            <a:r>
              <a:rPr kumimoji="0" lang="en-US" altLang="en-US" sz="2200" b="0" i="1" u="none" strike="noStrike" cap="none" normalizeH="0" baseline="0" dirty="0" err="1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rate_g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 = steepness of the rise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/inflect = occupancy at 50% of maximum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846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 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56894"/>
            <a:ext cx="10515600" cy="5078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Task 6: Predict and plot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fitted_rate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yhat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twoway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scatter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infection_rate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occupancy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line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fitted_rate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occupancy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lcolor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lwidth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)),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"Actual vs Predicted Infection Rate"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xtitle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"Occupancy (%)"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"Infection Rate (per 1000)"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1" u="none" strike="noStrike" cap="none" normalizeH="0" baseline="0" dirty="0" smtClean="0">
              <a:ln>
                <a:noFill/>
              </a:ln>
              <a:solidFill>
                <a:srgbClr val="A0A1A7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Task 7: EC50 (already have from /inflect)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nlcom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occupancy_50pct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_b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/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inflect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* Task 8: Residual diagnostics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predict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resid_ex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qnorm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resid_ex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"Q-Q Plot of Residuals"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rvfplot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yline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0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title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"Residuals vs Fitted"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6012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– Expected Results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496957" y="1369075"/>
            <a:ext cx="10856843" cy="33239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Expected output from the exercise: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0F1115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smtClean="0">
                <a:solidFill>
                  <a:srgbClr val="0F1115"/>
                </a:solidFill>
                <a:latin typeface="Menlo"/>
              </a:rPr>
              <a:t>-------------------------------------------------------------------------------------------------------------------------------------------</a:t>
            </a:r>
            <a:endParaRPr lang="en-US" altLang="en-US" sz="1800" dirty="0">
              <a:solidFill>
                <a:srgbClr val="0F1115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infection_r~e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| Coefficient    Std. err.          t          P&gt;|t|               [95% conf. interval]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-------------------+-----------------------------------------------------------------------------------------------------------------------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/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asym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|             12.234         0.345        35.46       0.000             11.527       12.941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/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rate_g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|              0.312         0.045          6.93       0.000               0.220         0.404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/inflect |             75.123         0.876        85.76       0.000              73.345      76.901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------------------------------------------------------------------------------------------------------------------------------------------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Occupancy at 50% max: 75.1% (95% CI: 73.3%, 76.9%)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96957" y="5007553"/>
            <a:ext cx="10856843" cy="12938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Clinical interpretation: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Maximum infection rate: 12.2 per 1000 patient-days</a:t>
            </a:r>
          </a:p>
          <a:p>
            <a:pPr marL="0" indent="0">
              <a:buNone/>
            </a:pPr>
            <a:r>
              <a:rPr lang="en-US" sz="1500" dirty="0"/>
              <a:t>Infection rates remain low until occupancy reaches ~75%</a:t>
            </a:r>
          </a:p>
          <a:p>
            <a:pPr marL="0" indent="0">
              <a:buNone/>
            </a:pPr>
            <a:r>
              <a:rPr lang="en-US" sz="1500" dirty="0"/>
              <a:t>After 75%, infection rate increases rapidly with each percentage point increase in occupancy</a:t>
            </a:r>
          </a:p>
        </p:txBody>
      </p:sp>
    </p:spTree>
    <p:extLst>
      <p:ext uri="{BB962C8B-B14F-4D97-AF65-F5344CB8AC3E}">
        <p14:creationId xmlns:p14="http://schemas.microsoft.com/office/powerpoint/2010/main" val="3502004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34278"/>
            <a:ext cx="10515600" cy="756410"/>
          </a:xfrm>
        </p:spPr>
        <p:txBody>
          <a:bodyPr/>
          <a:lstStyle/>
          <a:p>
            <a:r>
              <a:rPr lang="en-US" b="1" dirty="0"/>
              <a:t>Exercise – Discussion Questions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87872"/>
            <a:ext cx="9896061" cy="4426845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After completing the exercise, discuss:</a:t>
            </a:r>
            <a:endParaRPr kumimoji="0" lang="en-US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1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Why logistic rather than linear?</a:t>
            </a:r>
            <a:endParaRPr kumimoji="0" lang="en-US" altLang="en-US" sz="2200" b="0" i="0" u="none" strike="noStrike" cap="none" normalizeH="0" baseline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Linear would assume constant increase; logistic captures the threshold effect (S-shape)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200" b="1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What does the inflection point (75%) tell hospital administrators?</a:t>
            </a:r>
            <a:endParaRPr kumimoji="0" lang="en-US" altLang="en-US" sz="2200" b="0" i="0" u="none" strike="noStrike" cap="none" normalizeH="0" baseline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Keep occupancy below 75% to prevent rapid infection rate increases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200" b="1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How would you report this to a clinical audience?</a:t>
            </a:r>
            <a:endParaRPr kumimoji="0" lang="en-US" altLang="en-US" sz="2200" b="0" i="0" u="none" strike="noStrike" cap="none" normalizeH="0" baseline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*"Infection rates remain stable below 75% occupancy but increase sharply above this threshold, reaching a maximum of 12 infections per 1000 patient-days."*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200" b="1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What if the model didn't converge?</a:t>
            </a:r>
            <a:endParaRPr kumimoji="0" lang="en-US" altLang="en-US" sz="2200" b="0" i="0" u="none" strike="noStrike" cap="none" normalizeH="0" baseline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Adjust starting values, try </a:t>
            </a:r>
            <a:r>
              <a:rPr kumimoji="0" lang="en-US" altLang="en-US" sz="2200" b="0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trace</a:t>
            </a:r>
            <a:r>
              <a:rPr kumimoji="0" lang="en-US" altLang="en-US" sz="2200" b="0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to see iterations, or simplify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84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5252"/>
            <a:ext cx="10515600" cy="915436"/>
          </a:xfrm>
        </p:spPr>
        <p:txBody>
          <a:bodyPr/>
          <a:lstStyle/>
          <a:p>
            <a:r>
              <a:rPr lang="en-US" b="1" dirty="0"/>
              <a:t>Applied Stata Commands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567029"/>
              </p:ext>
            </p:extLst>
          </p:nvPr>
        </p:nvGraphicFramePr>
        <p:xfrm>
          <a:off x="993912" y="1666841"/>
          <a:ext cx="10137914" cy="3938830"/>
        </p:xfrm>
        <a:graphic>
          <a:graphicData uri="http://schemas.openxmlformats.org/drawingml/2006/table">
            <a:tbl>
              <a:tblPr/>
              <a:tblGrid>
                <a:gridCol w="2961862">
                  <a:extLst>
                    <a:ext uri="{9D8B030D-6E8A-4147-A177-3AD203B41FA5}">
                      <a16:colId xmlns:a16="http://schemas.microsoft.com/office/drawing/2014/main" val="3923567927"/>
                    </a:ext>
                  </a:extLst>
                </a:gridCol>
                <a:gridCol w="7176052">
                  <a:extLst>
                    <a:ext uri="{9D8B030D-6E8A-4147-A177-3AD203B41FA5}">
                      <a16:colId xmlns:a16="http://schemas.microsoft.com/office/drawing/2014/main" val="3717497486"/>
                    </a:ext>
                  </a:extLst>
                </a:gridCol>
              </a:tblGrid>
              <a:tr h="546948">
                <a:tc>
                  <a:txBody>
                    <a:bodyPr/>
                    <a:lstStyle/>
                    <a:p>
                      <a:pPr algn="l"/>
                      <a:r>
                        <a:rPr lang="en-US" sz="2200" b="1">
                          <a:effectLst/>
                          <a:latin typeface="quote-cjk-patch"/>
                        </a:rPr>
                        <a:t>Task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effectLst/>
                          <a:latin typeface="quote-cjk-patch"/>
                        </a:rPr>
                        <a:t>Command</a:t>
                      </a:r>
                    </a:p>
                  </a:txBody>
                  <a:tcPr marL="71333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344297"/>
                  </a:ext>
                </a:extLst>
              </a:tr>
              <a:tr h="569440">
                <a:tc>
                  <a:txBody>
                    <a:bodyPr/>
                    <a:lstStyle/>
                    <a:p>
                      <a:r>
                        <a:rPr lang="en-US" sz="2200" b="0">
                          <a:effectLst/>
                          <a:latin typeface="quote-cjk-patch"/>
                        </a:rPr>
                        <a:t>Exponential decay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200" b="0">
                          <a:effectLst/>
                          <a:latin typeface="quote-cjk-patch"/>
                        </a:rPr>
                        <a:t>nl (y = {a} * exp({b} * x)), initial(a 10 b -0.1)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71061"/>
                  </a:ext>
                </a:extLst>
              </a:tr>
              <a:tr h="792264">
                <a:tc>
                  <a:txBody>
                    <a:bodyPr/>
                    <a:lstStyle/>
                    <a:p>
                      <a:r>
                        <a:rPr lang="en-US" sz="2200" b="0">
                          <a:effectLst/>
                          <a:latin typeface="quote-cjk-patch"/>
                        </a:rPr>
                        <a:t>Exponential growth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200" b="0">
                          <a:effectLst/>
                          <a:latin typeface="quote-cjk-patch"/>
                        </a:rPr>
                        <a:t>nl (y = {a} * (1 - exp({b} * x))), initial(a 100 b 0.1)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11270"/>
                  </a:ext>
                </a:extLst>
              </a:tr>
              <a:tr h="792264">
                <a:tc>
                  <a:txBody>
                    <a:bodyPr/>
                    <a:lstStyle/>
                    <a:p>
                      <a:r>
                        <a:rPr lang="en-US" sz="2200" b="0">
                          <a:effectLst/>
                          <a:latin typeface="quote-cjk-patch"/>
                        </a:rPr>
                        <a:t>Michaelis-Menten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>
                          <a:effectLst/>
                          <a:latin typeface="quote-cjk-patch"/>
                        </a:rPr>
                        <a:t>nl (y = {vmax} * x / ({km} + x)), initial(vmax 100 km 25)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293359"/>
                  </a:ext>
                </a:extLst>
              </a:tr>
              <a:tr h="1237914">
                <a:tc>
                  <a:txBody>
                    <a:bodyPr/>
                    <a:lstStyle/>
                    <a:p>
                      <a:r>
                        <a:rPr lang="en-US" sz="2200" b="0">
                          <a:effectLst/>
                          <a:latin typeface="quote-cjk-patch"/>
                        </a:rPr>
                        <a:t>Logistic (sigmoid)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 err="1">
                          <a:effectLst/>
                          <a:latin typeface="quote-cjk-patch"/>
                        </a:rPr>
                        <a:t>nl</a:t>
                      </a:r>
                      <a:r>
                        <a:rPr lang="en-US" sz="2200" b="0" dirty="0">
                          <a:effectLst/>
                          <a:latin typeface="quote-cjk-patch"/>
                        </a:rPr>
                        <a:t> (y = {</a:t>
                      </a:r>
                      <a:r>
                        <a:rPr lang="en-US" sz="2200" b="0" dirty="0" err="1">
                          <a:effectLst/>
                          <a:latin typeface="quote-cjk-patch"/>
                        </a:rPr>
                        <a:t>asym</a:t>
                      </a:r>
                      <a:r>
                        <a:rPr lang="en-US" sz="2200" b="0" dirty="0">
                          <a:effectLst/>
                          <a:latin typeface="quote-cjk-patch"/>
                        </a:rPr>
                        <a:t>} / (1 + </a:t>
                      </a:r>
                      <a:r>
                        <a:rPr lang="en-US" sz="2200" b="0" dirty="0" err="1">
                          <a:effectLst/>
                          <a:latin typeface="quote-cjk-patch"/>
                        </a:rPr>
                        <a:t>exp</a:t>
                      </a:r>
                      <a:r>
                        <a:rPr lang="en-US" sz="2200" b="0" dirty="0">
                          <a:effectLst/>
                          <a:latin typeface="quote-cjk-patch"/>
                        </a:rPr>
                        <a:t>({rate}*(x-{inflect})))), initial(</a:t>
                      </a:r>
                      <a:r>
                        <a:rPr lang="en-US" sz="2200" b="0" dirty="0" err="1">
                          <a:effectLst/>
                          <a:latin typeface="quote-cjk-patch"/>
                        </a:rPr>
                        <a:t>asym</a:t>
                      </a:r>
                      <a:r>
                        <a:rPr lang="en-US" sz="2200" b="0" dirty="0">
                          <a:effectLst/>
                          <a:latin typeface="quote-cjk-patch"/>
                        </a:rPr>
                        <a:t> 80 rate -0.1 inflect 1950)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14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6196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5252"/>
            <a:ext cx="10515600" cy="915436"/>
          </a:xfrm>
        </p:spPr>
        <p:txBody>
          <a:bodyPr/>
          <a:lstStyle/>
          <a:p>
            <a:r>
              <a:rPr lang="en-US" b="1" dirty="0"/>
              <a:t>Applied Stata Commands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362860"/>
              </p:ext>
            </p:extLst>
          </p:nvPr>
        </p:nvGraphicFramePr>
        <p:xfrm>
          <a:off x="993912" y="1666840"/>
          <a:ext cx="10137914" cy="4157489"/>
        </p:xfrm>
        <a:graphic>
          <a:graphicData uri="http://schemas.openxmlformats.org/drawingml/2006/table">
            <a:tbl>
              <a:tblPr/>
              <a:tblGrid>
                <a:gridCol w="2961862">
                  <a:extLst>
                    <a:ext uri="{9D8B030D-6E8A-4147-A177-3AD203B41FA5}">
                      <a16:colId xmlns:a16="http://schemas.microsoft.com/office/drawing/2014/main" val="3923567927"/>
                    </a:ext>
                  </a:extLst>
                </a:gridCol>
                <a:gridCol w="7176052">
                  <a:extLst>
                    <a:ext uri="{9D8B030D-6E8A-4147-A177-3AD203B41FA5}">
                      <a16:colId xmlns:a16="http://schemas.microsoft.com/office/drawing/2014/main" val="3717497486"/>
                    </a:ext>
                  </a:extLst>
                </a:gridCol>
              </a:tblGrid>
              <a:tr h="593927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  <a:latin typeface="quote-cjk-patch"/>
                        </a:rPr>
                        <a:t>Task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  <a:latin typeface="quote-cjk-patch"/>
                        </a:rPr>
                        <a:t>Command</a:t>
                      </a:r>
                    </a:p>
                  </a:txBody>
                  <a:tcPr marL="71333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344297"/>
                  </a:ext>
                </a:extLst>
              </a:tr>
              <a:tr h="593927"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quote-cjk-patch"/>
                        </a:rPr>
                        <a:t>Predict fitted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predict yhat, yhat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184041"/>
                  </a:ext>
                </a:extLst>
              </a:tr>
              <a:tr h="593927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Predict residuals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predict resid, resid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7811"/>
                  </a:ext>
                </a:extLst>
              </a:tr>
              <a:tr h="593927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Residual plot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rvfplot, yline(0)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266418"/>
                  </a:ext>
                </a:extLst>
              </a:tr>
              <a:tr h="593927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Q-Q plot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qnorm resid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81705"/>
                  </a:ext>
                </a:extLst>
              </a:tr>
              <a:tr h="593927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Derived parameter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nlcom (name: expression)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49534"/>
                  </a:ext>
                </a:extLst>
              </a:tr>
              <a:tr h="593927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quote-cjk-patch"/>
                        </a:rPr>
                        <a:t>Check convergence</a:t>
                      </a:r>
                    </a:p>
                  </a:txBody>
                  <a:tcPr marL="53500" marR="71333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quote-cjk-patch"/>
                        </a:rPr>
                        <a:t>di e(converged)</a:t>
                      </a:r>
                    </a:p>
                  </a:txBody>
                  <a:tcPr marL="71333" marR="53500" marT="44583" marB="44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444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106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9296" y="1356853"/>
            <a:ext cx="9677400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Aft>
                <a:spcPts val="180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Non-linear regression models biological processes with clinically meaningful parameters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Always plot first – the pattern tells you which model to use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Starting values matter – guess from the plot, then refine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Check convergence – 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e(converged)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should be 1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Diagnose residuals –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rvfplot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qnorm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Cook's D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Report parameters with interpretation – not just numbers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Four go-to models: Exponential decay, Exponential growth, </a:t>
            </a:r>
            <a:r>
              <a:rPr kumimoji="0" lang="en-US" altLang="en-US" sz="240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Michaelis-Menten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Logistic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201436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Recommended reading:</a:t>
            </a:r>
            <a:endParaRPr lang="en-US" dirty="0"/>
          </a:p>
          <a:p>
            <a:r>
              <a:rPr lang="en-US" dirty="0" err="1"/>
              <a:t>Motulsky</a:t>
            </a:r>
            <a:r>
              <a:rPr lang="en-US" dirty="0"/>
              <a:t> H, </a:t>
            </a:r>
            <a:r>
              <a:rPr lang="en-US" dirty="0" err="1"/>
              <a:t>Christopoulos</a:t>
            </a:r>
            <a:r>
              <a:rPr lang="en-US" dirty="0"/>
              <a:t> A. </a:t>
            </a:r>
            <a:r>
              <a:rPr lang="en-US" i="1" dirty="0"/>
              <a:t>Fitting Models to Biological Data using Nonlinear Regression</a:t>
            </a:r>
            <a:r>
              <a:rPr lang="en-US" dirty="0"/>
              <a:t>. </a:t>
            </a:r>
            <a:r>
              <a:rPr lang="en-US" dirty="0" err="1"/>
              <a:t>GraphPad</a:t>
            </a:r>
            <a:r>
              <a:rPr lang="en-US" dirty="0"/>
              <a:t> Software; 2003</a:t>
            </a:r>
            <a:r>
              <a:rPr lang="en-US" dirty="0" smtClean="0"/>
              <a:t>.</a:t>
            </a:r>
          </a:p>
          <a:p>
            <a:r>
              <a:rPr lang="pt-BR"/>
              <a:t>Stata User Manual: [R] nl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73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72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2839</Words>
  <Application>Microsoft Office PowerPoint</Application>
  <PresentationFormat>Widescreen</PresentationFormat>
  <Paragraphs>584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Menlo</vt:lpstr>
      <vt:lpstr>quote-cjk-patch</vt:lpstr>
      <vt:lpstr>Times New Roman</vt:lpstr>
      <vt:lpstr>Office Theme</vt:lpstr>
      <vt:lpstr>Applied Non-Linear Regression for clinical Research</vt:lpstr>
      <vt:lpstr>What You Will Do Today:</vt:lpstr>
      <vt:lpstr>Learning Objectives By the end of this session, you will be able to run these Stata commands: </vt:lpstr>
      <vt:lpstr>Four Clinical Models You Will Learn</vt:lpstr>
      <vt:lpstr>Dataset 1 – Auto (Exponential Decay)</vt:lpstr>
      <vt:lpstr>Applied Example 1 – Exponential Decay Model</vt:lpstr>
      <vt:lpstr>Fit the Model</vt:lpstr>
      <vt:lpstr>Output Interpretation</vt:lpstr>
      <vt:lpstr>Clinical translation:</vt:lpstr>
      <vt:lpstr>Predict and Diagnose</vt:lpstr>
      <vt:lpstr>Calculate Half-Life (Derived Parameter)</vt:lpstr>
      <vt:lpstr>2 – US Life Expectancy (Logistic Growth)</vt:lpstr>
      <vt:lpstr>Logistic Growth Model</vt:lpstr>
      <vt:lpstr>Step 1 – Plot:</vt:lpstr>
      <vt:lpstr>Step 2 – Starting values (visual guess):</vt:lpstr>
      <vt:lpstr>Fit Logistic Model</vt:lpstr>
      <vt:lpstr>Output: </vt:lpstr>
      <vt:lpstr>Predict and Plot</vt:lpstr>
      <vt:lpstr>3. Simulated Dose-Response (Michaelis-Menten)</vt:lpstr>
      <vt:lpstr>Michaelis-Menten Model</vt:lpstr>
      <vt:lpstr>PowerPoint Presentation</vt:lpstr>
      <vt:lpstr>Output Interpretation</vt:lpstr>
      <vt:lpstr>Clinical translation:</vt:lpstr>
      <vt:lpstr>Visual Diagnostics</vt:lpstr>
      <vt:lpstr>PowerPoint Presentation</vt:lpstr>
      <vt:lpstr>4. Exponential Growth (Viral Load)</vt:lpstr>
      <vt:lpstr>Fit Exponential Growth</vt:lpstr>
      <vt:lpstr>Comparing Models – Linear vs Non-linear</vt:lpstr>
      <vt:lpstr>Typical results:</vt:lpstr>
      <vt:lpstr>Diagnostic Checklist for Non-linear Models</vt:lpstr>
      <vt:lpstr>PowerPoint Presentation</vt:lpstr>
      <vt:lpstr>Common Stata Errors and Fixes</vt:lpstr>
      <vt:lpstr>Debugging tools:</vt:lpstr>
      <vt:lpstr>Hands-on Exercise</vt:lpstr>
      <vt:lpstr>PowerPoint Presentation</vt:lpstr>
      <vt:lpstr>Exercise – Data Creation Code</vt:lpstr>
      <vt:lpstr>Exercise – Data Creation Code</vt:lpstr>
      <vt:lpstr>Exercise – Step-by-Step Hints</vt:lpstr>
      <vt:lpstr>Hint 3 – After fitting:</vt:lpstr>
      <vt:lpstr>Exercise – Calculate EC50 (Occupancy at 50% Max)</vt:lpstr>
      <vt:lpstr>PowerPoint Presentation</vt:lpstr>
      <vt:lpstr>Exercise </vt:lpstr>
      <vt:lpstr>Exercise </vt:lpstr>
      <vt:lpstr>Exercise – Expected Results</vt:lpstr>
      <vt:lpstr>Exercise – Discussion Questions</vt:lpstr>
      <vt:lpstr>Applied Stata Commands</vt:lpstr>
      <vt:lpstr>Applied Stata Commands</vt:lpstr>
      <vt:lpstr>Summary</vt:lpstr>
      <vt:lpstr>References &amp;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38</cp:revision>
  <dcterms:created xsi:type="dcterms:W3CDTF">2026-04-13T06:29:27Z</dcterms:created>
  <dcterms:modified xsi:type="dcterms:W3CDTF">2026-05-26T18:56:10Z</dcterms:modified>
</cp:coreProperties>
</file>